
<file path=[Content_Types].xml><?xml version="1.0" encoding="utf-8"?>
<Types xmlns="http://schemas.openxmlformats.org/package/2006/content-types">
  <Default Extension="rels" ContentType="application/vnd.openxmlformats-package.relationships+xml"/>
  <Default Extension="xml" ContentType="application/xml"/>
  <Default Extension="xlsx" ContentType="application/vnd.openxmlformats-officedocument.spreadsheetml.shee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rts/chart1.xml" ContentType="application/vnd.openxmlformats-officedocument.drawingml.chart+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rts/chart2.xml" ContentType="application/vnd.openxmlformats-officedocument.drawingml.chart+xml"/>
  <Override PartName="/ppt/notesSlides/notesSlide8.xml" ContentType="application/vnd.openxmlformats-officedocument.presentationml.notesSlide+xml"/>
  <Override PartName="/ppt/charts/chart3.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4.xml" ContentType="application/vnd.openxmlformats-officedocument.drawingml.chart+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3" d="100"/>
          <a:sy n="93" d="100"/>
        </p:scale>
        <p:origin x="274"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600" b="0" i="0" u="none" strike="noStrike">
                <a:solidFill>
                  <a:srgbClr val="262626"/>
                </a:solidFill>
                <a:latin typeface="Calibri"/>
              </a:defRPr>
            </a:pPr>
            <a:r>
              <a:rPr lang="en-US" sz="1600" b="0" i="0" u="none" strike="noStrike">
                <a:solidFill>
                  <a:srgbClr val="262626"/>
                </a:solidFill>
                <a:latin typeface="Calibri"/>
              </a:rPr>
              <a:t>Charge time 10 → 80 %, passive NMC pack (min)</a:t>
            </a:r>
          </a:p>
        </c:rich>
      </c:tx>
      <c:layout/>
      <c:overlay val="0"/>
    </c:title>
    <c:autoTitleDeleted val="0"/>
    <c:plotArea>
      <c:layout/>
      <c:barChart>
        <c:barDir val="col"/>
        <c:grouping val="stacked"/>
        <c:varyColors val="0"/>
        <c:ser>
          <c:idx val="0"/>
          <c:order val="0"/>
          <c:tx>
            <c:strRef>
              <c:f>Sheet1!$B$1</c:f>
              <c:strCache>
                <c:ptCount val="1"/>
                <c:pt idx="0">
                  <c:v>Bound</c:v>
                </c:pt>
              </c:strCache>
            </c:strRef>
          </c:tx>
          <c:spPr>
            <a:solidFill>
              <a:srgbClr val="C2410C"/>
            </a:solidFill>
            <a:effectLst/>
          </c:spPr>
          <c:invertIfNegative val="0"/>
          <c:dLbls>
            <c:numFmt formatCode="0&quot; min&quot;;;" sourceLinked="0"/>
            <c:spPr>
              <a:noFill/>
              <a:ln>
                <a:noFill/>
              </a:ln>
              <a:effectLst/>
            </c:spPr>
            <c:txPr>
              <a:bodyPr/>
              <a:lstStyle/>
              <a:p>
                <a:pPr>
                  <a:defRPr sz="1600" b="1" i="0" u="none" strike="noStrike">
                    <a:solidFill>
                      <a:srgbClr val="FFFFFF"/>
                    </a:solidFill>
                    <a:latin typeface="Calibri"/>
                  </a:defRPr>
                </a:pPr>
                <a:endParaRPr lang="en-US"/>
              </a:p>
            </c:txPr>
            <c:dLblPos val="inEnd"/>
            <c:showLegendKey val="0"/>
            <c:showVal val="1"/>
            <c:showCatName val="0"/>
            <c:showSerName val="0"/>
            <c:showPercent val="0"/>
            <c:showBubbleSize val="0"/>
            <c:showLeaderLines val="0"/>
            <c:extLst>
              <c:ext xmlns:c15="http://schemas.microsoft.com/office/drawing/2012/chart" uri="{CE6537A1-D6FC-4f65-9D91-7224C49458BB}">
                <c15:layout/>
                <c15:showLeaderLines val="0"/>
              </c:ext>
            </c:extLst>
          </c:dLbls>
          <c:cat>
            <c:strRef>
              <c:f>Sheet1!$A$2:$A$3</c:f>
              <c:strCache>
                <c:ptCount val="2"/>
                <c:pt idx="0">
                  <c:v>Hand-calc bound (cold start)</c:v>
                </c:pt>
                <c:pt idx="1">
                  <c:v>Simulated (after a ride)</c:v>
                </c:pt>
              </c:strCache>
            </c:strRef>
          </c:cat>
          <c:val>
            <c:numRef>
              <c:f>Sheet1!$B$2:$B$3</c:f>
              <c:numCache>
                <c:formatCode>General</c:formatCode>
                <c:ptCount val="2"/>
                <c:pt idx="0">
                  <c:v>139</c:v>
                </c:pt>
                <c:pt idx="1">
                  <c:v>0</c:v>
                </c:pt>
              </c:numCache>
            </c:numRef>
          </c:val>
          <c:extLst>
            <c:ext xmlns:c16="http://schemas.microsoft.com/office/drawing/2014/chart" uri="{C3380CC4-5D6E-409C-BE32-E72D297353CC}">
              <c16:uniqueId val="{00000000-2B1A-475D-BA84-AA582CC39B39}"/>
            </c:ext>
          </c:extLst>
        </c:ser>
        <c:ser>
          <c:idx val="1"/>
          <c:order val="1"/>
          <c:tx>
            <c:strRef>
              <c:f>Sheet1!$C$1</c:f>
              <c:strCache>
                <c:ptCount val="1"/>
                <c:pt idx="0">
                  <c:v>Simulated</c:v>
                </c:pt>
              </c:strCache>
            </c:strRef>
          </c:tx>
          <c:spPr>
            <a:solidFill>
              <a:srgbClr val="A6ADB4"/>
            </a:solidFill>
            <a:effectLst/>
          </c:spPr>
          <c:invertIfNegative val="0"/>
          <c:dLbls>
            <c:numFmt formatCode="0&quot; min&quot;;;" sourceLinked="0"/>
            <c:spPr>
              <a:noFill/>
              <a:ln>
                <a:noFill/>
              </a:ln>
              <a:effectLst/>
            </c:spPr>
            <c:txPr>
              <a:bodyPr/>
              <a:lstStyle/>
              <a:p>
                <a:pPr>
                  <a:defRPr sz="1600" b="1" i="0" u="none" strike="noStrike">
                    <a:solidFill>
                      <a:srgbClr val="FFFFFF"/>
                    </a:solidFill>
                    <a:latin typeface="Calibri"/>
                  </a:defRPr>
                </a:pPr>
                <a:endParaRPr lang="en-US"/>
              </a:p>
            </c:txPr>
            <c:dLblPos val="inEnd"/>
            <c:showLegendKey val="0"/>
            <c:showVal val="1"/>
            <c:showCatName val="0"/>
            <c:showSerName val="0"/>
            <c:showPercent val="0"/>
            <c:showBubbleSize val="0"/>
            <c:showLeaderLines val="0"/>
            <c:extLst>
              <c:ext xmlns:c15="http://schemas.microsoft.com/office/drawing/2012/chart" uri="{CE6537A1-D6FC-4f65-9D91-7224C49458BB}">
                <c15:layout/>
                <c15:showLeaderLines val="0"/>
              </c:ext>
            </c:extLst>
          </c:dLbls>
          <c:cat>
            <c:strRef>
              <c:f>Sheet1!$A$2:$A$3</c:f>
              <c:strCache>
                <c:ptCount val="2"/>
                <c:pt idx="0">
                  <c:v>Hand-calc bound (cold start)</c:v>
                </c:pt>
                <c:pt idx="1">
                  <c:v>Simulated (after a ride)</c:v>
                </c:pt>
              </c:strCache>
            </c:strRef>
          </c:cat>
          <c:val>
            <c:numRef>
              <c:f>Sheet1!$C$2:$C$3</c:f>
              <c:numCache>
                <c:formatCode>General</c:formatCode>
                <c:ptCount val="2"/>
                <c:pt idx="0">
                  <c:v>0</c:v>
                </c:pt>
                <c:pt idx="1">
                  <c:v>161</c:v>
                </c:pt>
              </c:numCache>
            </c:numRef>
          </c:val>
          <c:extLst>
            <c:ext xmlns:c16="http://schemas.microsoft.com/office/drawing/2014/chart" uri="{C3380CC4-5D6E-409C-BE32-E72D297353CC}">
              <c16:uniqueId val="{00000001-2B1A-475D-BA84-AA582CC39B39}"/>
            </c:ext>
          </c:extLst>
        </c:ser>
        <c:dLbls>
          <c:dLblPos val="inEnd"/>
          <c:showLegendKey val="0"/>
          <c:showVal val="1"/>
          <c:showCatName val="0"/>
          <c:showSerName val="0"/>
          <c:showPercent val="0"/>
          <c:showBubbleSize val="0"/>
        </c:dLbls>
        <c:gapWidth val="60"/>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600" b="0" i="0" u="none" strike="noStrike">
                <a:solidFill>
                  <a:srgbClr val="262626"/>
                </a:solidFill>
                <a:latin typeface="Calibri"/>
              </a:defRPr>
            </a:pPr>
            <a:endParaRPr lang="en-US"/>
          </a:p>
        </c:txPr>
        <c:crossAx val="2094734552"/>
        <c:crosses val="autoZero"/>
        <c:auto val="1"/>
        <c:lblAlgn val="ctr"/>
        <c:lblOffset val="100"/>
        <c:noMultiLvlLbl val="1"/>
      </c:catAx>
      <c:valAx>
        <c:axId val="2094734552"/>
        <c:scaling>
          <c:orientation val="minMax"/>
          <c:max val="180"/>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6B7280"/>
                </a:solidFill>
                <a:latin typeface="Calibri"/>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600" b="0" i="0" u="none" strike="noStrike">
                <a:solidFill>
                  <a:srgbClr val="262626"/>
                </a:solidFill>
                <a:latin typeface="Calibri"/>
              </a:defRPr>
            </a:pPr>
            <a:r>
              <a:rPr lang="en-US" sz="1600" b="0" i="0" u="none" strike="noStrike">
                <a:solidFill>
                  <a:srgbClr val="262626"/>
                </a:solidFill>
                <a:latin typeface="Calibri"/>
              </a:rPr>
              <a:t>Temperature rise on 45 °C hold-out logs (K)</a:t>
            </a:r>
          </a:p>
        </c:rich>
      </c:tx>
      <c:layout/>
      <c:overlay val="0"/>
    </c:title>
    <c:autoTitleDeleted val="0"/>
    <c:plotArea>
      <c:layout/>
      <c:barChart>
        <c:barDir val="col"/>
        <c:grouping val="clustered"/>
        <c:varyColors val="0"/>
        <c:ser>
          <c:idx val="0"/>
          <c:order val="0"/>
          <c:tx>
            <c:strRef>
              <c:f>Sheet1!$B$1</c:f>
              <c:strCache>
                <c:ptCount val="1"/>
                <c:pt idx="0">
                  <c:v>Measured</c:v>
                </c:pt>
              </c:strCache>
            </c:strRef>
          </c:tx>
          <c:spPr>
            <a:solidFill>
              <a:srgbClr val="C2410C"/>
            </a:solidFill>
            <a:effectLst/>
          </c:spPr>
          <c:invertIfNegative val="0"/>
          <c:dLbls>
            <c:numFmt formatCode="0.0&quot; K&quot;" sourceLinked="0"/>
            <c:spPr>
              <a:noFill/>
              <a:ln>
                <a:noFill/>
              </a:ln>
              <a:effectLst/>
            </c:spPr>
            <c:txPr>
              <a:bodyPr/>
              <a:lstStyle/>
              <a:p>
                <a:pPr>
                  <a:defRPr sz="1600" b="0" i="0" u="none" strike="noStrike">
                    <a:solidFill>
                      <a:srgbClr val="262626"/>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layout/>
                <c15:showLeaderLines val="0"/>
              </c:ext>
            </c:extLst>
          </c:dLbls>
          <c:cat>
            <c:strRef>
              <c:f>Sheet1!$A$2:$A$3</c:f>
              <c:strCache>
                <c:ptCount val="2"/>
                <c:pt idx="0">
                  <c:v>Drive cycles (30 logs)</c:v>
                </c:pt>
                <c:pt idx="1">
                  <c:v>1C charges (30 logs)</c:v>
                </c:pt>
              </c:strCache>
            </c:strRef>
          </c:cat>
          <c:val>
            <c:numRef>
              <c:f>Sheet1!$B$2:$B$3</c:f>
              <c:numCache>
                <c:formatCode>General</c:formatCode>
                <c:ptCount val="2"/>
                <c:pt idx="0">
                  <c:v>2</c:v>
                </c:pt>
                <c:pt idx="1">
                  <c:v>3.4</c:v>
                </c:pt>
              </c:numCache>
            </c:numRef>
          </c:val>
          <c:extLst>
            <c:ext xmlns:c16="http://schemas.microsoft.com/office/drawing/2014/chart" uri="{C3380CC4-5D6E-409C-BE32-E72D297353CC}">
              <c16:uniqueId val="{00000000-D26C-42E3-BFF1-D845E858F19E}"/>
            </c:ext>
          </c:extLst>
        </c:ser>
        <c:ser>
          <c:idx val="1"/>
          <c:order val="1"/>
          <c:tx>
            <c:strRef>
              <c:f>Sheet1!$C$1</c:f>
              <c:strCache>
                <c:ptCount val="1"/>
                <c:pt idx="0">
                  <c:v>Model</c:v>
                </c:pt>
              </c:strCache>
            </c:strRef>
          </c:tx>
          <c:spPr>
            <a:solidFill>
              <a:srgbClr val="1F4E79"/>
            </a:solidFill>
            <a:effectLst/>
          </c:spPr>
          <c:invertIfNegative val="0"/>
          <c:dLbls>
            <c:numFmt formatCode="0.0&quot; K&quot;" sourceLinked="0"/>
            <c:spPr>
              <a:noFill/>
              <a:ln>
                <a:noFill/>
              </a:ln>
              <a:effectLst/>
            </c:spPr>
            <c:txPr>
              <a:bodyPr/>
              <a:lstStyle/>
              <a:p>
                <a:pPr>
                  <a:defRPr sz="1600" b="0" i="0" u="none" strike="noStrike">
                    <a:solidFill>
                      <a:srgbClr val="262626"/>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layout/>
                <c15:showLeaderLines val="0"/>
              </c:ext>
            </c:extLst>
          </c:dLbls>
          <c:cat>
            <c:strRef>
              <c:f>Sheet1!$A$2:$A$3</c:f>
              <c:strCache>
                <c:ptCount val="2"/>
                <c:pt idx="0">
                  <c:v>Drive cycles (30 logs)</c:v>
                </c:pt>
                <c:pt idx="1">
                  <c:v>1C charges (30 logs)</c:v>
                </c:pt>
              </c:strCache>
            </c:strRef>
          </c:cat>
          <c:val>
            <c:numRef>
              <c:f>Sheet1!$C$2:$C$3</c:f>
              <c:numCache>
                <c:formatCode>General</c:formatCode>
                <c:ptCount val="2"/>
                <c:pt idx="0">
                  <c:v>1</c:v>
                </c:pt>
                <c:pt idx="1">
                  <c:v>1.6</c:v>
                </c:pt>
              </c:numCache>
            </c:numRef>
          </c:val>
          <c:extLst>
            <c:ext xmlns:c16="http://schemas.microsoft.com/office/drawing/2014/chart" uri="{C3380CC4-5D6E-409C-BE32-E72D297353CC}">
              <c16:uniqueId val="{00000001-D26C-42E3-BFF1-D845E858F19E}"/>
            </c:ext>
          </c:extLst>
        </c:ser>
        <c:dLbls>
          <c:showLegendKey val="0"/>
          <c:showVal val="1"/>
          <c:showCatName val="0"/>
          <c:showSerName val="0"/>
          <c:showPercent val="0"/>
          <c:showBubbleSize val="0"/>
        </c:dLbls>
        <c:gapWidth val="7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600" b="0" i="0" u="none" strike="noStrike">
                <a:solidFill>
                  <a:srgbClr val="262626"/>
                </a:solidFill>
                <a:latin typeface="Calibri"/>
              </a:defRPr>
            </a:pPr>
            <a:endParaRPr lang="en-US"/>
          </a:p>
        </c:txPr>
        <c:crossAx val="2094734552"/>
        <c:crosses val="autoZero"/>
        <c:auto val="1"/>
        <c:lblAlgn val="ctr"/>
        <c:lblOffset val="100"/>
        <c:noMultiLvlLbl val="1"/>
      </c:catAx>
      <c:valAx>
        <c:axId val="2094734552"/>
        <c:scaling>
          <c:orientation val="minMax"/>
          <c:max val="4"/>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6B7280"/>
                </a:solidFill>
                <a:latin typeface="Calibri"/>
              </a:defRPr>
            </a:pPr>
            <a:endParaRPr lang="en-US"/>
          </a:p>
        </c:txPr>
        <c:crossAx val="2094734554"/>
        <c:crosses val="autoZero"/>
        <c:crossBetween val="between"/>
      </c:valAx>
      <c:spPr>
        <a:noFill/>
        <a:ln>
          <a:noFill/>
        </a:ln>
        <a:effectLst/>
      </c:spPr>
    </c:plotArea>
    <c:legend>
      <c:legendPos val="b"/>
      <c:layout/>
      <c:overlay val="0"/>
      <c:txPr>
        <a:bodyPr/>
        <a:lstStyle/>
        <a:p>
          <a:pPr>
            <a:defRPr sz="1600">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600" b="0" i="0" u="none" strike="noStrike">
                <a:solidFill>
                  <a:srgbClr val="262626"/>
                </a:solidFill>
                <a:latin typeface="Calibri"/>
              </a:defRPr>
            </a:pPr>
            <a:r>
              <a:rPr lang="en-IN" sz="1600" b="0" i="0" u="none" strike="noStrike">
                <a:solidFill>
                  <a:srgbClr val="262626"/>
                </a:solidFill>
                <a:latin typeface="Calibri"/>
              </a:rPr>
              <a:t>Plug-in → 80 % (min)</a:t>
            </a:r>
          </a:p>
        </c:rich>
      </c:tx>
      <c:layout/>
      <c:overlay val="0"/>
    </c:title>
    <c:autoTitleDeleted val="0"/>
    <c:plotArea>
      <c:layout/>
      <c:barChart>
        <c:barDir val="bar"/>
        <c:grouping val="stacked"/>
        <c:varyColors val="0"/>
        <c:ser>
          <c:idx val="0"/>
          <c:order val="0"/>
          <c:tx>
            <c:strRef>
              <c:f>Sheet1!$B$1</c:f>
              <c:strCache>
                <c:ptCount val="1"/>
                <c:pt idx="0">
                  <c:v>Thermal hold (no current)</c:v>
                </c:pt>
              </c:strCache>
            </c:strRef>
          </c:tx>
          <c:spPr>
            <a:solidFill>
              <a:srgbClr val="C2410C"/>
            </a:solidFill>
            <a:effectLst/>
          </c:spPr>
          <c:invertIfNegative val="0"/>
          <c:dLbls>
            <c:numFmt formatCode="0;;" sourceLinked="0"/>
            <c:spPr>
              <a:noFill/>
              <a:ln>
                <a:noFill/>
              </a:ln>
              <a:effectLst/>
            </c:spPr>
            <c:txPr>
              <a:bodyPr/>
              <a:lstStyle/>
              <a:p>
                <a:pPr>
                  <a:defRPr sz="1600" b="1" i="0" u="none" strike="noStrike">
                    <a:solidFill>
                      <a:srgbClr val="FFFFFF"/>
                    </a:solidFill>
                    <a:latin typeface="Calibri"/>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layout/>
                <c15:showLeaderLines val="0"/>
              </c:ext>
            </c:extLst>
          </c:dLbls>
          <c:cat>
            <c:strRef>
              <c:f>Sheet1!$A$2:$A$5</c:f>
              <c:strCache>
                <c:ptCount val="4"/>
                <c:pt idx="0">
                  <c:v>Baseline · 244 min</c:v>
                </c:pt>
                <c:pt idx="1">
                  <c:v>A: NMC + Al plate · 92 min</c:v>
                </c:pt>
                <c:pt idx="2">
                  <c:v>B: LFP 16S8P · 97 min</c:v>
                </c:pt>
                <c:pt idx="3">
                  <c:v>C: + observer · 277 min</c:v>
                </c:pt>
              </c:strCache>
            </c:strRef>
          </c:cat>
          <c:val>
            <c:numRef>
              <c:f>Sheet1!$B$2:$B$5</c:f>
              <c:numCache>
                <c:formatCode>General</c:formatCode>
                <c:ptCount val="4"/>
                <c:pt idx="0">
                  <c:v>48.2</c:v>
                </c:pt>
                <c:pt idx="1">
                  <c:v>0</c:v>
                </c:pt>
                <c:pt idx="2">
                  <c:v>0</c:v>
                </c:pt>
                <c:pt idx="3">
                  <c:v>89.5</c:v>
                </c:pt>
              </c:numCache>
            </c:numRef>
          </c:val>
          <c:extLst>
            <c:ext xmlns:c16="http://schemas.microsoft.com/office/drawing/2014/chart" uri="{C3380CC4-5D6E-409C-BE32-E72D297353CC}">
              <c16:uniqueId val="{00000000-B751-43FC-9074-09BB30A870A7}"/>
            </c:ext>
          </c:extLst>
        </c:ser>
        <c:ser>
          <c:idx val="1"/>
          <c:order val="1"/>
          <c:tx>
            <c:strRef>
              <c:f>Sheet1!$C$1</c:f>
              <c:strCache>
                <c:ptCount val="1"/>
                <c:pt idx="0">
                  <c:v>Charging</c:v>
                </c:pt>
              </c:strCache>
            </c:strRef>
          </c:tx>
          <c:spPr>
            <a:solidFill>
              <a:srgbClr val="1F4E79"/>
            </a:solidFill>
            <a:effectLst/>
          </c:spPr>
          <c:invertIfNegative val="0"/>
          <c:dLbls>
            <c:numFmt formatCode="0;;" sourceLinked="0"/>
            <c:spPr>
              <a:noFill/>
              <a:ln>
                <a:noFill/>
              </a:ln>
              <a:effectLst/>
            </c:spPr>
            <c:txPr>
              <a:bodyPr/>
              <a:lstStyle/>
              <a:p>
                <a:pPr>
                  <a:defRPr sz="1600" b="1" i="0" u="none" strike="noStrike">
                    <a:solidFill>
                      <a:srgbClr val="FFFFFF"/>
                    </a:solidFill>
                    <a:latin typeface="Calibri"/>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layout/>
                <c15:showLeaderLines val="0"/>
              </c:ext>
            </c:extLst>
          </c:dLbls>
          <c:cat>
            <c:strRef>
              <c:f>Sheet1!$A$2:$A$5</c:f>
              <c:strCache>
                <c:ptCount val="4"/>
                <c:pt idx="0">
                  <c:v>Baseline · 244 min</c:v>
                </c:pt>
                <c:pt idx="1">
                  <c:v>A: NMC + Al plate · 92 min</c:v>
                </c:pt>
                <c:pt idx="2">
                  <c:v>B: LFP 16S8P · 97 min</c:v>
                </c:pt>
                <c:pt idx="3">
                  <c:v>C: + observer · 277 min</c:v>
                </c:pt>
              </c:strCache>
            </c:strRef>
          </c:cat>
          <c:val>
            <c:numRef>
              <c:f>Sheet1!$C$2:$C$5</c:f>
              <c:numCache>
                <c:formatCode>General</c:formatCode>
                <c:ptCount val="4"/>
                <c:pt idx="0">
                  <c:v>195.5</c:v>
                </c:pt>
                <c:pt idx="1">
                  <c:v>92.1</c:v>
                </c:pt>
                <c:pt idx="2">
                  <c:v>97.4</c:v>
                </c:pt>
                <c:pt idx="3">
                  <c:v>187.1</c:v>
                </c:pt>
              </c:numCache>
            </c:numRef>
          </c:val>
          <c:extLst>
            <c:ext xmlns:c16="http://schemas.microsoft.com/office/drawing/2014/chart" uri="{C3380CC4-5D6E-409C-BE32-E72D297353CC}">
              <c16:uniqueId val="{00000001-B751-43FC-9074-09BB30A870A7}"/>
            </c:ext>
          </c:extLst>
        </c:ser>
        <c:dLbls>
          <c:dLblPos val="ctr"/>
          <c:showLegendKey val="0"/>
          <c:showVal val="1"/>
          <c:showCatName val="0"/>
          <c:showSerName val="0"/>
          <c:showPercent val="0"/>
          <c:showBubbleSize val="0"/>
        </c:dLbls>
        <c:gapWidth val="50"/>
        <c:overlap val="100"/>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600" b="0" i="0" u="none" strike="noStrike">
                <a:solidFill>
                  <a:srgbClr val="262626"/>
                </a:solidFill>
                <a:latin typeface="Calibri"/>
              </a:defRPr>
            </a:pPr>
            <a:endParaRPr lang="en-US"/>
          </a:p>
        </c:txPr>
        <c:crossAx val="2094734552"/>
        <c:crosses val="autoZero"/>
        <c:auto val="1"/>
        <c:lblAlgn val="ctr"/>
        <c:lblOffset val="100"/>
        <c:noMultiLvlLbl val="1"/>
      </c:catAx>
      <c:valAx>
        <c:axId val="2094734552"/>
        <c:scaling>
          <c:orientation val="minMax"/>
          <c:max val="300"/>
          <c:min val="0"/>
        </c:scaling>
        <c:delete val="0"/>
        <c:axPos val="t"/>
        <c:majorGridlines>
          <c:spPr>
            <a:ln w="6350" cap="flat">
              <a:solidFill>
                <a:srgbClr val="E5E7EB"/>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400" b="0" i="0" u="none" strike="noStrike">
                <a:solidFill>
                  <a:srgbClr val="6B7280"/>
                </a:solidFill>
                <a:latin typeface="Calibri"/>
              </a:defRPr>
            </a:pPr>
            <a:endParaRPr lang="en-US"/>
          </a:p>
        </c:txPr>
        <c:crossAx val="2094734554"/>
        <c:crosses val="autoZero"/>
        <c:crossBetween val="between"/>
        <c:majorUnit val="60"/>
      </c:valAx>
      <c:spPr>
        <a:noFill/>
        <a:ln>
          <a:noFill/>
        </a:ln>
        <a:effectLst/>
      </c:spPr>
    </c:plotArea>
    <c:legend>
      <c:legendPos val="b"/>
      <c:layout/>
      <c:overlay val="0"/>
      <c:txPr>
        <a:bodyPr/>
        <a:lstStyle/>
        <a:p>
          <a:pPr>
            <a:defRPr sz="1600">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600" b="0" i="0" u="none" strike="noStrike">
                <a:solidFill>
                  <a:srgbClr val="262626"/>
                </a:solidFill>
                <a:latin typeface="Calibri"/>
              </a:defRPr>
            </a:pPr>
            <a:r>
              <a:rPr lang="en-IN" sz="1600" b="0" i="0" u="none" strike="noStrike">
                <a:solidFill>
                  <a:srgbClr val="262626"/>
                </a:solidFill>
                <a:latin typeface="Calibri"/>
              </a:rPr>
              <a:t>Cost per usable kWh (₹)</a:t>
            </a:r>
          </a:p>
        </c:rich>
      </c:tx>
      <c:layout/>
      <c:overlay val="0"/>
    </c:title>
    <c:autoTitleDeleted val="0"/>
    <c:plotArea>
      <c:layout/>
      <c:barChart>
        <c:barDir val="bar"/>
        <c:grouping val="stacked"/>
        <c:varyColors val="0"/>
        <c:ser>
          <c:idx val="0"/>
          <c:order val="0"/>
          <c:tx>
            <c:strRef>
              <c:f>Sheet1!$B$1</c:f>
              <c:strCache>
                <c:ptCount val="1"/>
                <c:pt idx="0">
                  <c:v>B</c:v>
                </c:pt>
              </c:strCache>
            </c:strRef>
          </c:tx>
          <c:spPr>
            <a:solidFill>
              <a:srgbClr val="2E75B6"/>
            </a:solidFill>
            <a:effectLst/>
          </c:spPr>
          <c:invertIfNegative val="0"/>
          <c:dLbls>
            <c:numFmt formatCode="&quot;₹&quot;#,##0;;" sourceLinked="0"/>
            <c:spPr>
              <a:noFill/>
              <a:ln>
                <a:noFill/>
              </a:ln>
              <a:effectLst/>
            </c:spPr>
            <c:txPr>
              <a:bodyPr/>
              <a:lstStyle/>
              <a:p>
                <a:pPr>
                  <a:defRPr sz="1600" b="1" i="0" u="none" strike="noStrike">
                    <a:solidFill>
                      <a:srgbClr val="FFFFFF"/>
                    </a:solidFill>
                    <a:latin typeface="Calibri"/>
                  </a:defRPr>
                </a:pPr>
                <a:endParaRPr lang="en-US"/>
              </a:p>
            </c:txPr>
            <c:dLblPos val="inEnd"/>
            <c:showLegendKey val="0"/>
            <c:showVal val="1"/>
            <c:showCatName val="0"/>
            <c:showSerName val="0"/>
            <c:showPercent val="0"/>
            <c:showBubbleSize val="0"/>
            <c:showLeaderLines val="0"/>
            <c:extLst>
              <c:ext xmlns:c15="http://schemas.microsoft.com/office/drawing/2012/chart" uri="{CE6537A1-D6FC-4f65-9D91-7224C49458BB}">
                <c15:layout/>
                <c15:showLeaderLines val="0"/>
              </c:ext>
            </c:extLst>
          </c:dLbls>
          <c:cat>
            <c:strRef>
              <c:f>Sheet1!$A$2:$A$4</c:f>
              <c:strCache>
                <c:ptCount val="3"/>
                <c:pt idx="0">
                  <c:v>B · LFP</c:v>
                </c:pt>
                <c:pt idx="1">
                  <c:v>Baseline / C</c:v>
                </c:pt>
                <c:pt idx="2">
                  <c:v>A · NMC + Al</c:v>
                </c:pt>
              </c:strCache>
            </c:strRef>
          </c:cat>
          <c:val>
            <c:numRef>
              <c:f>Sheet1!$B$2:$B$4</c:f>
              <c:numCache>
                <c:formatCode>General</c:formatCode>
                <c:ptCount val="3"/>
                <c:pt idx="0">
                  <c:v>18205</c:v>
                </c:pt>
                <c:pt idx="1">
                  <c:v>0</c:v>
                </c:pt>
                <c:pt idx="2">
                  <c:v>0</c:v>
                </c:pt>
              </c:numCache>
            </c:numRef>
          </c:val>
          <c:extLst>
            <c:ext xmlns:c16="http://schemas.microsoft.com/office/drawing/2014/chart" uri="{C3380CC4-5D6E-409C-BE32-E72D297353CC}">
              <c16:uniqueId val="{00000000-CC36-4D41-968C-DD3E63519CFF}"/>
            </c:ext>
          </c:extLst>
        </c:ser>
        <c:ser>
          <c:idx val="1"/>
          <c:order val="1"/>
          <c:tx>
            <c:strRef>
              <c:f>Sheet1!$C$1</c:f>
              <c:strCache>
                <c:ptCount val="1"/>
                <c:pt idx="0">
                  <c:v>Others</c:v>
                </c:pt>
              </c:strCache>
            </c:strRef>
          </c:tx>
          <c:spPr>
            <a:solidFill>
              <a:srgbClr val="A6ADB4"/>
            </a:solidFill>
            <a:effectLst/>
          </c:spPr>
          <c:invertIfNegative val="0"/>
          <c:dLbls>
            <c:numFmt formatCode="&quot;₹&quot;#,##0;;" sourceLinked="0"/>
            <c:spPr>
              <a:noFill/>
              <a:ln>
                <a:noFill/>
              </a:ln>
              <a:effectLst/>
            </c:spPr>
            <c:txPr>
              <a:bodyPr/>
              <a:lstStyle/>
              <a:p>
                <a:pPr>
                  <a:defRPr sz="1600" b="1" i="0" u="none" strike="noStrike">
                    <a:solidFill>
                      <a:srgbClr val="FFFFFF"/>
                    </a:solidFill>
                    <a:latin typeface="Calibri"/>
                  </a:defRPr>
                </a:pPr>
                <a:endParaRPr lang="en-US"/>
              </a:p>
            </c:txPr>
            <c:dLblPos val="inEnd"/>
            <c:showLegendKey val="0"/>
            <c:showVal val="1"/>
            <c:showCatName val="0"/>
            <c:showSerName val="0"/>
            <c:showPercent val="0"/>
            <c:showBubbleSize val="0"/>
            <c:showLeaderLines val="0"/>
            <c:extLst>
              <c:ext xmlns:c15="http://schemas.microsoft.com/office/drawing/2012/chart" uri="{CE6537A1-D6FC-4f65-9D91-7224C49458BB}">
                <c15:layout/>
                <c15:showLeaderLines val="0"/>
              </c:ext>
            </c:extLst>
          </c:dLbls>
          <c:cat>
            <c:strRef>
              <c:f>Sheet1!$A$2:$A$4</c:f>
              <c:strCache>
                <c:ptCount val="3"/>
                <c:pt idx="0">
                  <c:v>B · LFP</c:v>
                </c:pt>
                <c:pt idx="1">
                  <c:v>Baseline / C</c:v>
                </c:pt>
                <c:pt idx="2">
                  <c:v>A · NMC + Al</c:v>
                </c:pt>
              </c:strCache>
            </c:strRef>
          </c:cat>
          <c:val>
            <c:numRef>
              <c:f>Sheet1!$C$2:$C$4</c:f>
              <c:numCache>
                <c:formatCode>General</c:formatCode>
                <c:ptCount val="3"/>
                <c:pt idx="0">
                  <c:v>0</c:v>
                </c:pt>
                <c:pt idx="1">
                  <c:v>23149</c:v>
                </c:pt>
                <c:pt idx="2">
                  <c:v>24799</c:v>
                </c:pt>
              </c:numCache>
            </c:numRef>
          </c:val>
          <c:extLst>
            <c:ext xmlns:c16="http://schemas.microsoft.com/office/drawing/2014/chart" uri="{C3380CC4-5D6E-409C-BE32-E72D297353CC}">
              <c16:uniqueId val="{00000001-CC36-4D41-968C-DD3E63519CFF}"/>
            </c:ext>
          </c:extLst>
        </c:ser>
        <c:dLbls>
          <c:dLblPos val="inEnd"/>
          <c:showLegendKey val="0"/>
          <c:showVal val="1"/>
          <c:showCatName val="0"/>
          <c:showSerName val="0"/>
          <c:showPercent val="0"/>
          <c:showBubbleSize val="0"/>
        </c:dLbls>
        <c:gapWidth val="50"/>
        <c:overlap val="100"/>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600" b="0" i="0" u="none" strike="noStrike">
                <a:solidFill>
                  <a:srgbClr val="262626"/>
                </a:solidFill>
                <a:latin typeface="Calibri"/>
              </a:defRPr>
            </a:pPr>
            <a:endParaRPr lang="en-US"/>
          </a:p>
        </c:txPr>
        <c:crossAx val="2094734552"/>
        <c:crosses val="autoZero"/>
        <c:auto val="1"/>
        <c:lblAlgn val="ctr"/>
        <c:lblOffset val="100"/>
        <c:noMultiLvlLbl val="1"/>
      </c:catAx>
      <c:valAx>
        <c:axId val="2094734552"/>
        <c:scaling>
          <c:orientation val="minMax"/>
          <c:max val="26000"/>
          <c:min val="0"/>
        </c:scaling>
        <c:delete val="1"/>
        <c:axPos val="t"/>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138867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question every e-scooter owner faces in an Indian summer: can I charge right after the ride? PackForge answers it for any pack design before hardware is built. Today we show one study: a 48 V scooter pack, four designs, one hard day.</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study is one 48 V e-scooter pack on the hardest realistic day: 40 °C ambient, plugged in straight after the ride, so the charge starts from the pack's end-of-ride state. Must-requirements disqualify a design; should-requirements become stated risks. The orange limits are where the baseline gets into trouble. Charge time runs from plug-in to 80 %, including any thermal hold, because that is what the rider waits for. All 11 requirements are in Appendix A1.</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set out to answer one question: which design charges at or below 45 °C and reaches 80 % within two hours when plugged in after a hot ride, and how far can we trust that answer before anyone builds the pack? Two groups need it. Students and new engineers want to see why a design fails. Pack engineers have to decide which option to prototype. An answer counts only if it comes with a cause for every failure and an evidence level for every number.</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ride the cells next to the sensors cool first, so the two NTCs read 3.2 K below the hottest cell. The BMS waits 48 minutes with no current, then charges and derates on what the NTCs report. Meanwhile interior cells reach 47.6 °C, above the 45 °C charge limit. There is no alarm and no trip, because the BMS cannot see those cells. All three numbers come from the CLI run of the baseline. The drawing is illustrative; the simulated heat map is in the app.</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40 °C ambient the 45 °C limit leaves 5 K for all the charge heat. An independent hand calculation takes the ideal profile for an interior cell: full current until it reaches the limit, then exactly the current that holds it there. It says a passive NMC pack needs at least 139 minutes for 10 to 80 %, even from a cold start. The simulation gives 161 minutes after a ride, and a test keeps the cold-start simulation within 0.95 to 1.3 times the bound. Firmware cannot beat this floor; only moving heat out or making less of it can. If time is short, skip this slide and say one line: the fix is hardware.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design file is the single source of truth. Each option is a small JSON file that extends the baseline with only its differences. The simulator runs the ride, then the charge from the ride's end state, with a BMS that only knows what its sensors tell it. Every KPI carries an evidence level, and the conflict checker turns each failure into a cause chain with fixes. The blue row is what a spreadsheet or a single-physics tool does not give you: the virtual hotspot sensor, the blind-spot metric, evidence levels, Monte Carlo and cause chains. A new cell, study or rule is a data file, not code.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NMC cell is calibrated on a proxy cell, the LG M50LT from the public TU Berlin internal-temperature dataset, not the cell we would buy. We fit at 25 and 35 °C and held out everything at 45 °C: 60 logs the fit never saw. Voltage error is 17 to 18 mV median in the operating window, so the model's heat generation holds at an unseen temperature. The chart shows the weak point: the model predicts about half the measured temperature rise. It has no SOC-dependent resistance or entropic heat. That is why every design is re-run with twice the heat. The chamber's cooling is a test-rig parameter and is never carried over to a pack.</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study, same scenarios, four designs. Orange is the thermal hold: plugged in, no current. The baseline is disqualified because it charges at 47.6 °C. A adds an aluminium conduction plate and six centre NTCs. B switches to LFP. C keeps the baseline hardware and changes only the BMS, which now derates on a thermal observer, a virtual hotspot sensor. C is safe but slowest because it waits for the hotspot to cool. Calibrating the NMC cell changed the numbers (the hold went from 7 to 48 minutes) but not the ranking.</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tool gives three answers, one per situation. B is recommended: the lowest cost per kWh, about three times the cycle life by our estimate, 97 minutes, but about 10 kg heavier and bulkier. If mass and volume are hard limits, A: plus ₹2.7 k and 1.2 kg per pack, 92 minutes, and the most robust to extra heat. For the 2-NTC packs already on the road, C is a ₹0 firmware retrofit. It stops hot charging but takes 277 minutes against the baseline's 244, because it waits for the hotspot. We do not claim AIS-156 compliance for any design: the baseline and C have 2 sensors, and Amendment 3, Annex 8K asks for at least 4.</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our recommendation, uses an LFP cell we have not validated; its numbers are generic class values. The hold-out check shows the model under-predicts temperature rise about 2×, so we re-run every design with cells making twice the modelled heat, without telling the BMS. B then misses the charge limit by 0.02 K and A becomes the pick. You will see that flip live with the Unmodelled heat slider. One LFP charge test through the same fit pipeline settles it. The other limits, such as the proxy cell and the lumped thermal model, are in Appendix A9.</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app now and follow docs/DEMO_SCRIPT.md: baseline after a ride, Option C, A against B and the recommendation, the Validation tab replay of a 45 °C hold-out charge, the heat slider to 2×, then download the report. The whole study takes about 30 seconds on this laptop. If the app does not respond within about 10 seconds, switch to the backup clip and keep talking over it.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is the cheapest per usable kWh, ₹18.2 k against ₹23.1 k for the baseline, and by our estimate lasts about three times as long in heat. Both numbers use generic class costs and a rule-of-thumb ageing model; tell the judges that. C has value today: a ₹0 fix for packs already built. The workbench itself saves prototypes, because the blind spot showed up in the model and a rig test only has to confirm it.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B for new packs. Keep A ready: it is the robust choice if the LFP cell runs hotter than modelled. Ship C to packs already on the road at no hardware cost. The next step is one LFP charge test through the same pipeline, then a pack-level log. Our ask: LFP cells and supervised rig time to run that test safely. Leave this slide up during questions and invite questions or feedback.</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dataset attribution is required by its CC BY 4.0 licence.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Q&amp;A. Must-requirements disqualify a design; should-requirements become stated risks.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Q&amp;A. Hold-out logs never enter the fit. Voltage RMSE is reported for SOC at or above 10 % and for the full range side by side.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Q&amp;A. Cycle life is a rule of thumb, not validated; costs and masses are generic class values.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Q&amp;A on desirability.</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Q&amp;A on engineering quality. Every placeholder value is an assumption with an ID that the traceability tab links to the results it affects.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Q&amp;A on innovation.</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Q&amp;A on feasibility and safety.</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Q&amp;A on the model.</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Q&amp;A. Say these before the judges ask.</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hyperlink" Target="https://github.com/gitFa07/battery-energy-system" TargetMode="External"/><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hyperlink" Target="https://doi.org/10.14279/depositonce-25110" TargetMode="External"/><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hyperlink" Target="https://github.com/gitFa07/battery-energy-system" TargetMode="Externa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79"/>
        </a:solidFill>
        <a:effectLst/>
      </p:bgPr>
    </p:bg>
    <p:spTree>
      <p:nvGrpSpPr>
        <p:cNvPr id="1" name=""/>
        <p:cNvGrpSpPr/>
        <p:nvPr/>
      </p:nvGrpSpPr>
      <p:grpSpPr>
        <a:xfrm>
          <a:off x="0" y="0"/>
          <a:ext cx="0" cy="0"/>
          <a:chOff x="0" y="0"/>
          <a:chExt cx="0" cy="0"/>
        </a:xfrm>
      </p:grpSpPr>
      <p:sp>
        <p:nvSpPr>
          <p:cNvPr id="2" name="Text 0"/>
          <p:cNvSpPr/>
          <p:nvPr/>
        </p:nvSpPr>
        <p:spPr>
          <a:xfrm>
            <a:off x="548640" y="1554480"/>
            <a:ext cx="9601200" cy="1828800"/>
          </a:xfrm>
          <a:prstGeom prst="rect">
            <a:avLst/>
          </a:prstGeom>
          <a:noFill/>
          <a:ln/>
        </p:spPr>
        <p:txBody>
          <a:bodyPr wrap="square" lIns="0" tIns="0" rIns="0" bIns="0" rtlCol="0" anchor="t"/>
          <a:lstStyle/>
          <a:p>
            <a:pPr marL="0" indent="0">
              <a:buNone/>
            </a:pPr>
            <a:r>
              <a:rPr lang="en-US" sz="4000" b="1" dirty="0">
                <a:solidFill>
                  <a:srgbClr val="FFFFFF"/>
                </a:solidFill>
                <a:latin typeface="Calibri" pitchFamily="34" charset="0"/>
                <a:ea typeface="Calibri" pitchFamily="34" charset="-122"/>
                <a:cs typeface="Calibri" pitchFamily="34" charset="-120"/>
              </a:rPr>
              <a:t>PackForge finds the hot-charge failure in a battery pack before the hardware does</a:t>
            </a:r>
            <a:endParaRPr lang="en-US" sz="4000" dirty="0"/>
          </a:p>
        </p:txBody>
      </p:sp>
      <p:sp>
        <p:nvSpPr>
          <p:cNvPr id="3" name="Text 1"/>
          <p:cNvSpPr/>
          <p:nvPr/>
        </p:nvSpPr>
        <p:spPr>
          <a:xfrm>
            <a:off x="548640" y="3520440"/>
            <a:ext cx="9601200" cy="457200"/>
          </a:xfrm>
          <a:prstGeom prst="rect">
            <a:avLst/>
          </a:prstGeom>
          <a:noFill/>
          <a:ln/>
        </p:spPr>
        <p:txBody>
          <a:bodyPr wrap="square" lIns="0" tIns="0" rIns="0" bIns="0" rtlCol="0" anchor="ctr"/>
          <a:lstStyle/>
          <a:p>
            <a:pPr marL="0" indent="0">
              <a:buNone/>
            </a:pPr>
            <a:r>
              <a:rPr lang="en-US" sz="2200" dirty="0">
                <a:solidFill>
                  <a:srgbClr val="DEEAF6"/>
                </a:solidFill>
                <a:latin typeface="Calibri" pitchFamily="34" charset="0"/>
                <a:ea typeface="Calibri" pitchFamily="34" charset="-122"/>
                <a:cs typeface="Calibri" pitchFamily="34" charset="-120"/>
              </a:rPr>
              <a:t>A reusable design workbench for battery packs, shown on one 48 V e-scooter study</a:t>
            </a:r>
            <a:endParaRPr lang="en-US" sz="2200" dirty="0"/>
          </a:p>
        </p:txBody>
      </p:sp>
      <p:sp>
        <p:nvSpPr>
          <p:cNvPr id="4" name="Text 2"/>
          <p:cNvSpPr/>
          <p:nvPr/>
        </p:nvSpPr>
        <p:spPr>
          <a:xfrm>
            <a:off x="548640" y="4800600"/>
            <a:ext cx="10515600" cy="1097280"/>
          </a:xfrm>
          <a:prstGeom prst="rect">
            <a:avLst/>
          </a:prstGeom>
          <a:noFill/>
          <a:ln/>
        </p:spPr>
        <p:txBody>
          <a:bodyPr wrap="square" lIns="0" tIns="0" rIns="0" bIns="0" rtlCol="0" anchor="t"/>
          <a:lstStyle/>
          <a:p>
            <a:pPr marL="0" indent="0">
              <a:spcAft>
                <a:spcPts val="400"/>
              </a:spcAft>
              <a:buNone/>
            </a:pPr>
            <a:r>
              <a:rPr lang="en-US" sz="2000" b="1" dirty="0">
                <a:solidFill>
                  <a:srgbClr val="FFFFFF"/>
                </a:solidFill>
                <a:latin typeface="Calibri" pitchFamily="34" charset="0"/>
                <a:ea typeface="Calibri" pitchFamily="34" charset="-122"/>
                <a:cs typeface="Calibri" pitchFamily="34" charset="-120"/>
              </a:rPr>
              <a:t>Falak Anwar · Zaid Alam</a:t>
            </a:r>
            <a:endParaRPr lang="en-US" sz="2000" dirty="0"/>
          </a:p>
          <a:p>
            <a:pPr marL="0" indent="0">
              <a:spcAft>
                <a:spcPts val="400"/>
              </a:spcAft>
              <a:buNone/>
            </a:pPr>
            <a:r>
              <a:rPr lang="en-US" sz="1600" dirty="0">
                <a:solidFill>
                  <a:srgbClr val="DEEAF6"/>
                </a:solidFill>
                <a:latin typeface="Calibri" pitchFamily="34" charset="0"/>
                <a:ea typeface="Calibri" pitchFamily="34" charset="-122"/>
                <a:cs typeface="Calibri" pitchFamily="34" charset="-120"/>
              </a:rPr>
              <a:t>TELIPORT Season 4 · Tata Elxsi · Case Study 2: Reusable Digital Platform for Designing Battery Energy Systems</a:t>
            </a:r>
            <a:endParaRPr lang="en-US" sz="2000" dirty="0"/>
          </a:p>
          <a:p>
            <a:pPr marL="0" indent="0">
              <a:spcAft>
                <a:spcPts val="400"/>
              </a:spcAft>
              <a:buNone/>
            </a:pPr>
            <a:r>
              <a:rPr lang="en-US" sz="1600" dirty="0">
                <a:solidFill>
                  <a:srgbClr val="DEEAF6"/>
                </a:solidFill>
                <a:latin typeface="Calibri" pitchFamily="34" charset="0"/>
                <a:ea typeface="Calibri" pitchFamily="34" charset="-122"/>
                <a:cs typeface="Calibri" pitchFamily="34" charset="-120"/>
              </a:rPr>
              <a:t>Day 3 pitch · 2026</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7772400" cy="274320"/>
          </a:xfrm>
          <a:prstGeom prst="rect">
            <a:avLst/>
          </a:prstGeom>
          <a:noFill/>
          <a:ln/>
        </p:spPr>
        <p:txBody>
          <a:bodyPr wrap="square" lIns="0" tIns="0" rIns="0" bIns="0" rtlCol="0" anchor="ctr"/>
          <a:lstStyle/>
          <a:p>
            <a:pPr marL="0" indent="0">
              <a:buNone/>
            </a:pPr>
            <a:r>
              <a:rPr lang="en-US" sz="1200" b="1" dirty="0">
                <a:solidFill>
                  <a:srgbClr val="1F4E79"/>
                </a:solidFill>
                <a:latin typeface="Calibri" pitchFamily="34" charset="0"/>
                <a:ea typeface="Calibri" pitchFamily="34" charset="-122"/>
                <a:cs typeface="Calibri" pitchFamily="34" charset="-120"/>
              </a:rPr>
              <a:t>Problem</a:t>
            </a:r>
            <a:r>
              <a:rPr lang="en-US" sz="1200" dirty="0">
                <a:solidFill>
                  <a:srgbClr val="D0D5DB"/>
                </a:solidFill>
                <a:latin typeface="Calibri" pitchFamily="34" charset="0"/>
                <a:ea typeface="Calibri" pitchFamily="34" charset="-122"/>
                <a:cs typeface="Calibri" pitchFamily="34" charset="-120"/>
              </a:rPr>
              <a:t>   ·   </a:t>
            </a:r>
            <a:r>
              <a:rPr lang="en-US" sz="1200" dirty="0">
                <a:solidFill>
                  <a:srgbClr val="6B7280"/>
                </a:solidFill>
                <a:latin typeface="Calibri" pitchFamily="34" charset="0"/>
                <a:ea typeface="Calibri" pitchFamily="34" charset="-122"/>
                <a:cs typeface="Calibri" pitchFamily="34" charset="-120"/>
              </a:rPr>
              <a:t>Approach</a:t>
            </a:r>
            <a:r>
              <a:rPr lang="en-US" sz="1200" dirty="0">
                <a:solidFill>
                  <a:srgbClr val="D0D5DB"/>
                </a:solidFill>
                <a:latin typeface="Calibri" pitchFamily="34" charset="0"/>
                <a:ea typeface="Calibri" pitchFamily="34" charset="-122"/>
                <a:cs typeface="Calibri" pitchFamily="34" charset="-120"/>
              </a:rPr>
              <a:t>   ·   </a:t>
            </a:r>
            <a:r>
              <a:rPr lang="en-US" sz="1200" dirty="0">
                <a:solidFill>
                  <a:srgbClr val="6B7280"/>
                </a:solidFill>
                <a:latin typeface="Calibri" pitchFamily="34" charset="0"/>
                <a:ea typeface="Calibri" pitchFamily="34" charset="-122"/>
                <a:cs typeface="Calibri" pitchFamily="34" charset="-120"/>
              </a:rPr>
              <a:t>Evidence</a:t>
            </a:r>
            <a:r>
              <a:rPr lang="en-US" sz="1200" dirty="0">
                <a:solidFill>
                  <a:srgbClr val="D0D5DB"/>
                </a:solidFill>
                <a:latin typeface="Calibri" pitchFamily="34" charset="0"/>
                <a:ea typeface="Calibri" pitchFamily="34" charset="-122"/>
                <a:cs typeface="Calibri" pitchFamily="34" charset="-120"/>
              </a:rPr>
              <a:t>   ·   </a:t>
            </a:r>
            <a:r>
              <a:rPr lang="en-US" sz="1200" dirty="0">
                <a:solidFill>
                  <a:srgbClr val="6B7280"/>
                </a:solidFill>
                <a:latin typeface="Calibri" pitchFamily="34" charset="0"/>
                <a:ea typeface="Calibri" pitchFamily="34" charset="-122"/>
                <a:cs typeface="Calibri" pitchFamily="34" charset="-120"/>
              </a:rPr>
              <a:t>Results</a:t>
            </a:r>
            <a:r>
              <a:rPr lang="en-US" sz="1200" dirty="0">
                <a:solidFill>
                  <a:srgbClr val="D0D5DB"/>
                </a:solidFill>
                <a:latin typeface="Calibri" pitchFamily="34" charset="0"/>
                <a:ea typeface="Calibri" pitchFamily="34" charset="-122"/>
                <a:cs typeface="Calibri" pitchFamily="34" charset="-120"/>
              </a:rPr>
              <a:t>   ·   </a:t>
            </a:r>
            <a:r>
              <a:rPr lang="en-US" sz="1200" dirty="0">
                <a:solidFill>
                  <a:srgbClr val="6B7280"/>
                </a:solidFill>
                <a:latin typeface="Calibri" pitchFamily="34" charset="0"/>
                <a:ea typeface="Calibri" pitchFamily="34" charset="-122"/>
                <a:cs typeface="Calibri" pitchFamily="34" charset="-120"/>
              </a:rPr>
              <a:t>Demo</a:t>
            </a:r>
            <a:r>
              <a:rPr lang="en-US" sz="1200" dirty="0">
                <a:solidFill>
                  <a:srgbClr val="D0D5DB"/>
                </a:solidFill>
                <a:latin typeface="Calibri" pitchFamily="34" charset="0"/>
                <a:ea typeface="Calibri" pitchFamily="34" charset="-122"/>
                <a:cs typeface="Calibri" pitchFamily="34" charset="-120"/>
              </a:rPr>
              <a:t>   ·   </a:t>
            </a:r>
            <a:r>
              <a:rPr lang="en-US" sz="1200" dirty="0">
                <a:solidFill>
                  <a:srgbClr val="6B7280"/>
                </a:solidFill>
                <a:latin typeface="Calibri" pitchFamily="34" charset="0"/>
                <a:ea typeface="Calibri" pitchFamily="34" charset="-122"/>
                <a:cs typeface="Calibri" pitchFamily="34" charset="-120"/>
              </a:rPr>
              <a:t>Impact</a:t>
            </a:r>
            <a:endParaRPr lang="en-US" sz="1200" dirty="0"/>
          </a:p>
        </p:txBody>
      </p:sp>
      <p:sp>
        <p:nvSpPr>
          <p:cNvPr id="3" name="Text 1"/>
          <p:cNvSpPr/>
          <p:nvPr/>
        </p:nvSpPr>
        <p:spPr>
          <a:xfrm>
            <a:off x="7985455" y="274320"/>
            <a:ext cx="3657600" cy="274320"/>
          </a:xfrm>
          <a:prstGeom prst="rect">
            <a:avLst/>
          </a:prstGeom>
          <a:noFill/>
          <a:ln/>
        </p:spPr>
        <p:txBody>
          <a:bodyPr wrap="square" lIns="0" tIns="0" rIns="0" bIns="0" rtlCol="0" anchor="ctr"/>
          <a:lstStyle/>
          <a:p>
            <a:pPr marL="0" indent="0" algn="r">
              <a:buNone/>
            </a:pPr>
            <a:r>
              <a:rPr lang="en-US" sz="1200" dirty="0">
                <a:solidFill>
                  <a:srgbClr val="6B7280"/>
                </a:solidFill>
                <a:latin typeface="Calibri" pitchFamily="34" charset="0"/>
                <a:ea typeface="Calibri" pitchFamily="34" charset="-122"/>
                <a:cs typeface="Calibri" pitchFamily="34" charset="-120"/>
              </a:rPr>
              <a:t>Problem understanding</a:t>
            </a:r>
            <a:endParaRPr lang="en-US" sz="1200" dirty="0"/>
          </a:p>
        </p:txBody>
      </p:sp>
      <p:sp>
        <p:nvSpPr>
          <p:cNvPr id="4" name="Text 2"/>
          <p:cNvSpPr/>
          <p:nvPr/>
        </p:nvSpPr>
        <p:spPr>
          <a:xfrm>
            <a:off x="548640" y="621792"/>
            <a:ext cx="11094415" cy="914400"/>
          </a:xfrm>
          <a:prstGeom prst="rect">
            <a:avLst/>
          </a:prstGeom>
          <a:noFill/>
          <a:ln/>
        </p:spPr>
        <p:txBody>
          <a:bodyPr wrap="square" lIns="0" tIns="0" rIns="0" bIns="0" rtlCol="0" anchor="t"/>
          <a:lstStyle/>
          <a:p>
            <a:pPr marL="0" indent="0">
              <a:buNone/>
            </a:pPr>
            <a:r>
              <a:rPr lang="en-US" sz="2600" b="1" dirty="0">
                <a:solidFill>
                  <a:srgbClr val="1F4E79"/>
                </a:solidFill>
                <a:latin typeface="Calibri" pitchFamily="34" charset="0"/>
                <a:ea typeface="Calibri" pitchFamily="34" charset="-122"/>
                <a:cs typeface="Calibri" pitchFamily="34" charset="-120"/>
              </a:rPr>
              <a:t>A 48 V scooter pack plugged in straight after a 40 °C ride is the hardest realistic charging case</a:t>
            </a:r>
            <a:endParaRPr lang="en-US" sz="2600" dirty="0"/>
          </a:p>
        </p:txBody>
      </p:sp>
      <p:sp>
        <p:nvSpPr>
          <p:cNvPr id="5" name="Text 3"/>
          <p:cNvSpPr/>
          <p:nvPr/>
        </p:nvSpPr>
        <p:spPr>
          <a:xfrm>
            <a:off x="548640" y="6355080"/>
            <a:ext cx="10058400" cy="274320"/>
          </a:xfrm>
          <a:prstGeom prst="rect">
            <a:avLst/>
          </a:prstGeom>
          <a:noFill/>
          <a:ln/>
        </p:spPr>
        <p:txBody>
          <a:bodyPr wrap="square" lIns="0" tIns="0" rIns="0" bIns="0" rtlCol="0" anchor="ctr"/>
          <a:lstStyle/>
          <a:p>
            <a:pPr marL="0" indent="0">
              <a:buNone/>
            </a:pPr>
            <a:r>
              <a:rPr lang="en-US" sz="1200" dirty="0">
                <a:solidFill>
                  <a:srgbClr val="6B7280"/>
                </a:solidFill>
                <a:latin typeface="Calibri" pitchFamily="34" charset="0"/>
                <a:ea typeface="Calibri" pitchFamily="34" charset="-122"/>
                <a:cs typeface="Calibri" pitchFamily="34" charset="-120"/>
              </a:rPr>
              <a:t>Requirements: studies/escooter_48v/study.json (all 11 in Appendix A1). Scope: one low-voltage pack.</a:t>
            </a:r>
            <a:endParaRPr lang="en-US" sz="1200" dirty="0"/>
          </a:p>
        </p:txBody>
      </p:sp>
      <p:sp>
        <p:nvSpPr>
          <p:cNvPr id="6" name="Text 4"/>
          <p:cNvSpPr/>
          <p:nvPr/>
        </p:nvSpPr>
        <p:spPr>
          <a:xfrm>
            <a:off x="10911535" y="6355080"/>
            <a:ext cx="731520" cy="274320"/>
          </a:xfrm>
          <a:prstGeom prst="rect">
            <a:avLst/>
          </a:prstGeom>
          <a:noFill/>
          <a:ln/>
        </p:spPr>
        <p:txBody>
          <a:bodyPr wrap="square" lIns="0" tIns="0" rIns="0" bIns="0" rtlCol="0" anchor="ctr"/>
          <a:lstStyle/>
          <a:p>
            <a:pPr marL="0" indent="0" algn="r">
              <a:buNone/>
            </a:pPr>
            <a:r>
              <a:rPr lang="en-US" sz="1200" dirty="0">
                <a:solidFill>
                  <a:srgbClr val="6B7280"/>
                </a:solidFill>
                <a:latin typeface="Calibri" pitchFamily="34" charset="0"/>
                <a:ea typeface="Calibri" pitchFamily="34" charset="-122"/>
                <a:cs typeface="Calibri" pitchFamily="34" charset="-120"/>
              </a:rPr>
              <a:t>2</a:t>
            </a:r>
            <a:endParaRPr lang="en-US" sz="1200" dirty="0"/>
          </a:p>
        </p:txBody>
      </p:sp>
      <p:sp>
        <p:nvSpPr>
          <p:cNvPr id="7" name="Shape 5"/>
          <p:cNvSpPr/>
          <p:nvPr/>
        </p:nvSpPr>
        <p:spPr>
          <a:xfrm>
            <a:off x="548640" y="1783080"/>
            <a:ext cx="3291840" cy="1965960"/>
          </a:xfrm>
          <a:prstGeom prst="rect">
            <a:avLst/>
          </a:prstGeom>
          <a:solidFill>
            <a:srgbClr val="F2F4F7"/>
          </a:solidFill>
          <a:ln w="12700">
            <a:solidFill>
              <a:srgbClr val="F2F4F7"/>
            </a:solidFill>
            <a:prstDash val="solid"/>
          </a:ln>
        </p:spPr>
      </p:sp>
      <p:sp>
        <p:nvSpPr>
          <p:cNvPr id="8" name="Text 6"/>
          <p:cNvSpPr/>
          <p:nvPr/>
        </p:nvSpPr>
        <p:spPr>
          <a:xfrm>
            <a:off x="777240" y="1920240"/>
            <a:ext cx="2834640" cy="1691640"/>
          </a:xfrm>
          <a:prstGeom prst="rect">
            <a:avLst/>
          </a:prstGeom>
          <a:noFill/>
          <a:ln/>
        </p:spPr>
        <p:txBody>
          <a:bodyPr wrap="square" lIns="0" tIns="0" rIns="0" bIns="0" rtlCol="0" anchor="t"/>
          <a:lstStyle/>
          <a:p>
            <a:pPr marL="0" indent="0">
              <a:spcAft>
                <a:spcPts val="600"/>
              </a:spcAft>
              <a:buNone/>
            </a:pPr>
            <a:r>
              <a:rPr lang="en-US" sz="2000" b="1" dirty="0">
                <a:solidFill>
                  <a:srgbClr val="1F4E79"/>
                </a:solidFill>
                <a:latin typeface="Calibri" pitchFamily="34" charset="0"/>
                <a:ea typeface="Calibri" pitchFamily="34" charset="-122"/>
                <a:cs typeface="Calibri" pitchFamily="34" charset="-120"/>
              </a:rPr>
              <a:t>1 · Ride</a:t>
            </a:r>
            <a:endParaRPr lang="en-US" sz="2000" dirty="0"/>
          </a:p>
          <a:p>
            <a:pPr marL="0" indent="0">
              <a:spcAft>
                <a:spcPts val="600"/>
              </a:spcAft>
              <a:buNone/>
            </a:pPr>
            <a:r>
              <a:rPr lang="en-US" sz="1800" dirty="0">
                <a:solidFill>
                  <a:srgbClr val="262626"/>
                </a:solidFill>
                <a:latin typeface="Calibri" pitchFamily="34" charset="0"/>
                <a:ea typeface="Calibri" pitchFamily="34" charset="-122"/>
                <a:cs typeface="Calibri" pitchFamily="34" charset="-120"/>
              </a:rPr>
              <a:t>Urban cycle at 40 °C ambient. Baseline: 13S10P NMC 21700, 2,263 Wh usable.</a:t>
            </a:r>
            <a:endParaRPr lang="en-US" sz="2000" dirty="0"/>
          </a:p>
        </p:txBody>
      </p:sp>
      <p:sp>
        <p:nvSpPr>
          <p:cNvPr id="9" name="Shape 7"/>
          <p:cNvSpPr/>
          <p:nvPr/>
        </p:nvSpPr>
        <p:spPr>
          <a:xfrm>
            <a:off x="3989756" y="2606040"/>
            <a:ext cx="310896" cy="329184"/>
          </a:xfrm>
          <a:prstGeom prst="rightArrow">
            <a:avLst/>
          </a:prstGeom>
          <a:solidFill>
            <a:srgbClr val="A6ADB4"/>
          </a:solidFill>
          <a:ln w="12700">
            <a:solidFill>
              <a:srgbClr val="A6ADB4"/>
            </a:solidFill>
            <a:prstDash val="solid"/>
          </a:ln>
        </p:spPr>
      </p:sp>
      <p:sp>
        <p:nvSpPr>
          <p:cNvPr id="10" name="Shape 8"/>
          <p:cNvSpPr/>
          <p:nvPr/>
        </p:nvSpPr>
        <p:spPr>
          <a:xfrm>
            <a:off x="548640" y="4343400"/>
            <a:ext cx="3291840" cy="1508760"/>
          </a:xfrm>
          <a:prstGeom prst="rect">
            <a:avLst/>
          </a:prstGeom>
          <a:solidFill>
            <a:srgbClr val="F2F4F7"/>
          </a:solidFill>
          <a:ln w="12700">
            <a:solidFill>
              <a:srgbClr val="F2F4F7"/>
            </a:solidFill>
            <a:prstDash val="solid"/>
          </a:ln>
        </p:spPr>
      </p:sp>
      <p:sp>
        <p:nvSpPr>
          <p:cNvPr id="11" name="Text 9"/>
          <p:cNvSpPr/>
          <p:nvPr/>
        </p:nvSpPr>
        <p:spPr>
          <a:xfrm>
            <a:off x="777240" y="4434840"/>
            <a:ext cx="2834640" cy="1325880"/>
          </a:xfrm>
          <a:prstGeom prst="rect">
            <a:avLst/>
          </a:prstGeom>
          <a:noFill/>
          <a:ln/>
        </p:spPr>
        <p:txBody>
          <a:bodyPr wrap="square" lIns="0" tIns="0" rIns="0" bIns="0" rtlCol="0" anchor="ctr"/>
          <a:lstStyle/>
          <a:p>
            <a:pPr marL="0" indent="0">
              <a:buNone/>
            </a:pPr>
            <a:r>
              <a:rPr lang="en-US" sz="1800" dirty="0">
                <a:solidFill>
                  <a:srgbClr val="262626"/>
                </a:solidFill>
                <a:latin typeface="Calibri" pitchFamily="34" charset="0"/>
                <a:ea typeface="Calibri" pitchFamily="34" charset="-122"/>
                <a:cs typeface="Calibri" pitchFamily="34" charset="-120"/>
              </a:rPr>
              <a:t>Cells ≤ 55 °C while riding (REQ‑04)</a:t>
            </a:r>
            <a:endParaRPr lang="en-US" sz="1800" dirty="0"/>
          </a:p>
        </p:txBody>
      </p:sp>
      <p:sp>
        <p:nvSpPr>
          <p:cNvPr id="12" name="Shape 10"/>
          <p:cNvSpPr/>
          <p:nvPr/>
        </p:nvSpPr>
        <p:spPr>
          <a:xfrm>
            <a:off x="4449928" y="1783080"/>
            <a:ext cx="3291840" cy="1965960"/>
          </a:xfrm>
          <a:prstGeom prst="rect">
            <a:avLst/>
          </a:prstGeom>
          <a:solidFill>
            <a:srgbClr val="F2F4F7"/>
          </a:solidFill>
          <a:ln w="12700">
            <a:solidFill>
              <a:srgbClr val="F2F4F7"/>
            </a:solidFill>
            <a:prstDash val="solid"/>
          </a:ln>
        </p:spPr>
      </p:sp>
      <p:sp>
        <p:nvSpPr>
          <p:cNvPr id="13" name="Text 11"/>
          <p:cNvSpPr/>
          <p:nvPr/>
        </p:nvSpPr>
        <p:spPr>
          <a:xfrm>
            <a:off x="4678528" y="1920240"/>
            <a:ext cx="2834640" cy="1691640"/>
          </a:xfrm>
          <a:prstGeom prst="rect">
            <a:avLst/>
          </a:prstGeom>
          <a:noFill/>
          <a:ln/>
        </p:spPr>
        <p:txBody>
          <a:bodyPr wrap="square" lIns="0" tIns="0" rIns="0" bIns="0" rtlCol="0" anchor="t"/>
          <a:lstStyle/>
          <a:p>
            <a:pPr marL="0" indent="0">
              <a:spcAft>
                <a:spcPts val="600"/>
              </a:spcAft>
              <a:buNone/>
            </a:pPr>
            <a:r>
              <a:rPr lang="en-US" sz="2000" b="1" dirty="0">
                <a:solidFill>
                  <a:srgbClr val="1F4E79"/>
                </a:solidFill>
                <a:latin typeface="Calibri" pitchFamily="34" charset="0"/>
                <a:ea typeface="Calibri" pitchFamily="34" charset="-122"/>
                <a:cs typeface="Calibri" pitchFamily="34" charset="-120"/>
              </a:rPr>
              <a:t>2 · Plug in</a:t>
            </a:r>
            <a:endParaRPr lang="en-US" sz="2000" dirty="0"/>
          </a:p>
          <a:p>
            <a:pPr marL="0" indent="0">
              <a:spcAft>
                <a:spcPts val="600"/>
              </a:spcAft>
              <a:buNone/>
            </a:pPr>
            <a:r>
              <a:rPr lang="en-US" sz="1800" dirty="0">
                <a:solidFill>
                  <a:srgbClr val="262626"/>
                </a:solidFill>
                <a:latin typeface="Calibri" pitchFamily="34" charset="0"/>
                <a:ea typeface="Calibri" pitchFamily="34" charset="-122"/>
                <a:cs typeface="Calibri" pitchFamily="34" charset="-120"/>
              </a:rPr>
              <a:t>Charging starts from the end-of-ride state, with the pack still hot.</a:t>
            </a:r>
            <a:endParaRPr lang="en-US" sz="2000" dirty="0"/>
          </a:p>
        </p:txBody>
      </p:sp>
      <p:sp>
        <p:nvSpPr>
          <p:cNvPr id="14" name="Shape 12"/>
          <p:cNvSpPr/>
          <p:nvPr/>
        </p:nvSpPr>
        <p:spPr>
          <a:xfrm>
            <a:off x="7891043" y="2606040"/>
            <a:ext cx="310896" cy="329184"/>
          </a:xfrm>
          <a:prstGeom prst="rightArrow">
            <a:avLst/>
          </a:prstGeom>
          <a:solidFill>
            <a:srgbClr val="A6ADB4"/>
          </a:solidFill>
          <a:ln w="12700">
            <a:solidFill>
              <a:srgbClr val="A6ADB4"/>
            </a:solidFill>
            <a:prstDash val="solid"/>
          </a:ln>
        </p:spPr>
      </p:sp>
      <p:sp>
        <p:nvSpPr>
          <p:cNvPr id="15" name="Shape 13"/>
          <p:cNvSpPr/>
          <p:nvPr/>
        </p:nvSpPr>
        <p:spPr>
          <a:xfrm>
            <a:off x="4449928" y="4343400"/>
            <a:ext cx="3291840" cy="1508760"/>
          </a:xfrm>
          <a:prstGeom prst="rect">
            <a:avLst/>
          </a:prstGeom>
          <a:solidFill>
            <a:srgbClr val="FBE3D6"/>
          </a:solidFill>
          <a:ln w="12700">
            <a:solidFill>
              <a:srgbClr val="FBE3D6"/>
            </a:solidFill>
            <a:prstDash val="solid"/>
          </a:ln>
        </p:spPr>
      </p:sp>
      <p:sp>
        <p:nvSpPr>
          <p:cNvPr id="16" name="Text 14"/>
          <p:cNvSpPr/>
          <p:nvPr/>
        </p:nvSpPr>
        <p:spPr>
          <a:xfrm>
            <a:off x="4678528" y="4434840"/>
            <a:ext cx="2834640" cy="1325880"/>
          </a:xfrm>
          <a:prstGeom prst="rect">
            <a:avLst/>
          </a:prstGeom>
          <a:noFill/>
          <a:ln/>
        </p:spPr>
        <p:txBody>
          <a:bodyPr wrap="square" lIns="0" tIns="0" rIns="0" bIns="0" rtlCol="0" anchor="ctr"/>
          <a:lstStyle/>
          <a:p>
            <a:pPr marL="0" indent="0">
              <a:buNone/>
            </a:pPr>
            <a:r>
              <a:rPr lang="en-US" sz="1800" b="1" dirty="0">
                <a:solidFill>
                  <a:srgbClr val="C2410C"/>
                </a:solidFill>
                <a:latin typeface="Calibri" pitchFamily="34" charset="0"/>
                <a:ea typeface="Calibri" pitchFamily="34" charset="-122"/>
                <a:cs typeface="Calibri" pitchFamily="34" charset="-120"/>
              </a:rPr>
              <a:t>Blind spot ≤ 3 K: hottest cell minus what the BMS sees (REQ‑07)</a:t>
            </a:r>
            <a:endParaRPr lang="en-US" sz="1800" dirty="0"/>
          </a:p>
        </p:txBody>
      </p:sp>
      <p:sp>
        <p:nvSpPr>
          <p:cNvPr id="17" name="Shape 15"/>
          <p:cNvSpPr/>
          <p:nvPr/>
        </p:nvSpPr>
        <p:spPr>
          <a:xfrm>
            <a:off x="8351215" y="1783080"/>
            <a:ext cx="3291840" cy="1965960"/>
          </a:xfrm>
          <a:prstGeom prst="rect">
            <a:avLst/>
          </a:prstGeom>
          <a:solidFill>
            <a:srgbClr val="F2F4F7"/>
          </a:solidFill>
          <a:ln w="12700">
            <a:solidFill>
              <a:srgbClr val="F2F4F7"/>
            </a:solidFill>
            <a:prstDash val="solid"/>
          </a:ln>
        </p:spPr>
      </p:sp>
      <p:sp>
        <p:nvSpPr>
          <p:cNvPr id="18" name="Text 16"/>
          <p:cNvSpPr/>
          <p:nvPr/>
        </p:nvSpPr>
        <p:spPr>
          <a:xfrm>
            <a:off x="8579815" y="1920240"/>
            <a:ext cx="2834640" cy="1691640"/>
          </a:xfrm>
          <a:prstGeom prst="rect">
            <a:avLst/>
          </a:prstGeom>
          <a:noFill/>
          <a:ln/>
        </p:spPr>
        <p:txBody>
          <a:bodyPr wrap="square" lIns="0" tIns="0" rIns="0" bIns="0" rtlCol="0" anchor="t"/>
          <a:lstStyle/>
          <a:p>
            <a:pPr marL="0" indent="0">
              <a:spcAft>
                <a:spcPts val="600"/>
              </a:spcAft>
              <a:buNone/>
            </a:pPr>
            <a:r>
              <a:rPr lang="en-US" sz="2000" b="1" dirty="0">
                <a:solidFill>
                  <a:srgbClr val="1F4E79"/>
                </a:solidFill>
                <a:latin typeface="Calibri" pitchFamily="34" charset="0"/>
                <a:ea typeface="Calibri" pitchFamily="34" charset="-122"/>
                <a:cs typeface="Calibri" pitchFamily="34" charset="-120"/>
              </a:rPr>
              <a:t>3 · Charge to 80 %</a:t>
            </a:r>
            <a:endParaRPr lang="en-US" sz="2000" dirty="0"/>
          </a:p>
          <a:p>
            <a:pPr marL="0" indent="0">
              <a:spcAft>
                <a:spcPts val="600"/>
              </a:spcAft>
              <a:buNone/>
            </a:pPr>
            <a:r>
              <a:rPr lang="en-US" sz="1800" dirty="0">
                <a:solidFill>
                  <a:srgbClr val="262626"/>
                </a:solidFill>
                <a:latin typeface="Calibri" pitchFamily="34" charset="0"/>
                <a:ea typeface="Calibri" pitchFamily="34" charset="-122"/>
                <a:cs typeface="Calibri" pitchFamily="34" charset="-120"/>
              </a:rPr>
              <a:t>CC-CV. The BMS derates on what its two sensors read.</a:t>
            </a:r>
            <a:endParaRPr lang="en-US" sz="2000" dirty="0"/>
          </a:p>
        </p:txBody>
      </p:sp>
      <p:sp>
        <p:nvSpPr>
          <p:cNvPr id="19" name="Shape 17"/>
          <p:cNvSpPr/>
          <p:nvPr/>
        </p:nvSpPr>
        <p:spPr>
          <a:xfrm>
            <a:off x="8351215" y="4343400"/>
            <a:ext cx="3291840" cy="1508760"/>
          </a:xfrm>
          <a:prstGeom prst="rect">
            <a:avLst/>
          </a:prstGeom>
          <a:solidFill>
            <a:srgbClr val="FBE3D6"/>
          </a:solidFill>
          <a:ln w="12700">
            <a:solidFill>
              <a:srgbClr val="FBE3D6"/>
            </a:solidFill>
            <a:prstDash val="solid"/>
          </a:ln>
        </p:spPr>
      </p:sp>
      <p:sp>
        <p:nvSpPr>
          <p:cNvPr id="20" name="Text 18"/>
          <p:cNvSpPr/>
          <p:nvPr/>
        </p:nvSpPr>
        <p:spPr>
          <a:xfrm>
            <a:off x="8579815" y="4434840"/>
            <a:ext cx="2834640" cy="1325880"/>
          </a:xfrm>
          <a:prstGeom prst="rect">
            <a:avLst/>
          </a:prstGeom>
          <a:noFill/>
          <a:ln/>
        </p:spPr>
        <p:txBody>
          <a:bodyPr wrap="square" lIns="0" tIns="0" rIns="0" bIns="0" rtlCol="0" anchor="ctr"/>
          <a:lstStyle/>
          <a:p>
            <a:pPr marL="0" indent="0">
              <a:buNone/>
            </a:pPr>
            <a:r>
              <a:rPr lang="en-US" sz="1800" b="1" dirty="0">
                <a:solidFill>
                  <a:srgbClr val="C2410C"/>
                </a:solidFill>
                <a:latin typeface="Calibri" pitchFamily="34" charset="0"/>
                <a:ea typeface="Calibri" pitchFamily="34" charset="-122"/>
                <a:cs typeface="Calibri" pitchFamily="34" charset="-120"/>
              </a:rPr>
              <a:t>Cells ≤ 45 °C while charging (REQ‑03, must) · plug-in → 80 % ≤ 120 min (REQ‑05)</a:t>
            </a:r>
            <a:endParaRPr lang="en-US" sz="1800" dirty="0"/>
          </a:p>
        </p:txBody>
      </p:sp>
      <p:sp>
        <p:nvSpPr>
          <p:cNvPr id="21" name="Text 19"/>
          <p:cNvSpPr/>
          <p:nvPr/>
        </p:nvSpPr>
        <p:spPr>
          <a:xfrm>
            <a:off x="548640" y="3931920"/>
            <a:ext cx="11094415" cy="365760"/>
          </a:xfrm>
          <a:prstGeom prst="rect">
            <a:avLst/>
          </a:prstGeom>
          <a:noFill/>
          <a:ln/>
        </p:spPr>
        <p:txBody>
          <a:bodyPr wrap="square" lIns="0" tIns="0" rIns="0" bIns="0" rtlCol="0" anchor="t"/>
          <a:lstStyle/>
          <a:p>
            <a:pPr marL="0" indent="0">
              <a:buNone/>
            </a:pPr>
            <a:r>
              <a:rPr lang="en-US" sz="1600" dirty="0">
                <a:solidFill>
                  <a:srgbClr val="6B7280"/>
                </a:solidFill>
                <a:latin typeface="Calibri" pitchFamily="34" charset="0"/>
                <a:ea typeface="Calibri" pitchFamily="34" charset="-122"/>
                <a:cs typeface="Calibri" pitchFamily="34" charset="-120"/>
              </a:rPr>
              <a:t>Limit at each stage. Orange: where the baseline gets into trouble.</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7772400" cy="274320"/>
          </a:xfrm>
          <a:prstGeom prst="rect">
            <a:avLst/>
          </a:prstGeom>
          <a:noFill/>
          <a:ln/>
        </p:spPr>
        <p:txBody>
          <a:bodyPr wrap="square" lIns="0" tIns="0" rIns="0" bIns="0" rtlCol="0" anchor="ctr"/>
          <a:lstStyle/>
          <a:p>
            <a:pPr marL="0" indent="0">
              <a:buNone/>
            </a:pPr>
            <a:r>
              <a:rPr lang="en-US" sz="1200" b="1" dirty="0">
                <a:solidFill>
                  <a:srgbClr val="1F4E79"/>
                </a:solidFill>
                <a:latin typeface="Calibri" pitchFamily="34" charset="0"/>
                <a:ea typeface="Calibri" pitchFamily="34" charset="-122"/>
                <a:cs typeface="Calibri" pitchFamily="34" charset="-120"/>
              </a:rPr>
              <a:t>Problem</a:t>
            </a:r>
            <a:r>
              <a:rPr lang="en-US" sz="1200" dirty="0">
                <a:solidFill>
                  <a:srgbClr val="D0D5DB"/>
                </a:solidFill>
                <a:latin typeface="Calibri" pitchFamily="34" charset="0"/>
                <a:ea typeface="Calibri" pitchFamily="34" charset="-122"/>
                <a:cs typeface="Calibri" pitchFamily="34" charset="-120"/>
              </a:rPr>
              <a:t>   ·   </a:t>
            </a:r>
            <a:r>
              <a:rPr lang="en-US" sz="1200" dirty="0">
                <a:solidFill>
                  <a:srgbClr val="6B7280"/>
                </a:solidFill>
                <a:latin typeface="Calibri" pitchFamily="34" charset="0"/>
                <a:ea typeface="Calibri" pitchFamily="34" charset="-122"/>
                <a:cs typeface="Calibri" pitchFamily="34" charset="-120"/>
              </a:rPr>
              <a:t>Approach</a:t>
            </a:r>
            <a:r>
              <a:rPr lang="en-US" sz="1200" dirty="0">
                <a:solidFill>
                  <a:srgbClr val="D0D5DB"/>
                </a:solidFill>
                <a:latin typeface="Calibri" pitchFamily="34" charset="0"/>
                <a:ea typeface="Calibri" pitchFamily="34" charset="-122"/>
                <a:cs typeface="Calibri" pitchFamily="34" charset="-120"/>
              </a:rPr>
              <a:t>   ·   </a:t>
            </a:r>
            <a:r>
              <a:rPr lang="en-US" sz="1200" dirty="0">
                <a:solidFill>
                  <a:srgbClr val="6B7280"/>
                </a:solidFill>
                <a:latin typeface="Calibri" pitchFamily="34" charset="0"/>
                <a:ea typeface="Calibri" pitchFamily="34" charset="-122"/>
                <a:cs typeface="Calibri" pitchFamily="34" charset="-120"/>
              </a:rPr>
              <a:t>Evidence</a:t>
            </a:r>
            <a:r>
              <a:rPr lang="en-US" sz="1200" dirty="0">
                <a:solidFill>
                  <a:srgbClr val="D0D5DB"/>
                </a:solidFill>
                <a:latin typeface="Calibri" pitchFamily="34" charset="0"/>
                <a:ea typeface="Calibri" pitchFamily="34" charset="-122"/>
                <a:cs typeface="Calibri" pitchFamily="34" charset="-120"/>
              </a:rPr>
              <a:t>   ·   </a:t>
            </a:r>
            <a:r>
              <a:rPr lang="en-US" sz="1200" dirty="0">
                <a:solidFill>
                  <a:srgbClr val="6B7280"/>
                </a:solidFill>
                <a:latin typeface="Calibri" pitchFamily="34" charset="0"/>
                <a:ea typeface="Calibri" pitchFamily="34" charset="-122"/>
                <a:cs typeface="Calibri" pitchFamily="34" charset="-120"/>
              </a:rPr>
              <a:t>Results</a:t>
            </a:r>
            <a:r>
              <a:rPr lang="en-US" sz="1200" dirty="0">
                <a:solidFill>
                  <a:srgbClr val="D0D5DB"/>
                </a:solidFill>
                <a:latin typeface="Calibri" pitchFamily="34" charset="0"/>
                <a:ea typeface="Calibri" pitchFamily="34" charset="-122"/>
                <a:cs typeface="Calibri" pitchFamily="34" charset="-120"/>
              </a:rPr>
              <a:t>   ·   </a:t>
            </a:r>
            <a:r>
              <a:rPr lang="en-US" sz="1200" dirty="0">
                <a:solidFill>
                  <a:srgbClr val="6B7280"/>
                </a:solidFill>
                <a:latin typeface="Calibri" pitchFamily="34" charset="0"/>
                <a:ea typeface="Calibri" pitchFamily="34" charset="-122"/>
                <a:cs typeface="Calibri" pitchFamily="34" charset="-120"/>
              </a:rPr>
              <a:t>Demo</a:t>
            </a:r>
            <a:r>
              <a:rPr lang="en-US" sz="1200" dirty="0">
                <a:solidFill>
                  <a:srgbClr val="D0D5DB"/>
                </a:solidFill>
                <a:latin typeface="Calibri" pitchFamily="34" charset="0"/>
                <a:ea typeface="Calibri" pitchFamily="34" charset="-122"/>
                <a:cs typeface="Calibri" pitchFamily="34" charset="-120"/>
              </a:rPr>
              <a:t>   ·   </a:t>
            </a:r>
            <a:r>
              <a:rPr lang="en-US" sz="1200" dirty="0">
                <a:solidFill>
                  <a:srgbClr val="6B7280"/>
                </a:solidFill>
                <a:latin typeface="Calibri" pitchFamily="34" charset="0"/>
                <a:ea typeface="Calibri" pitchFamily="34" charset="-122"/>
                <a:cs typeface="Calibri" pitchFamily="34" charset="-120"/>
              </a:rPr>
              <a:t>Impact</a:t>
            </a:r>
            <a:endParaRPr lang="en-US" sz="1200" dirty="0"/>
          </a:p>
        </p:txBody>
      </p:sp>
      <p:sp>
        <p:nvSpPr>
          <p:cNvPr id="3" name="Text 1"/>
          <p:cNvSpPr/>
          <p:nvPr/>
        </p:nvSpPr>
        <p:spPr>
          <a:xfrm>
            <a:off x="7985455" y="274320"/>
            <a:ext cx="3657600" cy="274320"/>
          </a:xfrm>
          <a:prstGeom prst="rect">
            <a:avLst/>
          </a:prstGeom>
          <a:noFill/>
          <a:ln/>
        </p:spPr>
        <p:txBody>
          <a:bodyPr wrap="square" lIns="0" tIns="0" rIns="0" bIns="0" rtlCol="0" anchor="ctr"/>
          <a:lstStyle/>
          <a:p>
            <a:pPr marL="0" indent="0" algn="r">
              <a:buNone/>
            </a:pPr>
            <a:r>
              <a:rPr lang="en-US" sz="1200" dirty="0">
                <a:solidFill>
                  <a:srgbClr val="6B7280"/>
                </a:solidFill>
                <a:latin typeface="Calibri" pitchFamily="34" charset="0"/>
                <a:ea typeface="Calibri" pitchFamily="34" charset="-122"/>
                <a:cs typeface="Calibri" pitchFamily="34" charset="-120"/>
              </a:rPr>
              <a:t>Problem understanding · Desirability</a:t>
            </a:r>
            <a:endParaRPr lang="en-US" sz="1200" dirty="0"/>
          </a:p>
        </p:txBody>
      </p:sp>
      <p:sp>
        <p:nvSpPr>
          <p:cNvPr id="4" name="Text 2"/>
          <p:cNvSpPr/>
          <p:nvPr/>
        </p:nvSpPr>
        <p:spPr>
          <a:xfrm>
            <a:off x="548640" y="621792"/>
            <a:ext cx="11094415" cy="914400"/>
          </a:xfrm>
          <a:prstGeom prst="rect">
            <a:avLst/>
          </a:prstGeom>
          <a:noFill/>
          <a:ln/>
        </p:spPr>
        <p:txBody>
          <a:bodyPr wrap="square" lIns="0" tIns="0" rIns="0" bIns="0" rtlCol="0" anchor="t"/>
          <a:lstStyle/>
          <a:p>
            <a:pPr marL="0" indent="0">
              <a:buNone/>
            </a:pPr>
            <a:r>
              <a:rPr lang="en-US" sz="2600" b="1" dirty="0">
                <a:solidFill>
                  <a:srgbClr val="1F4E79"/>
                </a:solidFill>
                <a:latin typeface="Calibri" pitchFamily="34" charset="0"/>
                <a:ea typeface="Calibri" pitchFamily="34" charset="-122"/>
                <a:cs typeface="Calibri" pitchFamily="34" charset="-120"/>
              </a:rPr>
              <a:t>Our question: which pack design charges at ≤ 45 °C and reaches 80 % within 120 min after a hot ride, and how sure can we be before building it?</a:t>
            </a:r>
            <a:endParaRPr lang="en-US" sz="2600" dirty="0"/>
          </a:p>
        </p:txBody>
      </p:sp>
      <p:sp>
        <p:nvSpPr>
          <p:cNvPr id="5" name="Text 3"/>
          <p:cNvSpPr/>
          <p:nvPr/>
        </p:nvSpPr>
        <p:spPr>
          <a:xfrm>
            <a:off x="10911535" y="6355080"/>
            <a:ext cx="731520" cy="274320"/>
          </a:xfrm>
          <a:prstGeom prst="rect">
            <a:avLst/>
          </a:prstGeom>
          <a:noFill/>
          <a:ln/>
        </p:spPr>
        <p:txBody>
          <a:bodyPr wrap="square" lIns="0" tIns="0" rIns="0" bIns="0" rtlCol="0" anchor="ctr"/>
          <a:lstStyle/>
          <a:p>
            <a:pPr marL="0" indent="0" algn="r">
              <a:buNone/>
            </a:pPr>
            <a:r>
              <a:rPr lang="en-US" sz="1200" dirty="0">
                <a:solidFill>
                  <a:srgbClr val="6B7280"/>
                </a:solidFill>
                <a:latin typeface="Calibri" pitchFamily="34" charset="0"/>
                <a:ea typeface="Calibri" pitchFamily="34" charset="-122"/>
                <a:cs typeface="Calibri" pitchFamily="34" charset="-120"/>
              </a:rPr>
              <a:t>3</a:t>
            </a:r>
            <a:endParaRPr lang="en-US" sz="1200" dirty="0"/>
          </a:p>
        </p:txBody>
      </p:sp>
      <p:sp>
        <p:nvSpPr>
          <p:cNvPr id="6" name="Shape 4"/>
          <p:cNvSpPr/>
          <p:nvPr/>
        </p:nvSpPr>
        <p:spPr>
          <a:xfrm>
            <a:off x="548640" y="2103120"/>
            <a:ext cx="5358384" cy="3566160"/>
          </a:xfrm>
          <a:prstGeom prst="rect">
            <a:avLst/>
          </a:prstGeom>
          <a:solidFill>
            <a:srgbClr val="F2F4F7"/>
          </a:solidFill>
          <a:ln w="12700">
            <a:solidFill>
              <a:srgbClr val="F2F4F7"/>
            </a:solidFill>
            <a:prstDash val="solid"/>
          </a:ln>
        </p:spPr>
      </p:sp>
      <p:sp>
        <p:nvSpPr>
          <p:cNvPr id="7" name="Text 5"/>
          <p:cNvSpPr/>
          <p:nvPr/>
        </p:nvSpPr>
        <p:spPr>
          <a:xfrm>
            <a:off x="868680" y="2331720"/>
            <a:ext cx="4718304" cy="411480"/>
          </a:xfrm>
          <a:prstGeom prst="rect">
            <a:avLst/>
          </a:prstGeom>
          <a:noFill/>
          <a:ln/>
        </p:spPr>
        <p:txBody>
          <a:bodyPr wrap="square" lIns="0" tIns="0" rIns="0" bIns="0" rtlCol="0" anchor="ctr"/>
          <a:lstStyle/>
          <a:p>
            <a:pPr marL="0" indent="0">
              <a:buNone/>
            </a:pPr>
            <a:r>
              <a:rPr lang="en-US" sz="2200" b="1" dirty="0">
                <a:solidFill>
                  <a:srgbClr val="1F4E79"/>
                </a:solidFill>
                <a:latin typeface="Calibri" pitchFamily="34" charset="0"/>
                <a:ea typeface="Calibri" pitchFamily="34" charset="-122"/>
                <a:cs typeface="Calibri" pitchFamily="34" charset="-120"/>
              </a:rPr>
              <a:t>Who needs the answer</a:t>
            </a:r>
            <a:endParaRPr lang="en-US" sz="2200" dirty="0"/>
          </a:p>
        </p:txBody>
      </p:sp>
      <p:sp>
        <p:nvSpPr>
          <p:cNvPr id="8" name="Text 6"/>
          <p:cNvSpPr/>
          <p:nvPr/>
        </p:nvSpPr>
        <p:spPr>
          <a:xfrm>
            <a:off x="868680" y="2971800"/>
            <a:ext cx="4718304" cy="2560320"/>
          </a:xfrm>
          <a:prstGeom prst="rect">
            <a:avLst/>
          </a:prstGeom>
          <a:noFill/>
          <a:ln/>
        </p:spPr>
        <p:txBody>
          <a:bodyPr wrap="square" lIns="0" tIns="0" rIns="0" bIns="0" rtlCol="0" anchor="t"/>
          <a:lstStyle/>
          <a:p>
            <a:pPr marL="342900" indent="-342900">
              <a:spcAft>
                <a:spcPts val="1400"/>
              </a:spcAft>
              <a:buSzPct val="100000"/>
              <a:buChar char="•"/>
            </a:pPr>
            <a:r>
              <a:rPr lang="en-US" sz="2000" dirty="0">
                <a:solidFill>
                  <a:srgbClr val="262626"/>
                </a:solidFill>
                <a:latin typeface="Calibri" pitchFamily="34" charset="0"/>
                <a:ea typeface="Calibri" pitchFamily="34" charset="-122"/>
                <a:cs typeface="Calibri" pitchFamily="34" charset="-120"/>
              </a:rPr>
              <a:t>Students and new engineers: why a design fails</a:t>
            </a:r>
            <a:endParaRPr lang="en-US" sz="2000" dirty="0"/>
          </a:p>
          <a:p>
            <a:pPr marL="342900" indent="-342900">
              <a:spcAft>
                <a:spcPts val="1400"/>
              </a:spcAft>
              <a:buSzPct val="100000"/>
              <a:buChar char="•"/>
            </a:pPr>
            <a:r>
              <a:rPr lang="en-US" sz="2000" dirty="0">
                <a:solidFill>
                  <a:srgbClr val="262626"/>
                </a:solidFill>
                <a:latin typeface="Calibri" pitchFamily="34" charset="0"/>
                <a:ea typeface="Calibri" pitchFamily="34" charset="-122"/>
                <a:cs typeface="Calibri" pitchFamily="34" charset="-120"/>
              </a:rPr>
              <a:t>Pack engineers: which option to prototype</a:t>
            </a:r>
            <a:endParaRPr lang="en-US" sz="2000" dirty="0"/>
          </a:p>
        </p:txBody>
      </p:sp>
      <p:sp>
        <p:nvSpPr>
          <p:cNvPr id="9" name="Shape 7"/>
          <p:cNvSpPr/>
          <p:nvPr/>
        </p:nvSpPr>
        <p:spPr>
          <a:xfrm>
            <a:off x="6281928" y="2103120"/>
            <a:ext cx="5358384" cy="3566160"/>
          </a:xfrm>
          <a:prstGeom prst="rect">
            <a:avLst/>
          </a:prstGeom>
          <a:solidFill>
            <a:srgbClr val="DEEAF6"/>
          </a:solidFill>
          <a:ln w="12700">
            <a:solidFill>
              <a:srgbClr val="DEEAF6"/>
            </a:solidFill>
            <a:prstDash val="solid"/>
          </a:ln>
        </p:spPr>
      </p:sp>
      <p:sp>
        <p:nvSpPr>
          <p:cNvPr id="10" name="Text 8"/>
          <p:cNvSpPr/>
          <p:nvPr/>
        </p:nvSpPr>
        <p:spPr>
          <a:xfrm>
            <a:off x="6601968" y="2331720"/>
            <a:ext cx="4718304" cy="411480"/>
          </a:xfrm>
          <a:prstGeom prst="rect">
            <a:avLst/>
          </a:prstGeom>
          <a:noFill/>
          <a:ln/>
        </p:spPr>
        <p:txBody>
          <a:bodyPr wrap="square" lIns="0" tIns="0" rIns="0" bIns="0" rtlCol="0" anchor="ctr"/>
          <a:lstStyle/>
          <a:p>
            <a:pPr marL="0" indent="0">
              <a:buNone/>
            </a:pPr>
            <a:r>
              <a:rPr lang="en-US" sz="2200" b="1" dirty="0">
                <a:solidFill>
                  <a:srgbClr val="1F4E79"/>
                </a:solidFill>
                <a:latin typeface="Calibri" pitchFamily="34" charset="0"/>
                <a:ea typeface="Calibri" pitchFamily="34" charset="-122"/>
                <a:cs typeface="Calibri" pitchFamily="34" charset="-120"/>
              </a:rPr>
              <a:t>What counts as an answer</a:t>
            </a:r>
            <a:endParaRPr lang="en-US" sz="2200" dirty="0"/>
          </a:p>
        </p:txBody>
      </p:sp>
      <p:sp>
        <p:nvSpPr>
          <p:cNvPr id="11" name="Text 9"/>
          <p:cNvSpPr/>
          <p:nvPr/>
        </p:nvSpPr>
        <p:spPr>
          <a:xfrm>
            <a:off x="6601968" y="2971800"/>
            <a:ext cx="4718304" cy="2560320"/>
          </a:xfrm>
          <a:prstGeom prst="rect">
            <a:avLst/>
          </a:prstGeom>
          <a:noFill/>
          <a:ln/>
        </p:spPr>
        <p:txBody>
          <a:bodyPr wrap="square" lIns="0" tIns="0" rIns="0" bIns="0" rtlCol="0" anchor="t"/>
          <a:lstStyle/>
          <a:p>
            <a:pPr marL="342900" indent="-342900">
              <a:spcAft>
                <a:spcPts val="1400"/>
              </a:spcAft>
              <a:buSzPct val="100000"/>
              <a:buChar char="•"/>
            </a:pPr>
            <a:r>
              <a:rPr lang="en-US" sz="2000" dirty="0">
                <a:solidFill>
                  <a:srgbClr val="262626"/>
                </a:solidFill>
                <a:latin typeface="Calibri" pitchFamily="34" charset="0"/>
                <a:ea typeface="Calibri" pitchFamily="34" charset="-122"/>
                <a:cs typeface="Calibri" pitchFamily="34" charset="-120"/>
              </a:rPr>
              <a:t>A ranked design that meets every must-requirement</a:t>
            </a:r>
            <a:endParaRPr lang="en-US" sz="2000" dirty="0"/>
          </a:p>
          <a:p>
            <a:pPr marL="342900" indent="-342900">
              <a:spcAft>
                <a:spcPts val="1400"/>
              </a:spcAft>
              <a:buSzPct val="100000"/>
              <a:buChar char="•"/>
            </a:pPr>
            <a:r>
              <a:rPr lang="en-US" sz="2000" dirty="0">
                <a:solidFill>
                  <a:srgbClr val="262626"/>
                </a:solidFill>
                <a:latin typeface="Calibri" pitchFamily="34" charset="0"/>
                <a:ea typeface="Calibri" pitchFamily="34" charset="-122"/>
                <a:cs typeface="Calibri" pitchFamily="34" charset="-120"/>
              </a:rPr>
              <a:t>A cause and candidate fixes for every failure</a:t>
            </a:r>
            <a:endParaRPr lang="en-US" sz="2000" dirty="0"/>
          </a:p>
          <a:p>
            <a:pPr marL="342900" indent="-342900">
              <a:spcAft>
                <a:spcPts val="1400"/>
              </a:spcAft>
              <a:buSzPct val="100000"/>
              <a:buChar char="•"/>
            </a:pPr>
            <a:r>
              <a:rPr lang="en-US" sz="2000" dirty="0">
                <a:solidFill>
                  <a:srgbClr val="262626"/>
                </a:solidFill>
                <a:latin typeface="Calibri" pitchFamily="34" charset="0"/>
                <a:ea typeface="Calibri" pitchFamily="34" charset="-122"/>
                <a:cs typeface="Calibri" pitchFamily="34" charset="-120"/>
              </a:rPr>
              <a:t>An evidence level on every number</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7772400" cy="274320"/>
          </a:xfrm>
          <a:prstGeom prst="rect">
            <a:avLst/>
          </a:prstGeom>
          <a:noFill/>
          <a:ln/>
        </p:spPr>
        <p:txBody>
          <a:bodyPr wrap="square" lIns="0" tIns="0" rIns="0" bIns="0" rtlCol="0" anchor="ctr"/>
          <a:lstStyle/>
          <a:p>
            <a:pPr marL="0" indent="0">
              <a:buNone/>
            </a:pPr>
            <a:r>
              <a:rPr lang="en-US" sz="1200" b="1" dirty="0">
                <a:solidFill>
                  <a:srgbClr val="1F4E79"/>
                </a:solidFill>
                <a:latin typeface="Calibri" pitchFamily="34" charset="0"/>
                <a:ea typeface="Calibri" pitchFamily="34" charset="-122"/>
                <a:cs typeface="Calibri" pitchFamily="34" charset="-120"/>
              </a:rPr>
              <a:t>Problem</a:t>
            </a:r>
            <a:r>
              <a:rPr lang="en-US" sz="1200" dirty="0">
                <a:solidFill>
                  <a:srgbClr val="D0D5DB"/>
                </a:solidFill>
                <a:latin typeface="Calibri" pitchFamily="34" charset="0"/>
                <a:ea typeface="Calibri" pitchFamily="34" charset="-122"/>
                <a:cs typeface="Calibri" pitchFamily="34" charset="-120"/>
              </a:rPr>
              <a:t>   ·   </a:t>
            </a:r>
            <a:r>
              <a:rPr lang="en-US" sz="1200" dirty="0">
                <a:solidFill>
                  <a:srgbClr val="6B7280"/>
                </a:solidFill>
                <a:latin typeface="Calibri" pitchFamily="34" charset="0"/>
                <a:ea typeface="Calibri" pitchFamily="34" charset="-122"/>
                <a:cs typeface="Calibri" pitchFamily="34" charset="-120"/>
              </a:rPr>
              <a:t>Approach</a:t>
            </a:r>
            <a:r>
              <a:rPr lang="en-US" sz="1200" dirty="0">
                <a:solidFill>
                  <a:srgbClr val="D0D5DB"/>
                </a:solidFill>
                <a:latin typeface="Calibri" pitchFamily="34" charset="0"/>
                <a:ea typeface="Calibri" pitchFamily="34" charset="-122"/>
                <a:cs typeface="Calibri" pitchFamily="34" charset="-120"/>
              </a:rPr>
              <a:t>   ·   </a:t>
            </a:r>
            <a:r>
              <a:rPr lang="en-US" sz="1200" dirty="0">
                <a:solidFill>
                  <a:srgbClr val="6B7280"/>
                </a:solidFill>
                <a:latin typeface="Calibri" pitchFamily="34" charset="0"/>
                <a:ea typeface="Calibri" pitchFamily="34" charset="-122"/>
                <a:cs typeface="Calibri" pitchFamily="34" charset="-120"/>
              </a:rPr>
              <a:t>Evidence</a:t>
            </a:r>
            <a:r>
              <a:rPr lang="en-US" sz="1200" dirty="0">
                <a:solidFill>
                  <a:srgbClr val="D0D5DB"/>
                </a:solidFill>
                <a:latin typeface="Calibri" pitchFamily="34" charset="0"/>
                <a:ea typeface="Calibri" pitchFamily="34" charset="-122"/>
                <a:cs typeface="Calibri" pitchFamily="34" charset="-120"/>
              </a:rPr>
              <a:t>   ·   </a:t>
            </a:r>
            <a:r>
              <a:rPr lang="en-US" sz="1200" dirty="0">
                <a:solidFill>
                  <a:srgbClr val="6B7280"/>
                </a:solidFill>
                <a:latin typeface="Calibri" pitchFamily="34" charset="0"/>
                <a:ea typeface="Calibri" pitchFamily="34" charset="-122"/>
                <a:cs typeface="Calibri" pitchFamily="34" charset="-120"/>
              </a:rPr>
              <a:t>Results</a:t>
            </a:r>
            <a:r>
              <a:rPr lang="en-US" sz="1200" dirty="0">
                <a:solidFill>
                  <a:srgbClr val="D0D5DB"/>
                </a:solidFill>
                <a:latin typeface="Calibri" pitchFamily="34" charset="0"/>
                <a:ea typeface="Calibri" pitchFamily="34" charset="-122"/>
                <a:cs typeface="Calibri" pitchFamily="34" charset="-120"/>
              </a:rPr>
              <a:t>   ·   </a:t>
            </a:r>
            <a:r>
              <a:rPr lang="en-US" sz="1200" dirty="0">
                <a:solidFill>
                  <a:srgbClr val="6B7280"/>
                </a:solidFill>
                <a:latin typeface="Calibri" pitchFamily="34" charset="0"/>
                <a:ea typeface="Calibri" pitchFamily="34" charset="-122"/>
                <a:cs typeface="Calibri" pitchFamily="34" charset="-120"/>
              </a:rPr>
              <a:t>Demo</a:t>
            </a:r>
            <a:r>
              <a:rPr lang="en-US" sz="1200" dirty="0">
                <a:solidFill>
                  <a:srgbClr val="D0D5DB"/>
                </a:solidFill>
                <a:latin typeface="Calibri" pitchFamily="34" charset="0"/>
                <a:ea typeface="Calibri" pitchFamily="34" charset="-122"/>
                <a:cs typeface="Calibri" pitchFamily="34" charset="-120"/>
              </a:rPr>
              <a:t>   ·   </a:t>
            </a:r>
            <a:r>
              <a:rPr lang="en-US" sz="1200" dirty="0">
                <a:solidFill>
                  <a:srgbClr val="6B7280"/>
                </a:solidFill>
                <a:latin typeface="Calibri" pitchFamily="34" charset="0"/>
                <a:ea typeface="Calibri" pitchFamily="34" charset="-122"/>
                <a:cs typeface="Calibri" pitchFamily="34" charset="-120"/>
              </a:rPr>
              <a:t>Impact</a:t>
            </a:r>
            <a:endParaRPr lang="en-US" sz="1200" dirty="0"/>
          </a:p>
        </p:txBody>
      </p:sp>
      <p:sp>
        <p:nvSpPr>
          <p:cNvPr id="3" name="Text 1"/>
          <p:cNvSpPr/>
          <p:nvPr/>
        </p:nvSpPr>
        <p:spPr>
          <a:xfrm>
            <a:off x="7985455" y="274320"/>
            <a:ext cx="3657600" cy="274320"/>
          </a:xfrm>
          <a:prstGeom prst="rect">
            <a:avLst/>
          </a:prstGeom>
          <a:noFill/>
          <a:ln/>
        </p:spPr>
        <p:txBody>
          <a:bodyPr wrap="square" lIns="0" tIns="0" rIns="0" bIns="0" rtlCol="0" anchor="ctr"/>
          <a:lstStyle/>
          <a:p>
            <a:pPr marL="0" indent="0" algn="r">
              <a:buNone/>
            </a:pPr>
            <a:r>
              <a:rPr lang="en-US" sz="1200" dirty="0">
                <a:solidFill>
                  <a:srgbClr val="6B7280"/>
                </a:solidFill>
                <a:latin typeface="Calibri" pitchFamily="34" charset="0"/>
                <a:ea typeface="Calibri" pitchFamily="34" charset="-122"/>
                <a:cs typeface="Calibri" pitchFamily="34" charset="-120"/>
              </a:rPr>
              <a:t>Problem understanding</a:t>
            </a:r>
            <a:endParaRPr lang="en-US" sz="1200" dirty="0"/>
          </a:p>
        </p:txBody>
      </p:sp>
      <p:sp>
        <p:nvSpPr>
          <p:cNvPr id="4" name="Text 2"/>
          <p:cNvSpPr/>
          <p:nvPr/>
        </p:nvSpPr>
        <p:spPr>
          <a:xfrm>
            <a:off x="548640" y="621792"/>
            <a:ext cx="11094415" cy="914400"/>
          </a:xfrm>
          <a:prstGeom prst="rect">
            <a:avLst/>
          </a:prstGeom>
          <a:noFill/>
          <a:ln/>
        </p:spPr>
        <p:txBody>
          <a:bodyPr wrap="square" lIns="0" tIns="0" rIns="0" bIns="0" rtlCol="0" anchor="t"/>
          <a:lstStyle/>
          <a:p>
            <a:pPr marL="0" indent="0">
              <a:buNone/>
            </a:pPr>
            <a:r>
              <a:rPr lang="en-US" sz="2600" b="1" dirty="0">
                <a:solidFill>
                  <a:srgbClr val="1F4E79"/>
                </a:solidFill>
                <a:latin typeface="Calibri" pitchFamily="34" charset="0"/>
                <a:ea typeface="Calibri" pitchFamily="34" charset="-122"/>
                <a:cs typeface="Calibri" pitchFamily="34" charset="-120"/>
              </a:rPr>
              <a:t>The baseline BMS reads its hottest cell 3.2 K low, so it charges interior cells at 47.6 °C</a:t>
            </a:r>
            <a:endParaRPr lang="en-US" sz="2600" dirty="0"/>
          </a:p>
        </p:txBody>
      </p:sp>
      <p:sp>
        <p:nvSpPr>
          <p:cNvPr id="5" name="Text 3"/>
          <p:cNvSpPr/>
          <p:nvPr/>
        </p:nvSpPr>
        <p:spPr>
          <a:xfrm>
            <a:off x="548640" y="6355080"/>
            <a:ext cx="10058400" cy="274320"/>
          </a:xfrm>
          <a:prstGeom prst="rect">
            <a:avLst/>
          </a:prstGeom>
          <a:noFill/>
          <a:ln/>
        </p:spPr>
        <p:txBody>
          <a:bodyPr wrap="square" lIns="0" tIns="0" rIns="0" bIns="0" rtlCol="0" anchor="ctr"/>
          <a:lstStyle/>
          <a:p>
            <a:pPr marL="0" indent="0">
              <a:buNone/>
            </a:pPr>
            <a:r>
              <a:rPr lang="en-US" sz="1200" dirty="0">
                <a:solidFill>
                  <a:srgbClr val="6B7280"/>
                </a:solidFill>
                <a:latin typeface="Calibri" pitchFamily="34" charset="0"/>
                <a:ea typeface="Calibri" pitchFamily="34" charset="-122"/>
                <a:cs typeface="Calibri" pitchFamily="34" charset="-120"/>
              </a:rPr>
              <a:t>Source: PackForge CLI, baseline, charge right after the drive at 40 °C ambient (docs/backup/cli_output.txt)</a:t>
            </a:r>
            <a:endParaRPr lang="en-US" sz="1200" dirty="0"/>
          </a:p>
        </p:txBody>
      </p:sp>
      <p:sp>
        <p:nvSpPr>
          <p:cNvPr id="6" name="Text 4"/>
          <p:cNvSpPr/>
          <p:nvPr/>
        </p:nvSpPr>
        <p:spPr>
          <a:xfrm>
            <a:off x="10911535" y="6355080"/>
            <a:ext cx="731520" cy="274320"/>
          </a:xfrm>
          <a:prstGeom prst="rect">
            <a:avLst/>
          </a:prstGeom>
          <a:noFill/>
          <a:ln/>
        </p:spPr>
        <p:txBody>
          <a:bodyPr wrap="square" lIns="0" tIns="0" rIns="0" bIns="0" rtlCol="0" anchor="ctr"/>
          <a:lstStyle/>
          <a:p>
            <a:pPr marL="0" indent="0" algn="r">
              <a:buNone/>
            </a:pPr>
            <a:r>
              <a:rPr lang="en-US" sz="1200" dirty="0">
                <a:solidFill>
                  <a:srgbClr val="6B7280"/>
                </a:solidFill>
                <a:latin typeface="Calibri" pitchFamily="34" charset="0"/>
                <a:ea typeface="Calibri" pitchFamily="34" charset="-122"/>
                <a:cs typeface="Calibri" pitchFamily="34" charset="-120"/>
              </a:rPr>
              <a:t>4</a:t>
            </a:r>
            <a:endParaRPr lang="en-US" sz="1200" dirty="0"/>
          </a:p>
        </p:txBody>
      </p:sp>
      <p:sp>
        <p:nvSpPr>
          <p:cNvPr id="7" name="Shape 5"/>
          <p:cNvSpPr/>
          <p:nvPr/>
        </p:nvSpPr>
        <p:spPr>
          <a:xfrm>
            <a:off x="640080" y="1783080"/>
            <a:ext cx="299923" cy="299923"/>
          </a:xfrm>
          <a:prstGeom prst="ellipse">
            <a:avLst/>
          </a:prstGeom>
          <a:solidFill>
            <a:srgbClr val="BDD7EE"/>
          </a:solidFill>
          <a:ln w="12700">
            <a:solidFill>
              <a:srgbClr val="BDD7EE"/>
            </a:solidFill>
            <a:prstDash val="solid"/>
          </a:ln>
        </p:spPr>
      </p:sp>
      <p:sp>
        <p:nvSpPr>
          <p:cNvPr id="8" name="Shape 6"/>
          <p:cNvSpPr/>
          <p:nvPr/>
        </p:nvSpPr>
        <p:spPr>
          <a:xfrm>
            <a:off x="1005840" y="1783080"/>
            <a:ext cx="299923" cy="299923"/>
          </a:xfrm>
          <a:prstGeom prst="ellipse">
            <a:avLst/>
          </a:prstGeom>
          <a:solidFill>
            <a:srgbClr val="C1D4E5"/>
          </a:solidFill>
          <a:ln w="12700">
            <a:solidFill>
              <a:srgbClr val="C1D4E5"/>
            </a:solidFill>
            <a:prstDash val="solid"/>
          </a:ln>
        </p:spPr>
      </p:sp>
      <p:sp>
        <p:nvSpPr>
          <p:cNvPr id="9" name="Shape 7"/>
          <p:cNvSpPr/>
          <p:nvPr/>
        </p:nvSpPr>
        <p:spPr>
          <a:xfrm>
            <a:off x="1371600" y="1783080"/>
            <a:ext cx="299923" cy="299923"/>
          </a:xfrm>
          <a:prstGeom prst="ellipse">
            <a:avLst/>
          </a:prstGeom>
          <a:solidFill>
            <a:srgbClr val="CBCDD3"/>
          </a:solidFill>
          <a:ln w="12700">
            <a:solidFill>
              <a:srgbClr val="CBCDD3"/>
            </a:solidFill>
            <a:prstDash val="solid"/>
          </a:ln>
        </p:spPr>
      </p:sp>
      <p:sp>
        <p:nvSpPr>
          <p:cNvPr id="10" name="Shape 8"/>
          <p:cNvSpPr/>
          <p:nvPr/>
        </p:nvSpPr>
        <p:spPr>
          <a:xfrm>
            <a:off x="1737360" y="1783080"/>
            <a:ext cx="299923" cy="299923"/>
          </a:xfrm>
          <a:prstGeom prst="ellipse">
            <a:avLst/>
          </a:prstGeom>
          <a:solidFill>
            <a:srgbClr val="D3C8C3"/>
          </a:solidFill>
          <a:ln w="12700">
            <a:solidFill>
              <a:srgbClr val="D3C8C3"/>
            </a:solidFill>
            <a:prstDash val="solid"/>
          </a:ln>
        </p:spPr>
      </p:sp>
      <p:sp>
        <p:nvSpPr>
          <p:cNvPr id="11" name="Shape 9"/>
          <p:cNvSpPr/>
          <p:nvPr/>
        </p:nvSpPr>
        <p:spPr>
          <a:xfrm>
            <a:off x="2103120" y="1783080"/>
            <a:ext cx="299923" cy="299923"/>
          </a:xfrm>
          <a:prstGeom prst="ellipse">
            <a:avLst/>
          </a:prstGeom>
          <a:solidFill>
            <a:srgbClr val="DAC3B6"/>
          </a:solidFill>
          <a:ln w="12700">
            <a:solidFill>
              <a:srgbClr val="DAC3B6"/>
            </a:solidFill>
            <a:prstDash val="solid"/>
          </a:ln>
        </p:spPr>
      </p:sp>
      <p:sp>
        <p:nvSpPr>
          <p:cNvPr id="12" name="Shape 10"/>
          <p:cNvSpPr/>
          <p:nvPr/>
        </p:nvSpPr>
        <p:spPr>
          <a:xfrm>
            <a:off x="2468880" y="1783080"/>
            <a:ext cx="299923" cy="299923"/>
          </a:xfrm>
          <a:prstGeom prst="ellipse">
            <a:avLst/>
          </a:prstGeom>
          <a:solidFill>
            <a:srgbClr val="DEC0AE"/>
          </a:solidFill>
          <a:ln w="12700">
            <a:solidFill>
              <a:srgbClr val="DEC0AE"/>
            </a:solidFill>
            <a:prstDash val="solid"/>
          </a:ln>
        </p:spPr>
      </p:sp>
      <p:sp>
        <p:nvSpPr>
          <p:cNvPr id="13" name="Shape 11"/>
          <p:cNvSpPr/>
          <p:nvPr/>
        </p:nvSpPr>
        <p:spPr>
          <a:xfrm>
            <a:off x="2834640" y="1783080"/>
            <a:ext cx="299923" cy="299923"/>
          </a:xfrm>
          <a:prstGeom prst="ellipse">
            <a:avLst/>
          </a:prstGeom>
          <a:solidFill>
            <a:srgbClr val="DFBFAC"/>
          </a:solidFill>
          <a:ln w="12700">
            <a:solidFill>
              <a:srgbClr val="DFBFAC"/>
            </a:solidFill>
            <a:prstDash val="solid"/>
          </a:ln>
        </p:spPr>
      </p:sp>
      <p:sp>
        <p:nvSpPr>
          <p:cNvPr id="14" name="Shape 12"/>
          <p:cNvSpPr/>
          <p:nvPr/>
        </p:nvSpPr>
        <p:spPr>
          <a:xfrm>
            <a:off x="3200400" y="1783080"/>
            <a:ext cx="299923" cy="299923"/>
          </a:xfrm>
          <a:prstGeom prst="ellipse">
            <a:avLst/>
          </a:prstGeom>
          <a:solidFill>
            <a:srgbClr val="DEC0AE"/>
          </a:solidFill>
          <a:ln w="12700">
            <a:solidFill>
              <a:srgbClr val="DEC0AE"/>
            </a:solidFill>
            <a:prstDash val="solid"/>
          </a:ln>
        </p:spPr>
      </p:sp>
      <p:sp>
        <p:nvSpPr>
          <p:cNvPr id="15" name="Shape 13"/>
          <p:cNvSpPr/>
          <p:nvPr/>
        </p:nvSpPr>
        <p:spPr>
          <a:xfrm>
            <a:off x="3566160" y="1783080"/>
            <a:ext cx="299923" cy="299923"/>
          </a:xfrm>
          <a:prstGeom prst="ellipse">
            <a:avLst/>
          </a:prstGeom>
          <a:solidFill>
            <a:srgbClr val="DAC3B6"/>
          </a:solidFill>
          <a:ln w="12700">
            <a:solidFill>
              <a:srgbClr val="DAC3B6"/>
            </a:solidFill>
            <a:prstDash val="solid"/>
          </a:ln>
        </p:spPr>
      </p:sp>
      <p:sp>
        <p:nvSpPr>
          <p:cNvPr id="16" name="Shape 14"/>
          <p:cNvSpPr/>
          <p:nvPr/>
        </p:nvSpPr>
        <p:spPr>
          <a:xfrm>
            <a:off x="3931920" y="1783080"/>
            <a:ext cx="299923" cy="299923"/>
          </a:xfrm>
          <a:prstGeom prst="ellipse">
            <a:avLst/>
          </a:prstGeom>
          <a:solidFill>
            <a:srgbClr val="D3C8C3"/>
          </a:solidFill>
          <a:ln w="12700">
            <a:solidFill>
              <a:srgbClr val="D3C8C3"/>
            </a:solidFill>
            <a:prstDash val="solid"/>
          </a:ln>
        </p:spPr>
      </p:sp>
      <p:sp>
        <p:nvSpPr>
          <p:cNvPr id="17" name="Shape 15"/>
          <p:cNvSpPr/>
          <p:nvPr/>
        </p:nvSpPr>
        <p:spPr>
          <a:xfrm>
            <a:off x="4297680" y="1783080"/>
            <a:ext cx="299923" cy="299923"/>
          </a:xfrm>
          <a:prstGeom prst="ellipse">
            <a:avLst/>
          </a:prstGeom>
          <a:solidFill>
            <a:srgbClr val="CBCDD3"/>
          </a:solidFill>
          <a:ln w="12700">
            <a:solidFill>
              <a:srgbClr val="CBCDD3"/>
            </a:solidFill>
            <a:prstDash val="solid"/>
          </a:ln>
        </p:spPr>
      </p:sp>
      <p:sp>
        <p:nvSpPr>
          <p:cNvPr id="18" name="Shape 16"/>
          <p:cNvSpPr/>
          <p:nvPr/>
        </p:nvSpPr>
        <p:spPr>
          <a:xfrm>
            <a:off x="4663440" y="1783080"/>
            <a:ext cx="299923" cy="299923"/>
          </a:xfrm>
          <a:prstGeom prst="ellipse">
            <a:avLst/>
          </a:prstGeom>
          <a:solidFill>
            <a:srgbClr val="C1D4E5"/>
          </a:solidFill>
          <a:ln w="12700">
            <a:solidFill>
              <a:srgbClr val="C1D4E5"/>
            </a:solidFill>
            <a:prstDash val="solid"/>
          </a:ln>
        </p:spPr>
      </p:sp>
      <p:sp>
        <p:nvSpPr>
          <p:cNvPr id="19" name="Shape 17"/>
          <p:cNvSpPr/>
          <p:nvPr/>
        </p:nvSpPr>
        <p:spPr>
          <a:xfrm>
            <a:off x="5029200" y="1783080"/>
            <a:ext cx="299923" cy="299923"/>
          </a:xfrm>
          <a:prstGeom prst="ellipse">
            <a:avLst/>
          </a:prstGeom>
          <a:solidFill>
            <a:srgbClr val="BDD7EE"/>
          </a:solidFill>
          <a:ln w="12700">
            <a:solidFill>
              <a:srgbClr val="BDD7EE"/>
            </a:solidFill>
            <a:prstDash val="solid"/>
          </a:ln>
        </p:spPr>
      </p:sp>
      <p:sp>
        <p:nvSpPr>
          <p:cNvPr id="20" name="Shape 18"/>
          <p:cNvSpPr/>
          <p:nvPr/>
        </p:nvSpPr>
        <p:spPr>
          <a:xfrm>
            <a:off x="640080" y="2148840"/>
            <a:ext cx="299923" cy="299923"/>
          </a:xfrm>
          <a:prstGeom prst="ellipse">
            <a:avLst/>
          </a:prstGeom>
          <a:solidFill>
            <a:srgbClr val="C1D4E6"/>
          </a:solidFill>
          <a:ln w="12700">
            <a:solidFill>
              <a:srgbClr val="C1D4E6"/>
            </a:solidFill>
            <a:prstDash val="solid"/>
          </a:ln>
        </p:spPr>
      </p:sp>
      <p:sp>
        <p:nvSpPr>
          <p:cNvPr id="21" name="Shape 19"/>
          <p:cNvSpPr/>
          <p:nvPr/>
        </p:nvSpPr>
        <p:spPr>
          <a:xfrm>
            <a:off x="1005840" y="2148840"/>
            <a:ext cx="299923" cy="299923"/>
          </a:xfrm>
          <a:prstGeom prst="ellipse">
            <a:avLst/>
          </a:prstGeom>
          <a:solidFill>
            <a:srgbClr val="CDCCCF"/>
          </a:solidFill>
          <a:ln w="12700">
            <a:solidFill>
              <a:srgbClr val="CDCCCF"/>
            </a:solidFill>
            <a:prstDash val="solid"/>
          </a:ln>
        </p:spPr>
      </p:sp>
      <p:sp>
        <p:nvSpPr>
          <p:cNvPr id="22" name="Shape 20"/>
          <p:cNvSpPr/>
          <p:nvPr/>
        </p:nvSpPr>
        <p:spPr>
          <a:xfrm>
            <a:off x="1371600" y="2148840"/>
            <a:ext cx="299923" cy="299923"/>
          </a:xfrm>
          <a:prstGeom prst="ellipse">
            <a:avLst/>
          </a:prstGeom>
          <a:solidFill>
            <a:srgbClr val="D8C5BA"/>
          </a:solidFill>
          <a:ln w="12700">
            <a:solidFill>
              <a:srgbClr val="D8C5BA"/>
            </a:solidFill>
            <a:prstDash val="solid"/>
          </a:ln>
        </p:spPr>
      </p:sp>
      <p:sp>
        <p:nvSpPr>
          <p:cNvPr id="23" name="Shape 21"/>
          <p:cNvSpPr/>
          <p:nvPr/>
        </p:nvSpPr>
        <p:spPr>
          <a:xfrm>
            <a:off x="1737360" y="2148840"/>
            <a:ext cx="299923" cy="299923"/>
          </a:xfrm>
          <a:prstGeom prst="ellipse">
            <a:avLst/>
          </a:prstGeom>
          <a:solidFill>
            <a:srgbClr val="E1BEA7"/>
          </a:solidFill>
          <a:ln w="12700">
            <a:solidFill>
              <a:srgbClr val="E1BEA7"/>
            </a:solidFill>
            <a:prstDash val="solid"/>
          </a:ln>
        </p:spPr>
      </p:sp>
      <p:sp>
        <p:nvSpPr>
          <p:cNvPr id="24" name="Shape 22"/>
          <p:cNvSpPr/>
          <p:nvPr/>
        </p:nvSpPr>
        <p:spPr>
          <a:xfrm>
            <a:off x="2103120" y="2148840"/>
            <a:ext cx="299923" cy="299923"/>
          </a:xfrm>
          <a:prstGeom prst="ellipse">
            <a:avLst/>
          </a:prstGeom>
          <a:solidFill>
            <a:srgbClr val="E9B998"/>
          </a:solidFill>
          <a:ln w="12700">
            <a:solidFill>
              <a:srgbClr val="E9B998"/>
            </a:solidFill>
            <a:prstDash val="solid"/>
          </a:ln>
        </p:spPr>
      </p:sp>
      <p:sp>
        <p:nvSpPr>
          <p:cNvPr id="25" name="Shape 23"/>
          <p:cNvSpPr/>
          <p:nvPr/>
        </p:nvSpPr>
        <p:spPr>
          <a:xfrm>
            <a:off x="2468880" y="2148840"/>
            <a:ext cx="299923" cy="299923"/>
          </a:xfrm>
          <a:prstGeom prst="ellipse">
            <a:avLst/>
          </a:prstGeom>
          <a:solidFill>
            <a:srgbClr val="EEB58E"/>
          </a:solidFill>
          <a:ln w="12700">
            <a:solidFill>
              <a:srgbClr val="EEB58E"/>
            </a:solidFill>
            <a:prstDash val="solid"/>
          </a:ln>
        </p:spPr>
      </p:sp>
      <p:sp>
        <p:nvSpPr>
          <p:cNvPr id="26" name="Shape 24"/>
          <p:cNvSpPr/>
          <p:nvPr/>
        </p:nvSpPr>
        <p:spPr>
          <a:xfrm>
            <a:off x="2834640" y="2148840"/>
            <a:ext cx="299923" cy="299923"/>
          </a:xfrm>
          <a:prstGeom prst="ellipse">
            <a:avLst/>
          </a:prstGeom>
          <a:solidFill>
            <a:srgbClr val="F0B48B"/>
          </a:solidFill>
          <a:ln w="12700">
            <a:solidFill>
              <a:srgbClr val="F0B48B"/>
            </a:solidFill>
            <a:prstDash val="solid"/>
          </a:ln>
        </p:spPr>
      </p:sp>
      <p:sp>
        <p:nvSpPr>
          <p:cNvPr id="27" name="Shape 25"/>
          <p:cNvSpPr/>
          <p:nvPr/>
        </p:nvSpPr>
        <p:spPr>
          <a:xfrm>
            <a:off x="3200400" y="2148840"/>
            <a:ext cx="299923" cy="299923"/>
          </a:xfrm>
          <a:prstGeom prst="ellipse">
            <a:avLst/>
          </a:prstGeom>
          <a:solidFill>
            <a:srgbClr val="EEB58E"/>
          </a:solidFill>
          <a:ln w="12700">
            <a:solidFill>
              <a:srgbClr val="EEB58E"/>
            </a:solidFill>
            <a:prstDash val="solid"/>
          </a:ln>
        </p:spPr>
      </p:sp>
      <p:sp>
        <p:nvSpPr>
          <p:cNvPr id="28" name="Shape 26"/>
          <p:cNvSpPr/>
          <p:nvPr/>
        </p:nvSpPr>
        <p:spPr>
          <a:xfrm>
            <a:off x="3566160" y="2148840"/>
            <a:ext cx="299923" cy="299923"/>
          </a:xfrm>
          <a:prstGeom prst="ellipse">
            <a:avLst/>
          </a:prstGeom>
          <a:solidFill>
            <a:srgbClr val="E9B998"/>
          </a:solidFill>
          <a:ln w="12700">
            <a:solidFill>
              <a:srgbClr val="E9B998"/>
            </a:solidFill>
            <a:prstDash val="solid"/>
          </a:ln>
        </p:spPr>
      </p:sp>
      <p:sp>
        <p:nvSpPr>
          <p:cNvPr id="29" name="Shape 27"/>
          <p:cNvSpPr/>
          <p:nvPr/>
        </p:nvSpPr>
        <p:spPr>
          <a:xfrm>
            <a:off x="3931920" y="2148840"/>
            <a:ext cx="299923" cy="299923"/>
          </a:xfrm>
          <a:prstGeom prst="ellipse">
            <a:avLst/>
          </a:prstGeom>
          <a:solidFill>
            <a:srgbClr val="E1BEA7"/>
          </a:solidFill>
          <a:ln w="12700">
            <a:solidFill>
              <a:srgbClr val="E1BEA7"/>
            </a:solidFill>
            <a:prstDash val="solid"/>
          </a:ln>
        </p:spPr>
      </p:sp>
      <p:sp>
        <p:nvSpPr>
          <p:cNvPr id="30" name="Shape 28"/>
          <p:cNvSpPr/>
          <p:nvPr/>
        </p:nvSpPr>
        <p:spPr>
          <a:xfrm>
            <a:off x="4297680" y="2148840"/>
            <a:ext cx="299923" cy="299923"/>
          </a:xfrm>
          <a:prstGeom prst="ellipse">
            <a:avLst/>
          </a:prstGeom>
          <a:solidFill>
            <a:srgbClr val="D8C5BA"/>
          </a:solidFill>
          <a:ln w="12700">
            <a:solidFill>
              <a:srgbClr val="D8C5BA"/>
            </a:solidFill>
            <a:prstDash val="solid"/>
          </a:ln>
        </p:spPr>
      </p:sp>
      <p:sp>
        <p:nvSpPr>
          <p:cNvPr id="31" name="Shape 29"/>
          <p:cNvSpPr/>
          <p:nvPr/>
        </p:nvSpPr>
        <p:spPr>
          <a:xfrm>
            <a:off x="4663440" y="2148840"/>
            <a:ext cx="299923" cy="299923"/>
          </a:xfrm>
          <a:prstGeom prst="ellipse">
            <a:avLst/>
          </a:prstGeom>
          <a:solidFill>
            <a:srgbClr val="CDCCCF"/>
          </a:solidFill>
          <a:ln w="12700">
            <a:solidFill>
              <a:srgbClr val="CDCCCF"/>
            </a:solidFill>
            <a:prstDash val="solid"/>
          </a:ln>
        </p:spPr>
      </p:sp>
      <p:sp>
        <p:nvSpPr>
          <p:cNvPr id="32" name="Shape 30"/>
          <p:cNvSpPr/>
          <p:nvPr/>
        </p:nvSpPr>
        <p:spPr>
          <a:xfrm>
            <a:off x="5029200" y="2148840"/>
            <a:ext cx="299923" cy="299923"/>
          </a:xfrm>
          <a:prstGeom prst="ellipse">
            <a:avLst/>
          </a:prstGeom>
          <a:solidFill>
            <a:srgbClr val="C1D4E6"/>
          </a:solidFill>
          <a:ln w="12700">
            <a:solidFill>
              <a:srgbClr val="C1D4E6"/>
            </a:solidFill>
            <a:prstDash val="solid"/>
          </a:ln>
        </p:spPr>
      </p:sp>
      <p:sp>
        <p:nvSpPr>
          <p:cNvPr id="33" name="Shape 31"/>
          <p:cNvSpPr/>
          <p:nvPr/>
        </p:nvSpPr>
        <p:spPr>
          <a:xfrm>
            <a:off x="640080" y="2514600"/>
            <a:ext cx="299923" cy="299923"/>
          </a:xfrm>
          <a:prstGeom prst="ellipse">
            <a:avLst/>
          </a:prstGeom>
          <a:solidFill>
            <a:srgbClr val="C9CED6"/>
          </a:solidFill>
          <a:ln w="12700">
            <a:solidFill>
              <a:srgbClr val="C9CED6"/>
            </a:solidFill>
            <a:prstDash val="solid"/>
          </a:ln>
        </p:spPr>
      </p:sp>
      <p:sp>
        <p:nvSpPr>
          <p:cNvPr id="34" name="Shape 32"/>
          <p:cNvSpPr/>
          <p:nvPr/>
        </p:nvSpPr>
        <p:spPr>
          <a:xfrm>
            <a:off x="1005840" y="2514600"/>
            <a:ext cx="299923" cy="299923"/>
          </a:xfrm>
          <a:prstGeom prst="ellipse">
            <a:avLst/>
          </a:prstGeom>
          <a:solidFill>
            <a:srgbClr val="D6C5BD"/>
          </a:solidFill>
          <a:ln w="12700">
            <a:solidFill>
              <a:srgbClr val="D6C5BD"/>
            </a:solidFill>
            <a:prstDash val="solid"/>
          </a:ln>
        </p:spPr>
      </p:sp>
      <p:sp>
        <p:nvSpPr>
          <p:cNvPr id="35" name="Shape 33"/>
          <p:cNvSpPr/>
          <p:nvPr/>
        </p:nvSpPr>
        <p:spPr>
          <a:xfrm>
            <a:off x="1371600" y="2514600"/>
            <a:ext cx="299923" cy="299923"/>
          </a:xfrm>
          <a:prstGeom prst="ellipse">
            <a:avLst/>
          </a:prstGeom>
          <a:solidFill>
            <a:srgbClr val="E3BDA5"/>
          </a:solidFill>
          <a:ln w="12700">
            <a:solidFill>
              <a:srgbClr val="E3BDA5"/>
            </a:solidFill>
            <a:prstDash val="solid"/>
          </a:ln>
        </p:spPr>
      </p:sp>
      <p:sp>
        <p:nvSpPr>
          <p:cNvPr id="36" name="Shape 34"/>
          <p:cNvSpPr/>
          <p:nvPr/>
        </p:nvSpPr>
        <p:spPr>
          <a:xfrm>
            <a:off x="1737360" y="2514600"/>
            <a:ext cx="299923" cy="299923"/>
          </a:xfrm>
          <a:prstGeom prst="ellipse">
            <a:avLst/>
          </a:prstGeom>
          <a:solidFill>
            <a:srgbClr val="EEB58F"/>
          </a:solidFill>
          <a:ln w="12700">
            <a:solidFill>
              <a:srgbClr val="EEB58F"/>
            </a:solidFill>
            <a:prstDash val="solid"/>
          </a:ln>
        </p:spPr>
      </p:sp>
      <p:sp>
        <p:nvSpPr>
          <p:cNvPr id="37" name="Shape 35"/>
          <p:cNvSpPr/>
          <p:nvPr/>
        </p:nvSpPr>
        <p:spPr>
          <a:xfrm>
            <a:off x="2103120" y="2514600"/>
            <a:ext cx="299923" cy="299923"/>
          </a:xfrm>
          <a:prstGeom prst="ellipse">
            <a:avLst/>
          </a:prstGeom>
          <a:solidFill>
            <a:srgbClr val="F1AA7B"/>
          </a:solidFill>
          <a:ln w="12700">
            <a:solidFill>
              <a:srgbClr val="F1AA7B"/>
            </a:solidFill>
            <a:prstDash val="solid"/>
          </a:ln>
        </p:spPr>
      </p:sp>
      <p:sp>
        <p:nvSpPr>
          <p:cNvPr id="38" name="Shape 36"/>
          <p:cNvSpPr/>
          <p:nvPr/>
        </p:nvSpPr>
        <p:spPr>
          <a:xfrm>
            <a:off x="2468880" y="2514600"/>
            <a:ext cx="299923" cy="299923"/>
          </a:xfrm>
          <a:prstGeom prst="ellipse">
            <a:avLst/>
          </a:prstGeom>
          <a:solidFill>
            <a:srgbClr val="EB9C6D"/>
          </a:solidFill>
          <a:ln w="12700">
            <a:solidFill>
              <a:srgbClr val="EB9C6D"/>
            </a:solidFill>
            <a:prstDash val="solid"/>
          </a:ln>
        </p:spPr>
      </p:sp>
      <p:sp>
        <p:nvSpPr>
          <p:cNvPr id="39" name="Shape 37"/>
          <p:cNvSpPr/>
          <p:nvPr/>
        </p:nvSpPr>
        <p:spPr>
          <a:xfrm>
            <a:off x="2834640" y="2514600"/>
            <a:ext cx="299923" cy="299923"/>
          </a:xfrm>
          <a:prstGeom prst="ellipse">
            <a:avLst/>
          </a:prstGeom>
          <a:solidFill>
            <a:srgbClr val="E89767"/>
          </a:solidFill>
          <a:ln w="12700">
            <a:solidFill>
              <a:srgbClr val="E89767"/>
            </a:solidFill>
            <a:prstDash val="solid"/>
          </a:ln>
        </p:spPr>
      </p:sp>
      <p:sp>
        <p:nvSpPr>
          <p:cNvPr id="40" name="Shape 38"/>
          <p:cNvSpPr/>
          <p:nvPr/>
        </p:nvSpPr>
        <p:spPr>
          <a:xfrm>
            <a:off x="3200400" y="2514600"/>
            <a:ext cx="299923" cy="299923"/>
          </a:xfrm>
          <a:prstGeom prst="ellipse">
            <a:avLst/>
          </a:prstGeom>
          <a:solidFill>
            <a:srgbClr val="EB9C6D"/>
          </a:solidFill>
          <a:ln w="12700">
            <a:solidFill>
              <a:srgbClr val="EB9C6D"/>
            </a:solidFill>
            <a:prstDash val="solid"/>
          </a:ln>
        </p:spPr>
      </p:sp>
      <p:sp>
        <p:nvSpPr>
          <p:cNvPr id="41" name="Shape 39"/>
          <p:cNvSpPr/>
          <p:nvPr/>
        </p:nvSpPr>
        <p:spPr>
          <a:xfrm>
            <a:off x="3566160" y="2514600"/>
            <a:ext cx="299923" cy="299923"/>
          </a:xfrm>
          <a:prstGeom prst="ellipse">
            <a:avLst/>
          </a:prstGeom>
          <a:solidFill>
            <a:srgbClr val="F1AA7B"/>
          </a:solidFill>
          <a:ln w="12700">
            <a:solidFill>
              <a:srgbClr val="F1AA7B"/>
            </a:solidFill>
            <a:prstDash val="solid"/>
          </a:ln>
        </p:spPr>
      </p:sp>
      <p:sp>
        <p:nvSpPr>
          <p:cNvPr id="42" name="Shape 40"/>
          <p:cNvSpPr/>
          <p:nvPr/>
        </p:nvSpPr>
        <p:spPr>
          <a:xfrm>
            <a:off x="3931920" y="2514600"/>
            <a:ext cx="299923" cy="299923"/>
          </a:xfrm>
          <a:prstGeom prst="ellipse">
            <a:avLst/>
          </a:prstGeom>
          <a:solidFill>
            <a:srgbClr val="EEB58F"/>
          </a:solidFill>
          <a:ln w="12700">
            <a:solidFill>
              <a:srgbClr val="EEB58F"/>
            </a:solidFill>
            <a:prstDash val="solid"/>
          </a:ln>
        </p:spPr>
      </p:sp>
      <p:sp>
        <p:nvSpPr>
          <p:cNvPr id="43" name="Shape 41"/>
          <p:cNvSpPr/>
          <p:nvPr/>
        </p:nvSpPr>
        <p:spPr>
          <a:xfrm>
            <a:off x="4297680" y="2514600"/>
            <a:ext cx="299923" cy="299923"/>
          </a:xfrm>
          <a:prstGeom prst="ellipse">
            <a:avLst/>
          </a:prstGeom>
          <a:solidFill>
            <a:srgbClr val="E3BDA5"/>
          </a:solidFill>
          <a:ln w="12700">
            <a:solidFill>
              <a:srgbClr val="E3BDA5"/>
            </a:solidFill>
            <a:prstDash val="solid"/>
          </a:ln>
        </p:spPr>
      </p:sp>
      <p:sp>
        <p:nvSpPr>
          <p:cNvPr id="44" name="Shape 42"/>
          <p:cNvSpPr/>
          <p:nvPr/>
        </p:nvSpPr>
        <p:spPr>
          <a:xfrm>
            <a:off x="4663440" y="2514600"/>
            <a:ext cx="299923" cy="299923"/>
          </a:xfrm>
          <a:prstGeom prst="ellipse">
            <a:avLst/>
          </a:prstGeom>
          <a:solidFill>
            <a:srgbClr val="D6C5BD"/>
          </a:solidFill>
          <a:ln w="12700">
            <a:solidFill>
              <a:srgbClr val="D6C5BD"/>
            </a:solidFill>
            <a:prstDash val="solid"/>
          </a:ln>
        </p:spPr>
      </p:sp>
      <p:sp>
        <p:nvSpPr>
          <p:cNvPr id="45" name="Shape 43"/>
          <p:cNvSpPr/>
          <p:nvPr/>
        </p:nvSpPr>
        <p:spPr>
          <a:xfrm>
            <a:off x="5029200" y="2514600"/>
            <a:ext cx="299923" cy="299923"/>
          </a:xfrm>
          <a:prstGeom prst="ellipse">
            <a:avLst/>
          </a:prstGeom>
          <a:solidFill>
            <a:srgbClr val="C9CED6"/>
          </a:solidFill>
          <a:ln w="12700">
            <a:solidFill>
              <a:srgbClr val="C9CED6"/>
            </a:solidFill>
            <a:prstDash val="solid"/>
          </a:ln>
        </p:spPr>
      </p:sp>
      <p:sp>
        <p:nvSpPr>
          <p:cNvPr id="46" name="Shape 44"/>
          <p:cNvSpPr/>
          <p:nvPr/>
        </p:nvSpPr>
        <p:spPr>
          <a:xfrm>
            <a:off x="640080" y="2880360"/>
            <a:ext cx="299923" cy="299923"/>
          </a:xfrm>
          <a:prstGeom prst="ellipse">
            <a:avLst/>
          </a:prstGeom>
          <a:solidFill>
            <a:srgbClr val="CFCACA"/>
          </a:solidFill>
          <a:ln w="12700">
            <a:solidFill>
              <a:srgbClr val="CFCACA"/>
            </a:solidFill>
            <a:prstDash val="solid"/>
          </a:ln>
        </p:spPr>
      </p:sp>
      <p:sp>
        <p:nvSpPr>
          <p:cNvPr id="47" name="Shape 45"/>
          <p:cNvSpPr/>
          <p:nvPr/>
        </p:nvSpPr>
        <p:spPr>
          <a:xfrm>
            <a:off x="1005840" y="2880360"/>
            <a:ext cx="299923" cy="299923"/>
          </a:xfrm>
          <a:prstGeom prst="ellipse">
            <a:avLst/>
          </a:prstGeom>
          <a:solidFill>
            <a:srgbClr val="DDC1AF"/>
          </a:solidFill>
          <a:ln w="12700">
            <a:solidFill>
              <a:srgbClr val="DDC1AF"/>
            </a:solidFill>
            <a:prstDash val="solid"/>
          </a:ln>
        </p:spPr>
      </p:sp>
      <p:sp>
        <p:nvSpPr>
          <p:cNvPr id="48" name="Shape 46"/>
          <p:cNvSpPr/>
          <p:nvPr/>
        </p:nvSpPr>
        <p:spPr>
          <a:xfrm>
            <a:off x="1371600" y="2880360"/>
            <a:ext cx="299923" cy="299923"/>
          </a:xfrm>
          <a:prstGeom prst="ellipse">
            <a:avLst/>
          </a:prstGeom>
          <a:solidFill>
            <a:srgbClr val="EBB794"/>
          </a:solidFill>
          <a:ln w="12700">
            <a:solidFill>
              <a:srgbClr val="EBB794"/>
            </a:solidFill>
            <a:prstDash val="solid"/>
          </a:ln>
        </p:spPr>
      </p:sp>
      <p:sp>
        <p:nvSpPr>
          <p:cNvPr id="49" name="Shape 47"/>
          <p:cNvSpPr/>
          <p:nvPr/>
        </p:nvSpPr>
        <p:spPr>
          <a:xfrm>
            <a:off x="1737360" y="2880360"/>
            <a:ext cx="299923" cy="299923"/>
          </a:xfrm>
          <a:prstGeom prst="ellipse">
            <a:avLst/>
          </a:prstGeom>
          <a:solidFill>
            <a:srgbClr val="F0A87A"/>
          </a:solidFill>
          <a:ln w="12700">
            <a:solidFill>
              <a:srgbClr val="F0A87A"/>
            </a:solidFill>
            <a:prstDash val="solid"/>
          </a:ln>
        </p:spPr>
      </p:sp>
      <p:sp>
        <p:nvSpPr>
          <p:cNvPr id="50" name="Shape 48"/>
          <p:cNvSpPr/>
          <p:nvPr/>
        </p:nvSpPr>
        <p:spPr>
          <a:xfrm>
            <a:off x="2103120" y="2880360"/>
            <a:ext cx="299923" cy="299923"/>
          </a:xfrm>
          <a:prstGeom prst="ellipse">
            <a:avLst/>
          </a:prstGeom>
          <a:solidFill>
            <a:srgbClr val="E59060"/>
          </a:solidFill>
          <a:ln w="12700">
            <a:solidFill>
              <a:srgbClr val="E59060"/>
            </a:solidFill>
            <a:prstDash val="solid"/>
          </a:ln>
        </p:spPr>
      </p:sp>
      <p:sp>
        <p:nvSpPr>
          <p:cNvPr id="51" name="Shape 49"/>
          <p:cNvSpPr/>
          <p:nvPr/>
        </p:nvSpPr>
        <p:spPr>
          <a:xfrm>
            <a:off x="2468880" y="2880360"/>
            <a:ext cx="299923" cy="299923"/>
          </a:xfrm>
          <a:prstGeom prst="ellipse">
            <a:avLst/>
          </a:prstGeom>
          <a:solidFill>
            <a:srgbClr val="DD7D4B"/>
          </a:solidFill>
          <a:ln w="12700">
            <a:solidFill>
              <a:srgbClr val="DD7D4B"/>
            </a:solidFill>
            <a:prstDash val="solid"/>
          </a:ln>
        </p:spPr>
      </p:sp>
      <p:sp>
        <p:nvSpPr>
          <p:cNvPr id="52" name="Shape 50"/>
          <p:cNvSpPr/>
          <p:nvPr/>
        </p:nvSpPr>
        <p:spPr>
          <a:xfrm>
            <a:off x="2834640" y="2880360"/>
            <a:ext cx="299923" cy="299923"/>
          </a:xfrm>
          <a:prstGeom prst="ellipse">
            <a:avLst/>
          </a:prstGeom>
          <a:solidFill>
            <a:srgbClr val="D97543"/>
          </a:solidFill>
          <a:ln w="12700">
            <a:solidFill>
              <a:srgbClr val="D97543"/>
            </a:solidFill>
            <a:prstDash val="solid"/>
          </a:ln>
        </p:spPr>
      </p:sp>
      <p:sp>
        <p:nvSpPr>
          <p:cNvPr id="53" name="Shape 51"/>
          <p:cNvSpPr/>
          <p:nvPr/>
        </p:nvSpPr>
        <p:spPr>
          <a:xfrm>
            <a:off x="3200400" y="2880360"/>
            <a:ext cx="299923" cy="299923"/>
          </a:xfrm>
          <a:prstGeom prst="ellipse">
            <a:avLst/>
          </a:prstGeom>
          <a:solidFill>
            <a:srgbClr val="DD7D4B"/>
          </a:solidFill>
          <a:ln w="12700">
            <a:solidFill>
              <a:srgbClr val="DD7D4B"/>
            </a:solidFill>
            <a:prstDash val="solid"/>
          </a:ln>
        </p:spPr>
      </p:sp>
      <p:sp>
        <p:nvSpPr>
          <p:cNvPr id="54" name="Shape 52"/>
          <p:cNvSpPr/>
          <p:nvPr/>
        </p:nvSpPr>
        <p:spPr>
          <a:xfrm>
            <a:off x="3566160" y="2880360"/>
            <a:ext cx="299923" cy="299923"/>
          </a:xfrm>
          <a:prstGeom prst="ellipse">
            <a:avLst/>
          </a:prstGeom>
          <a:solidFill>
            <a:srgbClr val="E59060"/>
          </a:solidFill>
          <a:ln w="12700">
            <a:solidFill>
              <a:srgbClr val="E59060"/>
            </a:solidFill>
            <a:prstDash val="solid"/>
          </a:ln>
        </p:spPr>
      </p:sp>
      <p:sp>
        <p:nvSpPr>
          <p:cNvPr id="55" name="Shape 53"/>
          <p:cNvSpPr/>
          <p:nvPr/>
        </p:nvSpPr>
        <p:spPr>
          <a:xfrm>
            <a:off x="3931920" y="2880360"/>
            <a:ext cx="299923" cy="299923"/>
          </a:xfrm>
          <a:prstGeom prst="ellipse">
            <a:avLst/>
          </a:prstGeom>
          <a:solidFill>
            <a:srgbClr val="F0A87A"/>
          </a:solidFill>
          <a:ln w="12700">
            <a:solidFill>
              <a:srgbClr val="F0A87A"/>
            </a:solidFill>
            <a:prstDash val="solid"/>
          </a:ln>
        </p:spPr>
      </p:sp>
      <p:sp>
        <p:nvSpPr>
          <p:cNvPr id="56" name="Shape 54"/>
          <p:cNvSpPr/>
          <p:nvPr/>
        </p:nvSpPr>
        <p:spPr>
          <a:xfrm>
            <a:off x="4297680" y="2880360"/>
            <a:ext cx="299923" cy="299923"/>
          </a:xfrm>
          <a:prstGeom prst="ellipse">
            <a:avLst/>
          </a:prstGeom>
          <a:solidFill>
            <a:srgbClr val="EBB794"/>
          </a:solidFill>
          <a:ln w="12700">
            <a:solidFill>
              <a:srgbClr val="EBB794"/>
            </a:solidFill>
            <a:prstDash val="solid"/>
          </a:ln>
        </p:spPr>
      </p:sp>
      <p:sp>
        <p:nvSpPr>
          <p:cNvPr id="57" name="Shape 55"/>
          <p:cNvSpPr/>
          <p:nvPr/>
        </p:nvSpPr>
        <p:spPr>
          <a:xfrm>
            <a:off x="4663440" y="2880360"/>
            <a:ext cx="299923" cy="299923"/>
          </a:xfrm>
          <a:prstGeom prst="ellipse">
            <a:avLst/>
          </a:prstGeom>
          <a:solidFill>
            <a:srgbClr val="DDC1AF"/>
          </a:solidFill>
          <a:ln w="12700">
            <a:solidFill>
              <a:srgbClr val="DDC1AF"/>
            </a:solidFill>
            <a:prstDash val="solid"/>
          </a:ln>
        </p:spPr>
      </p:sp>
      <p:sp>
        <p:nvSpPr>
          <p:cNvPr id="58" name="Shape 56"/>
          <p:cNvSpPr/>
          <p:nvPr/>
        </p:nvSpPr>
        <p:spPr>
          <a:xfrm>
            <a:off x="5029200" y="2880360"/>
            <a:ext cx="299923" cy="299923"/>
          </a:xfrm>
          <a:prstGeom prst="ellipse">
            <a:avLst/>
          </a:prstGeom>
          <a:solidFill>
            <a:srgbClr val="CFCACA"/>
          </a:solidFill>
          <a:ln w="12700">
            <a:solidFill>
              <a:srgbClr val="CFCACA"/>
            </a:solidFill>
            <a:prstDash val="solid"/>
          </a:ln>
        </p:spPr>
      </p:sp>
      <p:sp>
        <p:nvSpPr>
          <p:cNvPr id="59" name="Shape 57"/>
          <p:cNvSpPr/>
          <p:nvPr/>
        </p:nvSpPr>
        <p:spPr>
          <a:xfrm>
            <a:off x="640080" y="3246120"/>
            <a:ext cx="299923" cy="299923"/>
          </a:xfrm>
          <a:prstGeom prst="ellipse">
            <a:avLst/>
          </a:prstGeom>
          <a:solidFill>
            <a:srgbClr val="D3C8C4"/>
          </a:solidFill>
          <a:ln w="12700">
            <a:solidFill>
              <a:srgbClr val="D3C8C4"/>
            </a:solidFill>
            <a:prstDash val="solid"/>
          </a:ln>
        </p:spPr>
      </p:sp>
      <p:sp>
        <p:nvSpPr>
          <p:cNvPr id="60" name="Shape 58"/>
          <p:cNvSpPr/>
          <p:nvPr/>
        </p:nvSpPr>
        <p:spPr>
          <a:xfrm>
            <a:off x="1005840" y="3246120"/>
            <a:ext cx="299923" cy="299923"/>
          </a:xfrm>
          <a:prstGeom prst="ellipse">
            <a:avLst/>
          </a:prstGeom>
          <a:solidFill>
            <a:srgbClr val="E1BEA8"/>
          </a:solidFill>
          <a:ln w="12700">
            <a:solidFill>
              <a:srgbClr val="E1BEA8"/>
            </a:solidFill>
            <a:prstDash val="solid"/>
          </a:ln>
        </p:spPr>
      </p:sp>
      <p:sp>
        <p:nvSpPr>
          <p:cNvPr id="61" name="Shape 59"/>
          <p:cNvSpPr/>
          <p:nvPr/>
        </p:nvSpPr>
        <p:spPr>
          <a:xfrm>
            <a:off x="1371600" y="3246120"/>
            <a:ext cx="299923" cy="299923"/>
          </a:xfrm>
          <a:prstGeom prst="ellipse">
            <a:avLst/>
          </a:prstGeom>
          <a:solidFill>
            <a:srgbClr val="F0B48B"/>
          </a:solidFill>
          <a:ln w="12700">
            <a:solidFill>
              <a:srgbClr val="F0B48B"/>
            </a:solidFill>
            <a:prstDash val="solid"/>
          </a:ln>
        </p:spPr>
      </p:sp>
      <p:sp>
        <p:nvSpPr>
          <p:cNvPr id="62" name="Shape 60"/>
          <p:cNvSpPr/>
          <p:nvPr/>
        </p:nvSpPr>
        <p:spPr>
          <a:xfrm>
            <a:off x="1737360" y="3246120"/>
            <a:ext cx="299923" cy="299923"/>
          </a:xfrm>
          <a:prstGeom prst="ellipse">
            <a:avLst/>
          </a:prstGeom>
          <a:solidFill>
            <a:srgbClr val="EB9C6D"/>
          </a:solidFill>
          <a:ln w="12700">
            <a:solidFill>
              <a:srgbClr val="EB9C6D"/>
            </a:solidFill>
            <a:prstDash val="solid"/>
          </a:ln>
        </p:spPr>
      </p:sp>
      <p:sp>
        <p:nvSpPr>
          <p:cNvPr id="63" name="Shape 61"/>
          <p:cNvSpPr/>
          <p:nvPr/>
        </p:nvSpPr>
        <p:spPr>
          <a:xfrm>
            <a:off x="2103120" y="3246120"/>
            <a:ext cx="299923" cy="299923"/>
          </a:xfrm>
          <a:prstGeom prst="ellipse">
            <a:avLst/>
          </a:prstGeom>
          <a:solidFill>
            <a:srgbClr val="DE7F4E"/>
          </a:solidFill>
          <a:ln w="12700">
            <a:solidFill>
              <a:srgbClr val="DE7F4E"/>
            </a:solidFill>
            <a:prstDash val="solid"/>
          </a:ln>
        </p:spPr>
      </p:sp>
      <p:sp>
        <p:nvSpPr>
          <p:cNvPr id="64" name="Shape 62"/>
          <p:cNvSpPr/>
          <p:nvPr/>
        </p:nvSpPr>
        <p:spPr>
          <a:xfrm>
            <a:off x="2468880" y="3246120"/>
            <a:ext cx="299923" cy="299923"/>
          </a:xfrm>
          <a:prstGeom prst="ellipse">
            <a:avLst/>
          </a:prstGeom>
          <a:solidFill>
            <a:srgbClr val="D16331"/>
          </a:solidFill>
          <a:ln w="12700">
            <a:solidFill>
              <a:srgbClr val="D16331"/>
            </a:solidFill>
            <a:prstDash val="solid"/>
          </a:ln>
        </p:spPr>
      </p:sp>
      <p:sp>
        <p:nvSpPr>
          <p:cNvPr id="65" name="Shape 63"/>
          <p:cNvSpPr/>
          <p:nvPr/>
        </p:nvSpPr>
        <p:spPr>
          <a:xfrm>
            <a:off x="2834640" y="3246120"/>
            <a:ext cx="299923" cy="299923"/>
          </a:xfrm>
          <a:prstGeom prst="ellipse">
            <a:avLst/>
          </a:prstGeom>
          <a:solidFill>
            <a:srgbClr val="CA521E"/>
          </a:solidFill>
          <a:ln w="12700">
            <a:solidFill>
              <a:srgbClr val="CA521E"/>
            </a:solidFill>
            <a:prstDash val="solid"/>
          </a:ln>
        </p:spPr>
      </p:sp>
      <p:sp>
        <p:nvSpPr>
          <p:cNvPr id="66" name="Shape 64"/>
          <p:cNvSpPr/>
          <p:nvPr/>
        </p:nvSpPr>
        <p:spPr>
          <a:xfrm>
            <a:off x="3200400" y="3246120"/>
            <a:ext cx="299923" cy="299923"/>
          </a:xfrm>
          <a:prstGeom prst="ellipse">
            <a:avLst/>
          </a:prstGeom>
          <a:solidFill>
            <a:srgbClr val="D16331"/>
          </a:solidFill>
          <a:ln w="12700">
            <a:solidFill>
              <a:srgbClr val="D16331"/>
            </a:solidFill>
            <a:prstDash val="solid"/>
          </a:ln>
        </p:spPr>
      </p:sp>
      <p:sp>
        <p:nvSpPr>
          <p:cNvPr id="67" name="Shape 65"/>
          <p:cNvSpPr/>
          <p:nvPr/>
        </p:nvSpPr>
        <p:spPr>
          <a:xfrm>
            <a:off x="3566160" y="3246120"/>
            <a:ext cx="299923" cy="299923"/>
          </a:xfrm>
          <a:prstGeom prst="ellipse">
            <a:avLst/>
          </a:prstGeom>
          <a:solidFill>
            <a:srgbClr val="DE7F4E"/>
          </a:solidFill>
          <a:ln w="12700">
            <a:solidFill>
              <a:srgbClr val="DE7F4E"/>
            </a:solidFill>
            <a:prstDash val="solid"/>
          </a:ln>
        </p:spPr>
      </p:sp>
      <p:sp>
        <p:nvSpPr>
          <p:cNvPr id="68" name="Shape 66"/>
          <p:cNvSpPr/>
          <p:nvPr/>
        </p:nvSpPr>
        <p:spPr>
          <a:xfrm>
            <a:off x="3931920" y="3246120"/>
            <a:ext cx="299923" cy="299923"/>
          </a:xfrm>
          <a:prstGeom prst="ellipse">
            <a:avLst/>
          </a:prstGeom>
          <a:solidFill>
            <a:srgbClr val="EB9C6D"/>
          </a:solidFill>
          <a:ln w="12700">
            <a:solidFill>
              <a:srgbClr val="EB9C6D"/>
            </a:solidFill>
            <a:prstDash val="solid"/>
          </a:ln>
        </p:spPr>
      </p:sp>
      <p:sp>
        <p:nvSpPr>
          <p:cNvPr id="69" name="Shape 67"/>
          <p:cNvSpPr/>
          <p:nvPr/>
        </p:nvSpPr>
        <p:spPr>
          <a:xfrm>
            <a:off x="4297680" y="3246120"/>
            <a:ext cx="299923" cy="299923"/>
          </a:xfrm>
          <a:prstGeom prst="ellipse">
            <a:avLst/>
          </a:prstGeom>
          <a:solidFill>
            <a:srgbClr val="F0B48B"/>
          </a:solidFill>
          <a:ln w="12700">
            <a:solidFill>
              <a:srgbClr val="F0B48B"/>
            </a:solidFill>
            <a:prstDash val="solid"/>
          </a:ln>
        </p:spPr>
      </p:sp>
      <p:sp>
        <p:nvSpPr>
          <p:cNvPr id="70" name="Shape 68"/>
          <p:cNvSpPr/>
          <p:nvPr/>
        </p:nvSpPr>
        <p:spPr>
          <a:xfrm>
            <a:off x="4663440" y="3246120"/>
            <a:ext cx="299923" cy="299923"/>
          </a:xfrm>
          <a:prstGeom prst="ellipse">
            <a:avLst/>
          </a:prstGeom>
          <a:solidFill>
            <a:srgbClr val="E1BEA8"/>
          </a:solidFill>
          <a:ln w="12700">
            <a:solidFill>
              <a:srgbClr val="E1BEA8"/>
            </a:solidFill>
            <a:prstDash val="solid"/>
          </a:ln>
        </p:spPr>
      </p:sp>
      <p:sp>
        <p:nvSpPr>
          <p:cNvPr id="71" name="Shape 69"/>
          <p:cNvSpPr/>
          <p:nvPr/>
        </p:nvSpPr>
        <p:spPr>
          <a:xfrm>
            <a:off x="5029200" y="3246120"/>
            <a:ext cx="299923" cy="299923"/>
          </a:xfrm>
          <a:prstGeom prst="ellipse">
            <a:avLst/>
          </a:prstGeom>
          <a:solidFill>
            <a:srgbClr val="D3C8C4"/>
          </a:solidFill>
          <a:ln w="12700">
            <a:solidFill>
              <a:srgbClr val="D3C8C4"/>
            </a:solidFill>
            <a:prstDash val="solid"/>
          </a:ln>
        </p:spPr>
      </p:sp>
      <p:sp>
        <p:nvSpPr>
          <p:cNvPr id="72" name="Shape 70"/>
          <p:cNvSpPr/>
          <p:nvPr/>
        </p:nvSpPr>
        <p:spPr>
          <a:xfrm>
            <a:off x="640080" y="3611880"/>
            <a:ext cx="299923" cy="299923"/>
          </a:xfrm>
          <a:prstGeom prst="ellipse">
            <a:avLst/>
          </a:prstGeom>
          <a:solidFill>
            <a:srgbClr val="D3C8C4"/>
          </a:solidFill>
          <a:ln w="12700">
            <a:solidFill>
              <a:srgbClr val="D3C8C4"/>
            </a:solidFill>
            <a:prstDash val="solid"/>
          </a:ln>
        </p:spPr>
      </p:sp>
      <p:sp>
        <p:nvSpPr>
          <p:cNvPr id="73" name="Shape 71"/>
          <p:cNvSpPr/>
          <p:nvPr/>
        </p:nvSpPr>
        <p:spPr>
          <a:xfrm>
            <a:off x="1005840" y="3611880"/>
            <a:ext cx="299923" cy="299923"/>
          </a:xfrm>
          <a:prstGeom prst="ellipse">
            <a:avLst/>
          </a:prstGeom>
          <a:solidFill>
            <a:srgbClr val="E1BEA8"/>
          </a:solidFill>
          <a:ln w="12700">
            <a:solidFill>
              <a:srgbClr val="E1BEA8"/>
            </a:solidFill>
            <a:prstDash val="solid"/>
          </a:ln>
        </p:spPr>
      </p:sp>
      <p:sp>
        <p:nvSpPr>
          <p:cNvPr id="74" name="Shape 72"/>
          <p:cNvSpPr/>
          <p:nvPr/>
        </p:nvSpPr>
        <p:spPr>
          <a:xfrm>
            <a:off x="1371600" y="3611880"/>
            <a:ext cx="299923" cy="299923"/>
          </a:xfrm>
          <a:prstGeom prst="ellipse">
            <a:avLst/>
          </a:prstGeom>
          <a:solidFill>
            <a:srgbClr val="F0B48B"/>
          </a:solidFill>
          <a:ln w="12700">
            <a:solidFill>
              <a:srgbClr val="F0B48B"/>
            </a:solidFill>
            <a:prstDash val="solid"/>
          </a:ln>
        </p:spPr>
      </p:sp>
      <p:sp>
        <p:nvSpPr>
          <p:cNvPr id="75" name="Shape 73"/>
          <p:cNvSpPr/>
          <p:nvPr/>
        </p:nvSpPr>
        <p:spPr>
          <a:xfrm>
            <a:off x="1737360" y="3611880"/>
            <a:ext cx="299923" cy="299923"/>
          </a:xfrm>
          <a:prstGeom prst="ellipse">
            <a:avLst/>
          </a:prstGeom>
          <a:solidFill>
            <a:srgbClr val="EB9C6D"/>
          </a:solidFill>
          <a:ln w="12700">
            <a:solidFill>
              <a:srgbClr val="EB9C6D"/>
            </a:solidFill>
            <a:prstDash val="solid"/>
          </a:ln>
        </p:spPr>
      </p:sp>
      <p:sp>
        <p:nvSpPr>
          <p:cNvPr id="76" name="Shape 74"/>
          <p:cNvSpPr/>
          <p:nvPr/>
        </p:nvSpPr>
        <p:spPr>
          <a:xfrm>
            <a:off x="2103120" y="3611880"/>
            <a:ext cx="299923" cy="299923"/>
          </a:xfrm>
          <a:prstGeom prst="ellipse">
            <a:avLst/>
          </a:prstGeom>
          <a:solidFill>
            <a:srgbClr val="DE7F4E"/>
          </a:solidFill>
          <a:ln w="12700">
            <a:solidFill>
              <a:srgbClr val="DE7F4E"/>
            </a:solidFill>
            <a:prstDash val="solid"/>
          </a:ln>
        </p:spPr>
      </p:sp>
      <p:sp>
        <p:nvSpPr>
          <p:cNvPr id="77" name="Shape 75"/>
          <p:cNvSpPr/>
          <p:nvPr/>
        </p:nvSpPr>
        <p:spPr>
          <a:xfrm>
            <a:off x="2468880" y="3611880"/>
            <a:ext cx="299923" cy="299923"/>
          </a:xfrm>
          <a:prstGeom prst="ellipse">
            <a:avLst/>
          </a:prstGeom>
          <a:solidFill>
            <a:srgbClr val="D16331"/>
          </a:solidFill>
          <a:ln w="12700">
            <a:solidFill>
              <a:srgbClr val="D16331"/>
            </a:solidFill>
            <a:prstDash val="solid"/>
          </a:ln>
        </p:spPr>
      </p:sp>
      <p:sp>
        <p:nvSpPr>
          <p:cNvPr id="78" name="Shape 76"/>
          <p:cNvSpPr/>
          <p:nvPr/>
        </p:nvSpPr>
        <p:spPr>
          <a:xfrm>
            <a:off x="2834640" y="3611880"/>
            <a:ext cx="299923" cy="299923"/>
          </a:xfrm>
          <a:prstGeom prst="ellipse">
            <a:avLst/>
          </a:prstGeom>
          <a:solidFill>
            <a:srgbClr val="CA521E"/>
          </a:solidFill>
          <a:ln w="12700">
            <a:solidFill>
              <a:srgbClr val="CA521E"/>
            </a:solidFill>
            <a:prstDash val="solid"/>
          </a:ln>
        </p:spPr>
      </p:sp>
      <p:sp>
        <p:nvSpPr>
          <p:cNvPr id="79" name="Shape 77"/>
          <p:cNvSpPr/>
          <p:nvPr/>
        </p:nvSpPr>
        <p:spPr>
          <a:xfrm>
            <a:off x="3200400" y="3611880"/>
            <a:ext cx="299923" cy="299923"/>
          </a:xfrm>
          <a:prstGeom prst="ellipse">
            <a:avLst/>
          </a:prstGeom>
          <a:solidFill>
            <a:srgbClr val="D16331"/>
          </a:solidFill>
          <a:ln w="12700">
            <a:solidFill>
              <a:srgbClr val="D16331"/>
            </a:solidFill>
            <a:prstDash val="solid"/>
          </a:ln>
        </p:spPr>
      </p:sp>
      <p:sp>
        <p:nvSpPr>
          <p:cNvPr id="80" name="Shape 78"/>
          <p:cNvSpPr/>
          <p:nvPr/>
        </p:nvSpPr>
        <p:spPr>
          <a:xfrm>
            <a:off x="3566160" y="3611880"/>
            <a:ext cx="299923" cy="299923"/>
          </a:xfrm>
          <a:prstGeom prst="ellipse">
            <a:avLst/>
          </a:prstGeom>
          <a:solidFill>
            <a:srgbClr val="DE7F4E"/>
          </a:solidFill>
          <a:ln w="12700">
            <a:solidFill>
              <a:srgbClr val="DE7F4E"/>
            </a:solidFill>
            <a:prstDash val="solid"/>
          </a:ln>
        </p:spPr>
      </p:sp>
      <p:sp>
        <p:nvSpPr>
          <p:cNvPr id="81" name="Shape 79"/>
          <p:cNvSpPr/>
          <p:nvPr/>
        </p:nvSpPr>
        <p:spPr>
          <a:xfrm>
            <a:off x="3931920" y="3611880"/>
            <a:ext cx="299923" cy="299923"/>
          </a:xfrm>
          <a:prstGeom prst="ellipse">
            <a:avLst/>
          </a:prstGeom>
          <a:solidFill>
            <a:srgbClr val="EB9C6D"/>
          </a:solidFill>
          <a:ln w="12700">
            <a:solidFill>
              <a:srgbClr val="EB9C6D"/>
            </a:solidFill>
            <a:prstDash val="solid"/>
          </a:ln>
        </p:spPr>
      </p:sp>
      <p:sp>
        <p:nvSpPr>
          <p:cNvPr id="82" name="Shape 80"/>
          <p:cNvSpPr/>
          <p:nvPr/>
        </p:nvSpPr>
        <p:spPr>
          <a:xfrm>
            <a:off x="4297680" y="3611880"/>
            <a:ext cx="299923" cy="299923"/>
          </a:xfrm>
          <a:prstGeom prst="ellipse">
            <a:avLst/>
          </a:prstGeom>
          <a:solidFill>
            <a:srgbClr val="F0B48B"/>
          </a:solidFill>
          <a:ln w="12700">
            <a:solidFill>
              <a:srgbClr val="F0B48B"/>
            </a:solidFill>
            <a:prstDash val="solid"/>
          </a:ln>
        </p:spPr>
      </p:sp>
      <p:sp>
        <p:nvSpPr>
          <p:cNvPr id="83" name="Shape 81"/>
          <p:cNvSpPr/>
          <p:nvPr/>
        </p:nvSpPr>
        <p:spPr>
          <a:xfrm>
            <a:off x="4663440" y="3611880"/>
            <a:ext cx="299923" cy="299923"/>
          </a:xfrm>
          <a:prstGeom prst="ellipse">
            <a:avLst/>
          </a:prstGeom>
          <a:solidFill>
            <a:srgbClr val="E1BEA8"/>
          </a:solidFill>
          <a:ln w="12700">
            <a:solidFill>
              <a:srgbClr val="E1BEA8"/>
            </a:solidFill>
            <a:prstDash val="solid"/>
          </a:ln>
        </p:spPr>
      </p:sp>
      <p:sp>
        <p:nvSpPr>
          <p:cNvPr id="84" name="Shape 82"/>
          <p:cNvSpPr/>
          <p:nvPr/>
        </p:nvSpPr>
        <p:spPr>
          <a:xfrm>
            <a:off x="5029200" y="3611880"/>
            <a:ext cx="299923" cy="299923"/>
          </a:xfrm>
          <a:prstGeom prst="ellipse">
            <a:avLst/>
          </a:prstGeom>
          <a:solidFill>
            <a:srgbClr val="D3C8C4"/>
          </a:solidFill>
          <a:ln w="12700">
            <a:solidFill>
              <a:srgbClr val="D3C8C4"/>
            </a:solidFill>
            <a:prstDash val="solid"/>
          </a:ln>
        </p:spPr>
      </p:sp>
      <p:sp>
        <p:nvSpPr>
          <p:cNvPr id="85" name="Shape 83"/>
          <p:cNvSpPr/>
          <p:nvPr/>
        </p:nvSpPr>
        <p:spPr>
          <a:xfrm>
            <a:off x="640080" y="3977640"/>
            <a:ext cx="299923" cy="299923"/>
          </a:xfrm>
          <a:prstGeom prst="ellipse">
            <a:avLst/>
          </a:prstGeom>
          <a:solidFill>
            <a:srgbClr val="CFCACA"/>
          </a:solidFill>
          <a:ln w="12700">
            <a:solidFill>
              <a:srgbClr val="CFCACA"/>
            </a:solidFill>
            <a:prstDash val="solid"/>
          </a:ln>
        </p:spPr>
      </p:sp>
      <p:sp>
        <p:nvSpPr>
          <p:cNvPr id="86" name="Shape 84"/>
          <p:cNvSpPr/>
          <p:nvPr/>
        </p:nvSpPr>
        <p:spPr>
          <a:xfrm>
            <a:off x="1005840" y="3977640"/>
            <a:ext cx="299923" cy="299923"/>
          </a:xfrm>
          <a:prstGeom prst="ellipse">
            <a:avLst/>
          </a:prstGeom>
          <a:solidFill>
            <a:srgbClr val="DDC1AF"/>
          </a:solidFill>
          <a:ln w="12700">
            <a:solidFill>
              <a:srgbClr val="DDC1AF"/>
            </a:solidFill>
            <a:prstDash val="solid"/>
          </a:ln>
        </p:spPr>
      </p:sp>
      <p:sp>
        <p:nvSpPr>
          <p:cNvPr id="87" name="Shape 85"/>
          <p:cNvSpPr/>
          <p:nvPr/>
        </p:nvSpPr>
        <p:spPr>
          <a:xfrm>
            <a:off x="1371600" y="3977640"/>
            <a:ext cx="299923" cy="299923"/>
          </a:xfrm>
          <a:prstGeom prst="ellipse">
            <a:avLst/>
          </a:prstGeom>
          <a:solidFill>
            <a:srgbClr val="EBB794"/>
          </a:solidFill>
          <a:ln w="12700">
            <a:solidFill>
              <a:srgbClr val="EBB794"/>
            </a:solidFill>
            <a:prstDash val="solid"/>
          </a:ln>
        </p:spPr>
      </p:sp>
      <p:sp>
        <p:nvSpPr>
          <p:cNvPr id="88" name="Shape 86"/>
          <p:cNvSpPr/>
          <p:nvPr/>
        </p:nvSpPr>
        <p:spPr>
          <a:xfrm>
            <a:off x="1737360" y="3977640"/>
            <a:ext cx="299923" cy="299923"/>
          </a:xfrm>
          <a:prstGeom prst="ellipse">
            <a:avLst/>
          </a:prstGeom>
          <a:solidFill>
            <a:srgbClr val="F0A87A"/>
          </a:solidFill>
          <a:ln w="12700">
            <a:solidFill>
              <a:srgbClr val="F0A87A"/>
            </a:solidFill>
            <a:prstDash val="solid"/>
          </a:ln>
        </p:spPr>
      </p:sp>
      <p:sp>
        <p:nvSpPr>
          <p:cNvPr id="89" name="Shape 87"/>
          <p:cNvSpPr/>
          <p:nvPr/>
        </p:nvSpPr>
        <p:spPr>
          <a:xfrm>
            <a:off x="2103120" y="3977640"/>
            <a:ext cx="299923" cy="299923"/>
          </a:xfrm>
          <a:prstGeom prst="ellipse">
            <a:avLst/>
          </a:prstGeom>
          <a:solidFill>
            <a:srgbClr val="E59060"/>
          </a:solidFill>
          <a:ln w="12700">
            <a:solidFill>
              <a:srgbClr val="E59060"/>
            </a:solidFill>
            <a:prstDash val="solid"/>
          </a:ln>
        </p:spPr>
      </p:sp>
      <p:sp>
        <p:nvSpPr>
          <p:cNvPr id="90" name="Shape 88"/>
          <p:cNvSpPr/>
          <p:nvPr/>
        </p:nvSpPr>
        <p:spPr>
          <a:xfrm>
            <a:off x="2468880" y="3977640"/>
            <a:ext cx="299923" cy="299923"/>
          </a:xfrm>
          <a:prstGeom prst="ellipse">
            <a:avLst/>
          </a:prstGeom>
          <a:solidFill>
            <a:srgbClr val="DD7D4B"/>
          </a:solidFill>
          <a:ln w="12700">
            <a:solidFill>
              <a:srgbClr val="DD7D4B"/>
            </a:solidFill>
            <a:prstDash val="solid"/>
          </a:ln>
        </p:spPr>
      </p:sp>
      <p:sp>
        <p:nvSpPr>
          <p:cNvPr id="91" name="Shape 89"/>
          <p:cNvSpPr/>
          <p:nvPr/>
        </p:nvSpPr>
        <p:spPr>
          <a:xfrm>
            <a:off x="2834640" y="3977640"/>
            <a:ext cx="299923" cy="299923"/>
          </a:xfrm>
          <a:prstGeom prst="ellipse">
            <a:avLst/>
          </a:prstGeom>
          <a:solidFill>
            <a:srgbClr val="D97543"/>
          </a:solidFill>
          <a:ln w="12700">
            <a:solidFill>
              <a:srgbClr val="D97543"/>
            </a:solidFill>
            <a:prstDash val="solid"/>
          </a:ln>
        </p:spPr>
      </p:sp>
      <p:sp>
        <p:nvSpPr>
          <p:cNvPr id="92" name="Shape 90"/>
          <p:cNvSpPr/>
          <p:nvPr/>
        </p:nvSpPr>
        <p:spPr>
          <a:xfrm>
            <a:off x="3200400" y="3977640"/>
            <a:ext cx="299923" cy="299923"/>
          </a:xfrm>
          <a:prstGeom prst="ellipse">
            <a:avLst/>
          </a:prstGeom>
          <a:solidFill>
            <a:srgbClr val="DD7D4B"/>
          </a:solidFill>
          <a:ln w="12700">
            <a:solidFill>
              <a:srgbClr val="DD7D4B"/>
            </a:solidFill>
            <a:prstDash val="solid"/>
          </a:ln>
        </p:spPr>
      </p:sp>
      <p:sp>
        <p:nvSpPr>
          <p:cNvPr id="93" name="Shape 91"/>
          <p:cNvSpPr/>
          <p:nvPr/>
        </p:nvSpPr>
        <p:spPr>
          <a:xfrm>
            <a:off x="3566160" y="3977640"/>
            <a:ext cx="299923" cy="299923"/>
          </a:xfrm>
          <a:prstGeom prst="ellipse">
            <a:avLst/>
          </a:prstGeom>
          <a:solidFill>
            <a:srgbClr val="E59060"/>
          </a:solidFill>
          <a:ln w="12700">
            <a:solidFill>
              <a:srgbClr val="E59060"/>
            </a:solidFill>
            <a:prstDash val="solid"/>
          </a:ln>
        </p:spPr>
      </p:sp>
      <p:sp>
        <p:nvSpPr>
          <p:cNvPr id="94" name="Shape 92"/>
          <p:cNvSpPr/>
          <p:nvPr/>
        </p:nvSpPr>
        <p:spPr>
          <a:xfrm>
            <a:off x="3931920" y="3977640"/>
            <a:ext cx="299923" cy="299923"/>
          </a:xfrm>
          <a:prstGeom prst="ellipse">
            <a:avLst/>
          </a:prstGeom>
          <a:solidFill>
            <a:srgbClr val="F0A87A"/>
          </a:solidFill>
          <a:ln w="12700">
            <a:solidFill>
              <a:srgbClr val="F0A87A"/>
            </a:solidFill>
            <a:prstDash val="solid"/>
          </a:ln>
        </p:spPr>
      </p:sp>
      <p:sp>
        <p:nvSpPr>
          <p:cNvPr id="95" name="Shape 93"/>
          <p:cNvSpPr/>
          <p:nvPr/>
        </p:nvSpPr>
        <p:spPr>
          <a:xfrm>
            <a:off x="4297680" y="3977640"/>
            <a:ext cx="299923" cy="299923"/>
          </a:xfrm>
          <a:prstGeom prst="ellipse">
            <a:avLst/>
          </a:prstGeom>
          <a:solidFill>
            <a:srgbClr val="EBB794"/>
          </a:solidFill>
          <a:ln w="12700">
            <a:solidFill>
              <a:srgbClr val="EBB794"/>
            </a:solidFill>
            <a:prstDash val="solid"/>
          </a:ln>
        </p:spPr>
      </p:sp>
      <p:sp>
        <p:nvSpPr>
          <p:cNvPr id="96" name="Shape 94"/>
          <p:cNvSpPr/>
          <p:nvPr/>
        </p:nvSpPr>
        <p:spPr>
          <a:xfrm>
            <a:off x="4663440" y="3977640"/>
            <a:ext cx="299923" cy="299923"/>
          </a:xfrm>
          <a:prstGeom prst="ellipse">
            <a:avLst/>
          </a:prstGeom>
          <a:solidFill>
            <a:srgbClr val="DDC1AF"/>
          </a:solidFill>
          <a:ln w="12700">
            <a:solidFill>
              <a:srgbClr val="DDC1AF"/>
            </a:solidFill>
            <a:prstDash val="solid"/>
          </a:ln>
        </p:spPr>
      </p:sp>
      <p:sp>
        <p:nvSpPr>
          <p:cNvPr id="97" name="Shape 95"/>
          <p:cNvSpPr/>
          <p:nvPr/>
        </p:nvSpPr>
        <p:spPr>
          <a:xfrm>
            <a:off x="5029200" y="3977640"/>
            <a:ext cx="299923" cy="299923"/>
          </a:xfrm>
          <a:prstGeom prst="ellipse">
            <a:avLst/>
          </a:prstGeom>
          <a:solidFill>
            <a:srgbClr val="CFCACA"/>
          </a:solidFill>
          <a:ln w="12700">
            <a:solidFill>
              <a:srgbClr val="CFCACA"/>
            </a:solidFill>
            <a:prstDash val="solid"/>
          </a:ln>
        </p:spPr>
      </p:sp>
      <p:sp>
        <p:nvSpPr>
          <p:cNvPr id="98" name="Shape 96"/>
          <p:cNvSpPr/>
          <p:nvPr/>
        </p:nvSpPr>
        <p:spPr>
          <a:xfrm>
            <a:off x="640080" y="4343400"/>
            <a:ext cx="299923" cy="299923"/>
          </a:xfrm>
          <a:prstGeom prst="ellipse">
            <a:avLst/>
          </a:prstGeom>
          <a:solidFill>
            <a:srgbClr val="C9CED6"/>
          </a:solidFill>
          <a:ln w="12700">
            <a:solidFill>
              <a:srgbClr val="C9CED6"/>
            </a:solidFill>
            <a:prstDash val="solid"/>
          </a:ln>
        </p:spPr>
      </p:sp>
      <p:sp>
        <p:nvSpPr>
          <p:cNvPr id="99" name="Shape 97"/>
          <p:cNvSpPr/>
          <p:nvPr/>
        </p:nvSpPr>
        <p:spPr>
          <a:xfrm>
            <a:off x="1005840" y="4343400"/>
            <a:ext cx="299923" cy="299923"/>
          </a:xfrm>
          <a:prstGeom prst="ellipse">
            <a:avLst/>
          </a:prstGeom>
          <a:solidFill>
            <a:srgbClr val="D6C5BD"/>
          </a:solidFill>
          <a:ln w="12700">
            <a:solidFill>
              <a:srgbClr val="D6C5BD"/>
            </a:solidFill>
            <a:prstDash val="solid"/>
          </a:ln>
        </p:spPr>
      </p:sp>
      <p:sp>
        <p:nvSpPr>
          <p:cNvPr id="100" name="Shape 98"/>
          <p:cNvSpPr/>
          <p:nvPr/>
        </p:nvSpPr>
        <p:spPr>
          <a:xfrm>
            <a:off x="1371600" y="4343400"/>
            <a:ext cx="299923" cy="299923"/>
          </a:xfrm>
          <a:prstGeom prst="ellipse">
            <a:avLst/>
          </a:prstGeom>
          <a:solidFill>
            <a:srgbClr val="E3BDA5"/>
          </a:solidFill>
          <a:ln w="12700">
            <a:solidFill>
              <a:srgbClr val="E3BDA5"/>
            </a:solidFill>
            <a:prstDash val="solid"/>
          </a:ln>
        </p:spPr>
      </p:sp>
      <p:sp>
        <p:nvSpPr>
          <p:cNvPr id="101" name="Shape 99"/>
          <p:cNvSpPr/>
          <p:nvPr/>
        </p:nvSpPr>
        <p:spPr>
          <a:xfrm>
            <a:off x="1737360" y="4343400"/>
            <a:ext cx="299923" cy="299923"/>
          </a:xfrm>
          <a:prstGeom prst="ellipse">
            <a:avLst/>
          </a:prstGeom>
          <a:solidFill>
            <a:srgbClr val="EEB58F"/>
          </a:solidFill>
          <a:ln w="12700">
            <a:solidFill>
              <a:srgbClr val="EEB58F"/>
            </a:solidFill>
            <a:prstDash val="solid"/>
          </a:ln>
        </p:spPr>
      </p:sp>
      <p:sp>
        <p:nvSpPr>
          <p:cNvPr id="102" name="Shape 100"/>
          <p:cNvSpPr/>
          <p:nvPr/>
        </p:nvSpPr>
        <p:spPr>
          <a:xfrm>
            <a:off x="2103120" y="4343400"/>
            <a:ext cx="299923" cy="299923"/>
          </a:xfrm>
          <a:prstGeom prst="ellipse">
            <a:avLst/>
          </a:prstGeom>
          <a:solidFill>
            <a:srgbClr val="F1AA7B"/>
          </a:solidFill>
          <a:ln w="12700">
            <a:solidFill>
              <a:srgbClr val="F1AA7B"/>
            </a:solidFill>
            <a:prstDash val="solid"/>
          </a:ln>
        </p:spPr>
      </p:sp>
      <p:sp>
        <p:nvSpPr>
          <p:cNvPr id="103" name="Shape 101"/>
          <p:cNvSpPr/>
          <p:nvPr/>
        </p:nvSpPr>
        <p:spPr>
          <a:xfrm>
            <a:off x="2468880" y="4343400"/>
            <a:ext cx="299923" cy="299923"/>
          </a:xfrm>
          <a:prstGeom prst="ellipse">
            <a:avLst/>
          </a:prstGeom>
          <a:solidFill>
            <a:srgbClr val="EB9C6D"/>
          </a:solidFill>
          <a:ln w="12700">
            <a:solidFill>
              <a:srgbClr val="EB9C6D"/>
            </a:solidFill>
            <a:prstDash val="solid"/>
          </a:ln>
        </p:spPr>
      </p:sp>
      <p:sp>
        <p:nvSpPr>
          <p:cNvPr id="104" name="Shape 102"/>
          <p:cNvSpPr/>
          <p:nvPr/>
        </p:nvSpPr>
        <p:spPr>
          <a:xfrm>
            <a:off x="2834640" y="4343400"/>
            <a:ext cx="299923" cy="299923"/>
          </a:xfrm>
          <a:prstGeom prst="ellipse">
            <a:avLst/>
          </a:prstGeom>
          <a:solidFill>
            <a:srgbClr val="E89767"/>
          </a:solidFill>
          <a:ln w="12700">
            <a:solidFill>
              <a:srgbClr val="E89767"/>
            </a:solidFill>
            <a:prstDash val="solid"/>
          </a:ln>
        </p:spPr>
      </p:sp>
      <p:sp>
        <p:nvSpPr>
          <p:cNvPr id="105" name="Shape 103"/>
          <p:cNvSpPr/>
          <p:nvPr/>
        </p:nvSpPr>
        <p:spPr>
          <a:xfrm>
            <a:off x="3200400" y="4343400"/>
            <a:ext cx="299923" cy="299923"/>
          </a:xfrm>
          <a:prstGeom prst="ellipse">
            <a:avLst/>
          </a:prstGeom>
          <a:solidFill>
            <a:srgbClr val="EB9C6D"/>
          </a:solidFill>
          <a:ln w="12700">
            <a:solidFill>
              <a:srgbClr val="EB9C6D"/>
            </a:solidFill>
            <a:prstDash val="solid"/>
          </a:ln>
        </p:spPr>
      </p:sp>
      <p:sp>
        <p:nvSpPr>
          <p:cNvPr id="106" name="Shape 104"/>
          <p:cNvSpPr/>
          <p:nvPr/>
        </p:nvSpPr>
        <p:spPr>
          <a:xfrm>
            <a:off x="3566160" y="4343400"/>
            <a:ext cx="299923" cy="299923"/>
          </a:xfrm>
          <a:prstGeom prst="ellipse">
            <a:avLst/>
          </a:prstGeom>
          <a:solidFill>
            <a:srgbClr val="F1AA7B"/>
          </a:solidFill>
          <a:ln w="12700">
            <a:solidFill>
              <a:srgbClr val="F1AA7B"/>
            </a:solidFill>
            <a:prstDash val="solid"/>
          </a:ln>
        </p:spPr>
      </p:sp>
      <p:sp>
        <p:nvSpPr>
          <p:cNvPr id="107" name="Shape 105"/>
          <p:cNvSpPr/>
          <p:nvPr/>
        </p:nvSpPr>
        <p:spPr>
          <a:xfrm>
            <a:off x="3931920" y="4343400"/>
            <a:ext cx="299923" cy="299923"/>
          </a:xfrm>
          <a:prstGeom prst="ellipse">
            <a:avLst/>
          </a:prstGeom>
          <a:solidFill>
            <a:srgbClr val="EEB58F"/>
          </a:solidFill>
          <a:ln w="12700">
            <a:solidFill>
              <a:srgbClr val="EEB58F"/>
            </a:solidFill>
            <a:prstDash val="solid"/>
          </a:ln>
        </p:spPr>
      </p:sp>
      <p:sp>
        <p:nvSpPr>
          <p:cNvPr id="108" name="Shape 106"/>
          <p:cNvSpPr/>
          <p:nvPr/>
        </p:nvSpPr>
        <p:spPr>
          <a:xfrm>
            <a:off x="4297680" y="4343400"/>
            <a:ext cx="299923" cy="299923"/>
          </a:xfrm>
          <a:prstGeom prst="ellipse">
            <a:avLst/>
          </a:prstGeom>
          <a:solidFill>
            <a:srgbClr val="E3BDA5"/>
          </a:solidFill>
          <a:ln w="12700">
            <a:solidFill>
              <a:srgbClr val="E3BDA5"/>
            </a:solidFill>
            <a:prstDash val="solid"/>
          </a:ln>
        </p:spPr>
      </p:sp>
      <p:sp>
        <p:nvSpPr>
          <p:cNvPr id="109" name="Shape 107"/>
          <p:cNvSpPr/>
          <p:nvPr/>
        </p:nvSpPr>
        <p:spPr>
          <a:xfrm>
            <a:off x="4663440" y="4343400"/>
            <a:ext cx="299923" cy="299923"/>
          </a:xfrm>
          <a:prstGeom prst="ellipse">
            <a:avLst/>
          </a:prstGeom>
          <a:solidFill>
            <a:srgbClr val="D6C5BD"/>
          </a:solidFill>
          <a:ln w="12700">
            <a:solidFill>
              <a:srgbClr val="D6C5BD"/>
            </a:solidFill>
            <a:prstDash val="solid"/>
          </a:ln>
        </p:spPr>
      </p:sp>
      <p:sp>
        <p:nvSpPr>
          <p:cNvPr id="110" name="Shape 108"/>
          <p:cNvSpPr/>
          <p:nvPr/>
        </p:nvSpPr>
        <p:spPr>
          <a:xfrm>
            <a:off x="5029200" y="4343400"/>
            <a:ext cx="299923" cy="299923"/>
          </a:xfrm>
          <a:prstGeom prst="ellipse">
            <a:avLst/>
          </a:prstGeom>
          <a:solidFill>
            <a:srgbClr val="C9CED6"/>
          </a:solidFill>
          <a:ln w="12700">
            <a:solidFill>
              <a:srgbClr val="C9CED6"/>
            </a:solidFill>
            <a:prstDash val="solid"/>
          </a:ln>
        </p:spPr>
      </p:sp>
      <p:sp>
        <p:nvSpPr>
          <p:cNvPr id="111" name="Shape 109"/>
          <p:cNvSpPr/>
          <p:nvPr/>
        </p:nvSpPr>
        <p:spPr>
          <a:xfrm>
            <a:off x="640080" y="4709160"/>
            <a:ext cx="299923" cy="299923"/>
          </a:xfrm>
          <a:prstGeom prst="ellipse">
            <a:avLst/>
          </a:prstGeom>
          <a:solidFill>
            <a:srgbClr val="C1D4E6"/>
          </a:solidFill>
          <a:ln w="12700">
            <a:solidFill>
              <a:srgbClr val="C1D4E6"/>
            </a:solidFill>
            <a:prstDash val="solid"/>
          </a:ln>
        </p:spPr>
      </p:sp>
      <p:sp>
        <p:nvSpPr>
          <p:cNvPr id="112" name="Shape 110"/>
          <p:cNvSpPr/>
          <p:nvPr/>
        </p:nvSpPr>
        <p:spPr>
          <a:xfrm>
            <a:off x="1005840" y="4709160"/>
            <a:ext cx="299923" cy="299923"/>
          </a:xfrm>
          <a:prstGeom prst="ellipse">
            <a:avLst/>
          </a:prstGeom>
          <a:solidFill>
            <a:srgbClr val="CDCCCF"/>
          </a:solidFill>
          <a:ln w="12700">
            <a:solidFill>
              <a:srgbClr val="CDCCCF"/>
            </a:solidFill>
            <a:prstDash val="solid"/>
          </a:ln>
        </p:spPr>
      </p:sp>
      <p:sp>
        <p:nvSpPr>
          <p:cNvPr id="113" name="Shape 111"/>
          <p:cNvSpPr/>
          <p:nvPr/>
        </p:nvSpPr>
        <p:spPr>
          <a:xfrm>
            <a:off x="1371600" y="4709160"/>
            <a:ext cx="299923" cy="299923"/>
          </a:xfrm>
          <a:prstGeom prst="ellipse">
            <a:avLst/>
          </a:prstGeom>
          <a:solidFill>
            <a:srgbClr val="D8C5BA"/>
          </a:solidFill>
          <a:ln w="12700">
            <a:solidFill>
              <a:srgbClr val="D8C5BA"/>
            </a:solidFill>
            <a:prstDash val="solid"/>
          </a:ln>
        </p:spPr>
      </p:sp>
      <p:sp>
        <p:nvSpPr>
          <p:cNvPr id="114" name="Shape 112"/>
          <p:cNvSpPr/>
          <p:nvPr/>
        </p:nvSpPr>
        <p:spPr>
          <a:xfrm>
            <a:off x="1737360" y="4709160"/>
            <a:ext cx="299923" cy="299923"/>
          </a:xfrm>
          <a:prstGeom prst="ellipse">
            <a:avLst/>
          </a:prstGeom>
          <a:solidFill>
            <a:srgbClr val="E1BEA7"/>
          </a:solidFill>
          <a:ln w="12700">
            <a:solidFill>
              <a:srgbClr val="E1BEA7"/>
            </a:solidFill>
            <a:prstDash val="solid"/>
          </a:ln>
        </p:spPr>
      </p:sp>
      <p:sp>
        <p:nvSpPr>
          <p:cNvPr id="115" name="Shape 113"/>
          <p:cNvSpPr/>
          <p:nvPr/>
        </p:nvSpPr>
        <p:spPr>
          <a:xfrm>
            <a:off x="2103120" y="4709160"/>
            <a:ext cx="299923" cy="299923"/>
          </a:xfrm>
          <a:prstGeom prst="ellipse">
            <a:avLst/>
          </a:prstGeom>
          <a:solidFill>
            <a:srgbClr val="E9B998"/>
          </a:solidFill>
          <a:ln w="12700">
            <a:solidFill>
              <a:srgbClr val="E9B998"/>
            </a:solidFill>
            <a:prstDash val="solid"/>
          </a:ln>
        </p:spPr>
      </p:sp>
      <p:sp>
        <p:nvSpPr>
          <p:cNvPr id="116" name="Shape 114"/>
          <p:cNvSpPr/>
          <p:nvPr/>
        </p:nvSpPr>
        <p:spPr>
          <a:xfrm>
            <a:off x="2468880" y="4709160"/>
            <a:ext cx="299923" cy="299923"/>
          </a:xfrm>
          <a:prstGeom prst="ellipse">
            <a:avLst/>
          </a:prstGeom>
          <a:solidFill>
            <a:srgbClr val="EEB58E"/>
          </a:solidFill>
          <a:ln w="12700">
            <a:solidFill>
              <a:srgbClr val="EEB58E"/>
            </a:solidFill>
            <a:prstDash val="solid"/>
          </a:ln>
        </p:spPr>
      </p:sp>
      <p:sp>
        <p:nvSpPr>
          <p:cNvPr id="117" name="Shape 115"/>
          <p:cNvSpPr/>
          <p:nvPr/>
        </p:nvSpPr>
        <p:spPr>
          <a:xfrm>
            <a:off x="2834640" y="4709160"/>
            <a:ext cx="299923" cy="299923"/>
          </a:xfrm>
          <a:prstGeom prst="ellipse">
            <a:avLst/>
          </a:prstGeom>
          <a:solidFill>
            <a:srgbClr val="F0B48B"/>
          </a:solidFill>
          <a:ln w="12700">
            <a:solidFill>
              <a:srgbClr val="F0B48B"/>
            </a:solidFill>
            <a:prstDash val="solid"/>
          </a:ln>
        </p:spPr>
      </p:sp>
      <p:sp>
        <p:nvSpPr>
          <p:cNvPr id="118" name="Shape 116"/>
          <p:cNvSpPr/>
          <p:nvPr/>
        </p:nvSpPr>
        <p:spPr>
          <a:xfrm>
            <a:off x="3200400" y="4709160"/>
            <a:ext cx="299923" cy="299923"/>
          </a:xfrm>
          <a:prstGeom prst="ellipse">
            <a:avLst/>
          </a:prstGeom>
          <a:solidFill>
            <a:srgbClr val="EEB58E"/>
          </a:solidFill>
          <a:ln w="12700">
            <a:solidFill>
              <a:srgbClr val="EEB58E"/>
            </a:solidFill>
            <a:prstDash val="solid"/>
          </a:ln>
        </p:spPr>
      </p:sp>
      <p:sp>
        <p:nvSpPr>
          <p:cNvPr id="119" name="Shape 117"/>
          <p:cNvSpPr/>
          <p:nvPr/>
        </p:nvSpPr>
        <p:spPr>
          <a:xfrm>
            <a:off x="3566160" y="4709160"/>
            <a:ext cx="299923" cy="299923"/>
          </a:xfrm>
          <a:prstGeom prst="ellipse">
            <a:avLst/>
          </a:prstGeom>
          <a:solidFill>
            <a:srgbClr val="E9B998"/>
          </a:solidFill>
          <a:ln w="12700">
            <a:solidFill>
              <a:srgbClr val="E9B998"/>
            </a:solidFill>
            <a:prstDash val="solid"/>
          </a:ln>
        </p:spPr>
      </p:sp>
      <p:sp>
        <p:nvSpPr>
          <p:cNvPr id="120" name="Shape 118"/>
          <p:cNvSpPr/>
          <p:nvPr/>
        </p:nvSpPr>
        <p:spPr>
          <a:xfrm>
            <a:off x="3931920" y="4709160"/>
            <a:ext cx="299923" cy="299923"/>
          </a:xfrm>
          <a:prstGeom prst="ellipse">
            <a:avLst/>
          </a:prstGeom>
          <a:solidFill>
            <a:srgbClr val="E1BEA7"/>
          </a:solidFill>
          <a:ln w="12700">
            <a:solidFill>
              <a:srgbClr val="E1BEA7"/>
            </a:solidFill>
            <a:prstDash val="solid"/>
          </a:ln>
        </p:spPr>
      </p:sp>
      <p:sp>
        <p:nvSpPr>
          <p:cNvPr id="121" name="Shape 119"/>
          <p:cNvSpPr/>
          <p:nvPr/>
        </p:nvSpPr>
        <p:spPr>
          <a:xfrm>
            <a:off x="4297680" y="4709160"/>
            <a:ext cx="299923" cy="299923"/>
          </a:xfrm>
          <a:prstGeom prst="ellipse">
            <a:avLst/>
          </a:prstGeom>
          <a:solidFill>
            <a:srgbClr val="D8C5BA"/>
          </a:solidFill>
          <a:ln w="12700">
            <a:solidFill>
              <a:srgbClr val="D8C5BA"/>
            </a:solidFill>
            <a:prstDash val="solid"/>
          </a:ln>
        </p:spPr>
      </p:sp>
      <p:sp>
        <p:nvSpPr>
          <p:cNvPr id="122" name="Shape 120"/>
          <p:cNvSpPr/>
          <p:nvPr/>
        </p:nvSpPr>
        <p:spPr>
          <a:xfrm>
            <a:off x="4663440" y="4709160"/>
            <a:ext cx="299923" cy="299923"/>
          </a:xfrm>
          <a:prstGeom prst="ellipse">
            <a:avLst/>
          </a:prstGeom>
          <a:solidFill>
            <a:srgbClr val="CDCCCF"/>
          </a:solidFill>
          <a:ln w="12700">
            <a:solidFill>
              <a:srgbClr val="CDCCCF"/>
            </a:solidFill>
            <a:prstDash val="solid"/>
          </a:ln>
        </p:spPr>
      </p:sp>
      <p:sp>
        <p:nvSpPr>
          <p:cNvPr id="123" name="Shape 121"/>
          <p:cNvSpPr/>
          <p:nvPr/>
        </p:nvSpPr>
        <p:spPr>
          <a:xfrm>
            <a:off x="5029200" y="4709160"/>
            <a:ext cx="299923" cy="299923"/>
          </a:xfrm>
          <a:prstGeom prst="ellipse">
            <a:avLst/>
          </a:prstGeom>
          <a:solidFill>
            <a:srgbClr val="C1D4E6"/>
          </a:solidFill>
          <a:ln w="12700">
            <a:solidFill>
              <a:srgbClr val="C1D4E6"/>
            </a:solidFill>
            <a:prstDash val="solid"/>
          </a:ln>
        </p:spPr>
      </p:sp>
      <p:sp>
        <p:nvSpPr>
          <p:cNvPr id="124" name="Shape 122"/>
          <p:cNvSpPr/>
          <p:nvPr/>
        </p:nvSpPr>
        <p:spPr>
          <a:xfrm>
            <a:off x="640080" y="5074920"/>
            <a:ext cx="299923" cy="299923"/>
          </a:xfrm>
          <a:prstGeom prst="ellipse">
            <a:avLst/>
          </a:prstGeom>
          <a:solidFill>
            <a:srgbClr val="BDD7EE"/>
          </a:solidFill>
          <a:ln w="12700">
            <a:solidFill>
              <a:srgbClr val="BDD7EE"/>
            </a:solidFill>
            <a:prstDash val="solid"/>
          </a:ln>
        </p:spPr>
      </p:sp>
      <p:sp>
        <p:nvSpPr>
          <p:cNvPr id="125" name="Shape 123"/>
          <p:cNvSpPr/>
          <p:nvPr/>
        </p:nvSpPr>
        <p:spPr>
          <a:xfrm>
            <a:off x="1005840" y="5074920"/>
            <a:ext cx="299923" cy="299923"/>
          </a:xfrm>
          <a:prstGeom prst="ellipse">
            <a:avLst/>
          </a:prstGeom>
          <a:solidFill>
            <a:srgbClr val="C1D4E5"/>
          </a:solidFill>
          <a:ln w="12700">
            <a:solidFill>
              <a:srgbClr val="C1D4E5"/>
            </a:solidFill>
            <a:prstDash val="solid"/>
          </a:ln>
        </p:spPr>
      </p:sp>
      <p:sp>
        <p:nvSpPr>
          <p:cNvPr id="126" name="Shape 124"/>
          <p:cNvSpPr/>
          <p:nvPr/>
        </p:nvSpPr>
        <p:spPr>
          <a:xfrm>
            <a:off x="1371600" y="5074920"/>
            <a:ext cx="299923" cy="299923"/>
          </a:xfrm>
          <a:prstGeom prst="ellipse">
            <a:avLst/>
          </a:prstGeom>
          <a:solidFill>
            <a:srgbClr val="CBCDD3"/>
          </a:solidFill>
          <a:ln w="12700">
            <a:solidFill>
              <a:srgbClr val="CBCDD3"/>
            </a:solidFill>
            <a:prstDash val="solid"/>
          </a:ln>
        </p:spPr>
      </p:sp>
      <p:sp>
        <p:nvSpPr>
          <p:cNvPr id="127" name="Shape 125"/>
          <p:cNvSpPr/>
          <p:nvPr/>
        </p:nvSpPr>
        <p:spPr>
          <a:xfrm>
            <a:off x="1737360" y="5074920"/>
            <a:ext cx="299923" cy="299923"/>
          </a:xfrm>
          <a:prstGeom prst="ellipse">
            <a:avLst/>
          </a:prstGeom>
          <a:solidFill>
            <a:srgbClr val="D3C8C3"/>
          </a:solidFill>
          <a:ln w="12700">
            <a:solidFill>
              <a:srgbClr val="D3C8C3"/>
            </a:solidFill>
            <a:prstDash val="solid"/>
          </a:ln>
        </p:spPr>
      </p:sp>
      <p:sp>
        <p:nvSpPr>
          <p:cNvPr id="128" name="Shape 126"/>
          <p:cNvSpPr/>
          <p:nvPr/>
        </p:nvSpPr>
        <p:spPr>
          <a:xfrm>
            <a:off x="2103120" y="5074920"/>
            <a:ext cx="299923" cy="299923"/>
          </a:xfrm>
          <a:prstGeom prst="ellipse">
            <a:avLst/>
          </a:prstGeom>
          <a:solidFill>
            <a:srgbClr val="DAC3B6"/>
          </a:solidFill>
          <a:ln w="12700">
            <a:solidFill>
              <a:srgbClr val="DAC3B6"/>
            </a:solidFill>
            <a:prstDash val="solid"/>
          </a:ln>
        </p:spPr>
      </p:sp>
      <p:sp>
        <p:nvSpPr>
          <p:cNvPr id="129" name="Shape 127"/>
          <p:cNvSpPr/>
          <p:nvPr/>
        </p:nvSpPr>
        <p:spPr>
          <a:xfrm>
            <a:off x="2468880" y="5074920"/>
            <a:ext cx="299923" cy="299923"/>
          </a:xfrm>
          <a:prstGeom prst="ellipse">
            <a:avLst/>
          </a:prstGeom>
          <a:solidFill>
            <a:srgbClr val="DEC0AE"/>
          </a:solidFill>
          <a:ln w="12700">
            <a:solidFill>
              <a:srgbClr val="DEC0AE"/>
            </a:solidFill>
            <a:prstDash val="solid"/>
          </a:ln>
        </p:spPr>
      </p:sp>
      <p:sp>
        <p:nvSpPr>
          <p:cNvPr id="130" name="Shape 128"/>
          <p:cNvSpPr/>
          <p:nvPr/>
        </p:nvSpPr>
        <p:spPr>
          <a:xfrm>
            <a:off x="2834640" y="5074920"/>
            <a:ext cx="299923" cy="299923"/>
          </a:xfrm>
          <a:prstGeom prst="ellipse">
            <a:avLst/>
          </a:prstGeom>
          <a:solidFill>
            <a:srgbClr val="DFBFAC"/>
          </a:solidFill>
          <a:ln w="12700">
            <a:solidFill>
              <a:srgbClr val="DFBFAC"/>
            </a:solidFill>
            <a:prstDash val="solid"/>
          </a:ln>
        </p:spPr>
      </p:sp>
      <p:sp>
        <p:nvSpPr>
          <p:cNvPr id="131" name="Shape 129"/>
          <p:cNvSpPr/>
          <p:nvPr/>
        </p:nvSpPr>
        <p:spPr>
          <a:xfrm>
            <a:off x="3200400" y="5074920"/>
            <a:ext cx="299923" cy="299923"/>
          </a:xfrm>
          <a:prstGeom prst="ellipse">
            <a:avLst/>
          </a:prstGeom>
          <a:solidFill>
            <a:srgbClr val="DEC0AE"/>
          </a:solidFill>
          <a:ln w="12700">
            <a:solidFill>
              <a:srgbClr val="DEC0AE"/>
            </a:solidFill>
            <a:prstDash val="solid"/>
          </a:ln>
        </p:spPr>
      </p:sp>
      <p:sp>
        <p:nvSpPr>
          <p:cNvPr id="132" name="Shape 130"/>
          <p:cNvSpPr/>
          <p:nvPr/>
        </p:nvSpPr>
        <p:spPr>
          <a:xfrm>
            <a:off x="3566160" y="5074920"/>
            <a:ext cx="299923" cy="299923"/>
          </a:xfrm>
          <a:prstGeom prst="ellipse">
            <a:avLst/>
          </a:prstGeom>
          <a:solidFill>
            <a:srgbClr val="DAC3B6"/>
          </a:solidFill>
          <a:ln w="12700">
            <a:solidFill>
              <a:srgbClr val="DAC3B6"/>
            </a:solidFill>
            <a:prstDash val="solid"/>
          </a:ln>
        </p:spPr>
      </p:sp>
      <p:sp>
        <p:nvSpPr>
          <p:cNvPr id="133" name="Shape 131"/>
          <p:cNvSpPr/>
          <p:nvPr/>
        </p:nvSpPr>
        <p:spPr>
          <a:xfrm>
            <a:off x="3931920" y="5074920"/>
            <a:ext cx="299923" cy="299923"/>
          </a:xfrm>
          <a:prstGeom prst="ellipse">
            <a:avLst/>
          </a:prstGeom>
          <a:solidFill>
            <a:srgbClr val="D3C8C3"/>
          </a:solidFill>
          <a:ln w="12700">
            <a:solidFill>
              <a:srgbClr val="D3C8C3"/>
            </a:solidFill>
            <a:prstDash val="solid"/>
          </a:ln>
        </p:spPr>
      </p:sp>
      <p:sp>
        <p:nvSpPr>
          <p:cNvPr id="134" name="Shape 132"/>
          <p:cNvSpPr/>
          <p:nvPr/>
        </p:nvSpPr>
        <p:spPr>
          <a:xfrm>
            <a:off x="4297680" y="5074920"/>
            <a:ext cx="299923" cy="299923"/>
          </a:xfrm>
          <a:prstGeom prst="ellipse">
            <a:avLst/>
          </a:prstGeom>
          <a:solidFill>
            <a:srgbClr val="CBCDD3"/>
          </a:solidFill>
          <a:ln w="12700">
            <a:solidFill>
              <a:srgbClr val="CBCDD3"/>
            </a:solidFill>
            <a:prstDash val="solid"/>
          </a:ln>
        </p:spPr>
      </p:sp>
      <p:sp>
        <p:nvSpPr>
          <p:cNvPr id="135" name="Shape 133"/>
          <p:cNvSpPr/>
          <p:nvPr/>
        </p:nvSpPr>
        <p:spPr>
          <a:xfrm>
            <a:off x="4663440" y="5074920"/>
            <a:ext cx="299923" cy="299923"/>
          </a:xfrm>
          <a:prstGeom prst="ellipse">
            <a:avLst/>
          </a:prstGeom>
          <a:solidFill>
            <a:srgbClr val="C1D4E5"/>
          </a:solidFill>
          <a:ln w="12700">
            <a:solidFill>
              <a:srgbClr val="C1D4E5"/>
            </a:solidFill>
            <a:prstDash val="solid"/>
          </a:ln>
        </p:spPr>
      </p:sp>
      <p:sp>
        <p:nvSpPr>
          <p:cNvPr id="136" name="Shape 134"/>
          <p:cNvSpPr/>
          <p:nvPr/>
        </p:nvSpPr>
        <p:spPr>
          <a:xfrm>
            <a:off x="5029200" y="5074920"/>
            <a:ext cx="299923" cy="299923"/>
          </a:xfrm>
          <a:prstGeom prst="ellipse">
            <a:avLst/>
          </a:prstGeom>
          <a:solidFill>
            <a:srgbClr val="BDD7EE"/>
          </a:solidFill>
          <a:ln w="12700">
            <a:solidFill>
              <a:srgbClr val="BDD7EE"/>
            </a:solidFill>
            <a:prstDash val="solid"/>
          </a:ln>
        </p:spPr>
      </p:sp>
      <p:sp>
        <p:nvSpPr>
          <p:cNvPr id="137" name="Shape 135"/>
          <p:cNvSpPr/>
          <p:nvPr/>
        </p:nvSpPr>
        <p:spPr>
          <a:xfrm>
            <a:off x="576072" y="1719072"/>
            <a:ext cx="427939" cy="427939"/>
          </a:xfrm>
          <a:prstGeom prst="ellipse">
            <a:avLst/>
          </a:prstGeom>
          <a:ln w="31750">
            <a:solidFill>
              <a:srgbClr val="1F4E79"/>
            </a:solidFill>
            <a:prstDash val="solid"/>
          </a:ln>
        </p:spPr>
      </p:sp>
      <p:sp>
        <p:nvSpPr>
          <p:cNvPr id="138" name="Shape 136"/>
          <p:cNvSpPr/>
          <p:nvPr/>
        </p:nvSpPr>
        <p:spPr>
          <a:xfrm>
            <a:off x="4965192" y="5010912"/>
            <a:ext cx="427939" cy="427939"/>
          </a:xfrm>
          <a:prstGeom prst="ellipse">
            <a:avLst/>
          </a:prstGeom>
          <a:ln w="31750">
            <a:solidFill>
              <a:srgbClr val="1F4E79"/>
            </a:solidFill>
            <a:prstDash val="solid"/>
          </a:ln>
        </p:spPr>
      </p:sp>
      <p:sp>
        <p:nvSpPr>
          <p:cNvPr id="139" name="Shape 137"/>
          <p:cNvSpPr/>
          <p:nvPr/>
        </p:nvSpPr>
        <p:spPr>
          <a:xfrm>
            <a:off x="2322576" y="3063240"/>
            <a:ext cx="1389888" cy="1024128"/>
          </a:xfrm>
          <a:prstGeom prst="ellipse">
            <a:avLst/>
          </a:prstGeom>
          <a:ln w="25400">
            <a:solidFill>
              <a:srgbClr val="1F4E79"/>
            </a:solidFill>
            <a:prstDash val="dash"/>
          </a:ln>
        </p:spPr>
      </p:sp>
      <p:sp>
        <p:nvSpPr>
          <p:cNvPr id="140" name="Shape 138"/>
          <p:cNvSpPr/>
          <p:nvPr/>
        </p:nvSpPr>
        <p:spPr>
          <a:xfrm>
            <a:off x="640080" y="5641848"/>
            <a:ext cx="237744" cy="237744"/>
          </a:xfrm>
          <a:prstGeom prst="ellipse">
            <a:avLst/>
          </a:prstGeom>
          <a:ln w="31750">
            <a:solidFill>
              <a:srgbClr val="1F4E79"/>
            </a:solidFill>
            <a:prstDash val="solid"/>
          </a:ln>
        </p:spPr>
      </p:sp>
      <p:sp>
        <p:nvSpPr>
          <p:cNvPr id="141" name="Text 139"/>
          <p:cNvSpPr/>
          <p:nvPr/>
        </p:nvSpPr>
        <p:spPr>
          <a:xfrm>
            <a:off x="1005840" y="5577840"/>
            <a:ext cx="2468880" cy="365760"/>
          </a:xfrm>
          <a:prstGeom prst="rect">
            <a:avLst/>
          </a:prstGeom>
          <a:noFill/>
          <a:ln/>
        </p:spPr>
        <p:txBody>
          <a:bodyPr wrap="square" lIns="0" tIns="0" rIns="0" bIns="0" rtlCol="0" anchor="ctr"/>
          <a:lstStyle/>
          <a:p>
            <a:pPr marL="0" indent="0">
              <a:buNone/>
            </a:pPr>
            <a:r>
              <a:rPr lang="en-US" sz="1600" dirty="0">
                <a:solidFill>
                  <a:srgbClr val="262626"/>
                </a:solidFill>
                <a:latin typeface="Calibri" pitchFamily="34" charset="0"/>
                <a:ea typeface="Calibri" pitchFamily="34" charset="-122"/>
                <a:cs typeface="Calibri" pitchFamily="34" charset="-120"/>
              </a:rPr>
              <a:t>NTC sensor (2, on corners)</a:t>
            </a:r>
            <a:endParaRPr lang="en-US" sz="1600" dirty="0"/>
          </a:p>
        </p:txBody>
      </p:sp>
      <p:sp>
        <p:nvSpPr>
          <p:cNvPr id="142" name="Shape 140"/>
          <p:cNvSpPr/>
          <p:nvPr/>
        </p:nvSpPr>
        <p:spPr>
          <a:xfrm>
            <a:off x="3611880" y="5641848"/>
            <a:ext cx="329184" cy="237744"/>
          </a:xfrm>
          <a:prstGeom prst="ellipse">
            <a:avLst/>
          </a:prstGeom>
          <a:ln w="25400">
            <a:solidFill>
              <a:srgbClr val="1F4E79"/>
            </a:solidFill>
            <a:prstDash val="dash"/>
          </a:ln>
        </p:spPr>
      </p:sp>
      <p:sp>
        <p:nvSpPr>
          <p:cNvPr id="143" name="Text 141"/>
          <p:cNvSpPr/>
          <p:nvPr/>
        </p:nvSpPr>
        <p:spPr>
          <a:xfrm>
            <a:off x="4069080" y="5577840"/>
            <a:ext cx="2194560" cy="365760"/>
          </a:xfrm>
          <a:prstGeom prst="rect">
            <a:avLst/>
          </a:prstGeom>
          <a:noFill/>
          <a:ln/>
        </p:spPr>
        <p:txBody>
          <a:bodyPr wrap="square" lIns="0" tIns="0" rIns="0" bIns="0" rtlCol="0" anchor="ctr"/>
          <a:lstStyle/>
          <a:p>
            <a:pPr marL="0" indent="0">
              <a:buNone/>
            </a:pPr>
            <a:r>
              <a:rPr lang="en-US" sz="1600" dirty="0">
                <a:solidFill>
                  <a:srgbClr val="262626"/>
                </a:solidFill>
                <a:latin typeface="Calibri" pitchFamily="34" charset="0"/>
                <a:ea typeface="Calibri" pitchFamily="34" charset="-122"/>
                <a:cs typeface="Calibri" pitchFamily="34" charset="-120"/>
              </a:rPr>
              <a:t>Hottest interior cells</a:t>
            </a:r>
            <a:endParaRPr lang="en-US" sz="1600" dirty="0"/>
          </a:p>
        </p:txBody>
      </p:sp>
      <p:sp>
        <p:nvSpPr>
          <p:cNvPr id="144" name="Text 142"/>
          <p:cNvSpPr/>
          <p:nvPr/>
        </p:nvSpPr>
        <p:spPr>
          <a:xfrm>
            <a:off x="640080" y="5989320"/>
            <a:ext cx="5669280" cy="320040"/>
          </a:xfrm>
          <a:prstGeom prst="rect">
            <a:avLst/>
          </a:prstGeom>
          <a:noFill/>
          <a:ln/>
        </p:spPr>
        <p:txBody>
          <a:bodyPr wrap="square" lIns="0" tIns="0" rIns="0" bIns="0" rtlCol="0" anchor="t"/>
          <a:lstStyle/>
          <a:p>
            <a:pPr marL="0" indent="0">
              <a:buNone/>
            </a:pPr>
            <a:r>
              <a:rPr lang="en-US" sz="1200" dirty="0">
                <a:solidFill>
                  <a:srgbClr val="6B7280"/>
                </a:solidFill>
                <a:latin typeface="Calibri" pitchFamily="34" charset="0"/>
                <a:ea typeface="Calibri" pitchFamily="34" charset="-122"/>
                <a:cs typeface="Calibri" pitchFamily="34" charset="-120"/>
              </a:rPr>
              <a:t>Illustrative layout: blue cooler, orange hotter. Simulated field: app, Heat map tab.</a:t>
            </a:r>
            <a:endParaRPr lang="en-US" sz="1200" dirty="0"/>
          </a:p>
        </p:txBody>
      </p:sp>
      <p:sp>
        <p:nvSpPr>
          <p:cNvPr id="145" name="Text 143"/>
          <p:cNvSpPr/>
          <p:nvPr/>
        </p:nvSpPr>
        <p:spPr>
          <a:xfrm>
            <a:off x="6720840" y="1874520"/>
            <a:ext cx="4919472" cy="4206240"/>
          </a:xfrm>
          <a:prstGeom prst="rect">
            <a:avLst/>
          </a:prstGeom>
          <a:noFill/>
          <a:ln/>
        </p:spPr>
        <p:txBody>
          <a:bodyPr wrap="square" lIns="0" tIns="0" rIns="0" bIns="0" rtlCol="0" anchor="t"/>
          <a:lstStyle/>
          <a:p>
            <a:pPr marL="342900" indent="-342900">
              <a:spcAft>
                <a:spcPts val="1400"/>
              </a:spcAft>
              <a:buSzPct val="100000"/>
              <a:buChar char="•"/>
            </a:pPr>
            <a:r>
              <a:rPr lang="en-US" sz="2000" dirty="0">
                <a:solidFill>
                  <a:srgbClr val="262626"/>
                </a:solidFill>
                <a:latin typeface="Calibri" pitchFamily="34" charset="0"/>
                <a:ea typeface="Calibri" pitchFamily="34" charset="-122"/>
                <a:cs typeface="Calibri" pitchFamily="34" charset="-120"/>
              </a:rPr>
              <a:t>Edge NTCs cool first and read 3.2 K below the hottest cell (limit 3 K)</a:t>
            </a:r>
            <a:endParaRPr lang="en-US" sz="2000" dirty="0"/>
          </a:p>
          <a:p>
            <a:pPr marL="342900" indent="-342900">
              <a:spcAft>
                <a:spcPts val="1400"/>
              </a:spcAft>
              <a:buSzPct val="100000"/>
              <a:buChar char="•"/>
            </a:pPr>
            <a:r>
              <a:rPr lang="en-US" sz="2000" dirty="0">
                <a:solidFill>
                  <a:srgbClr val="262626"/>
                </a:solidFill>
                <a:latin typeface="Calibri" pitchFamily="34" charset="0"/>
                <a:ea typeface="Calibri" pitchFamily="34" charset="-122"/>
                <a:cs typeface="Calibri" pitchFamily="34" charset="-120"/>
              </a:rPr>
              <a:t>The BMS holds charging for 48 min until its sensors cool</a:t>
            </a:r>
            <a:endParaRPr lang="en-US" sz="2000" dirty="0"/>
          </a:p>
          <a:p>
            <a:pPr marL="342900" indent="-342900">
              <a:spcAft>
                <a:spcPts val="1400"/>
              </a:spcAft>
              <a:buSzPct val="100000"/>
              <a:buChar char="•"/>
            </a:pPr>
            <a:r>
              <a:rPr lang="en-US" sz="2000" dirty="0">
                <a:solidFill>
                  <a:srgbClr val="262626"/>
                </a:solidFill>
                <a:latin typeface="Calibri" pitchFamily="34" charset="0"/>
                <a:ea typeface="Calibri" pitchFamily="34" charset="-122"/>
                <a:cs typeface="Calibri" pitchFamily="34" charset="-120"/>
              </a:rPr>
              <a:t>Then interior cells charge at 47.6 °C, above the 45 °C limit</a:t>
            </a:r>
            <a:endParaRPr lang="en-US" sz="2000" dirty="0"/>
          </a:p>
          <a:p>
            <a:pPr marL="342900" indent="-342900">
              <a:spcAft>
                <a:spcPts val="1400"/>
              </a:spcAft>
              <a:buSzPct val="100000"/>
              <a:buChar char="•"/>
            </a:pPr>
            <a:r>
              <a:rPr lang="en-US" sz="2000" dirty="0">
                <a:solidFill>
                  <a:srgbClr val="262626"/>
                </a:solidFill>
                <a:latin typeface="Calibri" pitchFamily="34" charset="0"/>
                <a:ea typeface="Calibri" pitchFamily="34" charset="-122"/>
                <a:cs typeface="Calibri" pitchFamily="34" charset="-120"/>
              </a:rPr>
              <a:t>Nothing on the BMS shows it</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7772400" cy="274320"/>
          </a:xfrm>
          <a:prstGeom prst="rect">
            <a:avLst/>
          </a:prstGeom>
          <a:noFill/>
          <a:ln/>
        </p:spPr>
        <p:txBody>
          <a:bodyPr wrap="square" lIns="0" tIns="0" rIns="0" bIns="0" rtlCol="0" anchor="ctr"/>
          <a:lstStyle/>
          <a:p>
            <a:pPr marL="0" indent="0">
              <a:buNone/>
            </a:pPr>
            <a:r>
              <a:rPr lang="en-US" sz="1200" b="1" dirty="0">
                <a:solidFill>
                  <a:srgbClr val="1F4E79"/>
                </a:solidFill>
                <a:latin typeface="Calibri" pitchFamily="34" charset="0"/>
                <a:ea typeface="Calibri" pitchFamily="34" charset="-122"/>
                <a:cs typeface="Calibri" pitchFamily="34" charset="-120"/>
              </a:rPr>
              <a:t>Problem</a:t>
            </a:r>
            <a:r>
              <a:rPr lang="en-US" sz="1200" dirty="0">
                <a:solidFill>
                  <a:srgbClr val="D0D5DB"/>
                </a:solidFill>
                <a:latin typeface="Calibri" pitchFamily="34" charset="0"/>
                <a:ea typeface="Calibri" pitchFamily="34" charset="-122"/>
                <a:cs typeface="Calibri" pitchFamily="34" charset="-120"/>
              </a:rPr>
              <a:t>   ·   </a:t>
            </a:r>
            <a:r>
              <a:rPr lang="en-US" sz="1200" dirty="0">
                <a:solidFill>
                  <a:srgbClr val="6B7280"/>
                </a:solidFill>
                <a:latin typeface="Calibri" pitchFamily="34" charset="0"/>
                <a:ea typeface="Calibri" pitchFamily="34" charset="-122"/>
                <a:cs typeface="Calibri" pitchFamily="34" charset="-120"/>
              </a:rPr>
              <a:t>Approach</a:t>
            </a:r>
            <a:r>
              <a:rPr lang="en-US" sz="1200" dirty="0">
                <a:solidFill>
                  <a:srgbClr val="D0D5DB"/>
                </a:solidFill>
                <a:latin typeface="Calibri" pitchFamily="34" charset="0"/>
                <a:ea typeface="Calibri" pitchFamily="34" charset="-122"/>
                <a:cs typeface="Calibri" pitchFamily="34" charset="-120"/>
              </a:rPr>
              <a:t>   ·   </a:t>
            </a:r>
            <a:r>
              <a:rPr lang="en-US" sz="1200" dirty="0">
                <a:solidFill>
                  <a:srgbClr val="6B7280"/>
                </a:solidFill>
                <a:latin typeface="Calibri" pitchFamily="34" charset="0"/>
                <a:ea typeface="Calibri" pitchFamily="34" charset="-122"/>
                <a:cs typeface="Calibri" pitchFamily="34" charset="-120"/>
              </a:rPr>
              <a:t>Evidence</a:t>
            </a:r>
            <a:r>
              <a:rPr lang="en-US" sz="1200" dirty="0">
                <a:solidFill>
                  <a:srgbClr val="D0D5DB"/>
                </a:solidFill>
                <a:latin typeface="Calibri" pitchFamily="34" charset="0"/>
                <a:ea typeface="Calibri" pitchFamily="34" charset="-122"/>
                <a:cs typeface="Calibri" pitchFamily="34" charset="-120"/>
              </a:rPr>
              <a:t>   ·   </a:t>
            </a:r>
            <a:r>
              <a:rPr lang="en-US" sz="1200" dirty="0">
                <a:solidFill>
                  <a:srgbClr val="6B7280"/>
                </a:solidFill>
                <a:latin typeface="Calibri" pitchFamily="34" charset="0"/>
                <a:ea typeface="Calibri" pitchFamily="34" charset="-122"/>
                <a:cs typeface="Calibri" pitchFamily="34" charset="-120"/>
              </a:rPr>
              <a:t>Results</a:t>
            </a:r>
            <a:r>
              <a:rPr lang="en-US" sz="1200" dirty="0">
                <a:solidFill>
                  <a:srgbClr val="D0D5DB"/>
                </a:solidFill>
                <a:latin typeface="Calibri" pitchFamily="34" charset="0"/>
                <a:ea typeface="Calibri" pitchFamily="34" charset="-122"/>
                <a:cs typeface="Calibri" pitchFamily="34" charset="-120"/>
              </a:rPr>
              <a:t>   ·   </a:t>
            </a:r>
            <a:r>
              <a:rPr lang="en-US" sz="1200" dirty="0">
                <a:solidFill>
                  <a:srgbClr val="6B7280"/>
                </a:solidFill>
                <a:latin typeface="Calibri" pitchFamily="34" charset="0"/>
                <a:ea typeface="Calibri" pitchFamily="34" charset="-122"/>
                <a:cs typeface="Calibri" pitchFamily="34" charset="-120"/>
              </a:rPr>
              <a:t>Demo</a:t>
            </a:r>
            <a:r>
              <a:rPr lang="en-US" sz="1200" dirty="0">
                <a:solidFill>
                  <a:srgbClr val="D0D5DB"/>
                </a:solidFill>
                <a:latin typeface="Calibri" pitchFamily="34" charset="0"/>
                <a:ea typeface="Calibri" pitchFamily="34" charset="-122"/>
                <a:cs typeface="Calibri" pitchFamily="34" charset="-120"/>
              </a:rPr>
              <a:t>   ·   </a:t>
            </a:r>
            <a:r>
              <a:rPr lang="en-US" sz="1200" dirty="0">
                <a:solidFill>
                  <a:srgbClr val="6B7280"/>
                </a:solidFill>
                <a:latin typeface="Calibri" pitchFamily="34" charset="0"/>
                <a:ea typeface="Calibri" pitchFamily="34" charset="-122"/>
                <a:cs typeface="Calibri" pitchFamily="34" charset="-120"/>
              </a:rPr>
              <a:t>Impact</a:t>
            </a:r>
            <a:endParaRPr lang="en-US" sz="1200" dirty="0"/>
          </a:p>
        </p:txBody>
      </p:sp>
      <p:sp>
        <p:nvSpPr>
          <p:cNvPr id="3" name="Text 1"/>
          <p:cNvSpPr/>
          <p:nvPr/>
        </p:nvSpPr>
        <p:spPr>
          <a:xfrm>
            <a:off x="7985455" y="274320"/>
            <a:ext cx="3657600" cy="274320"/>
          </a:xfrm>
          <a:prstGeom prst="rect">
            <a:avLst/>
          </a:prstGeom>
          <a:noFill/>
          <a:ln/>
        </p:spPr>
        <p:txBody>
          <a:bodyPr wrap="square" lIns="0" tIns="0" rIns="0" bIns="0" rtlCol="0" anchor="ctr"/>
          <a:lstStyle/>
          <a:p>
            <a:pPr marL="0" indent="0" algn="r">
              <a:buNone/>
            </a:pPr>
            <a:r>
              <a:rPr lang="en-US" sz="1200" dirty="0">
                <a:solidFill>
                  <a:srgbClr val="6B7280"/>
                </a:solidFill>
                <a:latin typeface="Calibri" pitchFamily="34" charset="0"/>
                <a:ea typeface="Calibri" pitchFamily="34" charset="-122"/>
                <a:cs typeface="Calibri" pitchFamily="34" charset="-120"/>
              </a:rPr>
              <a:t>Engineering quality · skip if short</a:t>
            </a:r>
            <a:endParaRPr lang="en-US" sz="1200" dirty="0"/>
          </a:p>
        </p:txBody>
      </p:sp>
      <p:sp>
        <p:nvSpPr>
          <p:cNvPr id="4" name="Text 2"/>
          <p:cNvSpPr/>
          <p:nvPr/>
        </p:nvSpPr>
        <p:spPr>
          <a:xfrm>
            <a:off x="548640" y="621792"/>
            <a:ext cx="11094415" cy="914400"/>
          </a:xfrm>
          <a:prstGeom prst="rect">
            <a:avLst/>
          </a:prstGeom>
          <a:noFill/>
          <a:ln/>
        </p:spPr>
        <p:txBody>
          <a:bodyPr wrap="square" lIns="0" tIns="0" rIns="0" bIns="0" rtlCol="0" anchor="t"/>
          <a:lstStyle/>
          <a:p>
            <a:pPr marL="0" indent="0">
              <a:buNone/>
            </a:pPr>
            <a:r>
              <a:rPr lang="en-US" sz="2600" b="1" dirty="0">
                <a:solidFill>
                  <a:srgbClr val="1F4E79"/>
                </a:solidFill>
                <a:latin typeface="Calibri" pitchFamily="34" charset="0"/>
                <a:ea typeface="Calibri" pitchFamily="34" charset="-122"/>
                <a:cs typeface="Calibri" pitchFamily="34" charset="-120"/>
              </a:rPr>
              <a:t>At 40 °C ambient a passive NMC pack needs at least 139 min to charge 10 → 80 %, whatever the firmware does</a:t>
            </a:r>
            <a:endParaRPr lang="en-US" sz="2600" dirty="0"/>
          </a:p>
        </p:txBody>
      </p:sp>
      <p:sp>
        <p:nvSpPr>
          <p:cNvPr id="5" name="Text 3"/>
          <p:cNvSpPr/>
          <p:nvPr/>
        </p:nvSpPr>
        <p:spPr>
          <a:xfrm>
            <a:off x="548640" y="6355080"/>
            <a:ext cx="10058400" cy="274320"/>
          </a:xfrm>
          <a:prstGeom prst="rect">
            <a:avLst/>
          </a:prstGeom>
          <a:noFill/>
          <a:ln/>
        </p:spPr>
        <p:txBody>
          <a:bodyPr wrap="square" lIns="0" tIns="0" rIns="0" bIns="0" rtlCol="0" anchor="ctr"/>
          <a:lstStyle/>
          <a:p>
            <a:pPr marL="0" indent="0">
              <a:buNone/>
            </a:pPr>
            <a:r>
              <a:rPr lang="en-US" sz="1200" dirty="0">
                <a:solidFill>
                  <a:srgbClr val="6B7280"/>
                </a:solidFill>
                <a:latin typeface="Calibri" pitchFamily="34" charset="0"/>
                <a:ea typeface="Calibri" pitchFamily="34" charset="-122"/>
                <a:cs typeface="Calibri" pitchFamily="34" charset="-120"/>
              </a:rPr>
              <a:t>Source: PackForge CLI, thermal-limit charge bound (hand calc) vs simulated 10–80 % charge, baseline</a:t>
            </a:r>
            <a:endParaRPr lang="en-US" sz="1200" dirty="0"/>
          </a:p>
        </p:txBody>
      </p:sp>
      <p:sp>
        <p:nvSpPr>
          <p:cNvPr id="6" name="Text 4"/>
          <p:cNvSpPr/>
          <p:nvPr/>
        </p:nvSpPr>
        <p:spPr>
          <a:xfrm>
            <a:off x="10911535" y="6355080"/>
            <a:ext cx="731520" cy="274320"/>
          </a:xfrm>
          <a:prstGeom prst="rect">
            <a:avLst/>
          </a:prstGeom>
          <a:noFill/>
          <a:ln/>
        </p:spPr>
        <p:txBody>
          <a:bodyPr wrap="square" lIns="0" tIns="0" rIns="0" bIns="0" rtlCol="0" anchor="ctr"/>
          <a:lstStyle/>
          <a:p>
            <a:pPr marL="0" indent="0" algn="r">
              <a:buNone/>
            </a:pPr>
            <a:r>
              <a:rPr lang="en-US" sz="1200" dirty="0">
                <a:solidFill>
                  <a:srgbClr val="6B7280"/>
                </a:solidFill>
                <a:latin typeface="Calibri" pitchFamily="34" charset="0"/>
                <a:ea typeface="Calibri" pitchFamily="34" charset="-122"/>
                <a:cs typeface="Calibri" pitchFamily="34" charset="-120"/>
              </a:rPr>
              <a:t>5</a:t>
            </a:r>
            <a:endParaRPr lang="en-US" sz="1200" dirty="0"/>
          </a:p>
        </p:txBody>
      </p:sp>
      <p:graphicFrame>
        <p:nvGraphicFramePr>
          <p:cNvPr id="7" name="Chart 0"/>
          <p:cNvGraphicFramePr/>
          <p:nvPr/>
        </p:nvGraphicFramePr>
        <p:xfrm>
          <a:off x="548640" y="1737360"/>
          <a:ext cx="5852160" cy="3840480"/>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 5"/>
          <p:cNvSpPr/>
          <p:nvPr/>
        </p:nvSpPr>
        <p:spPr>
          <a:xfrm>
            <a:off x="548640" y="5669280"/>
            <a:ext cx="5852160" cy="548640"/>
          </a:xfrm>
          <a:prstGeom prst="rect">
            <a:avLst/>
          </a:prstGeom>
          <a:noFill/>
          <a:ln/>
        </p:spPr>
        <p:txBody>
          <a:bodyPr wrap="square" lIns="0" tIns="0" rIns="0" bIns="0" rtlCol="0" anchor="t"/>
          <a:lstStyle/>
          <a:p>
            <a:pPr marL="0" indent="0">
              <a:buNone/>
            </a:pPr>
            <a:r>
              <a:rPr lang="en-US" sz="1600" dirty="0">
                <a:solidFill>
                  <a:srgbClr val="6B7280"/>
                </a:solidFill>
                <a:latin typeface="Calibri" pitchFamily="34" charset="0"/>
                <a:ea typeface="Calibri" pitchFamily="34" charset="-122"/>
                <a:cs typeface="Calibri" pitchFamily="34" charset="-120"/>
              </a:rPr>
              <a:t>A test keeps the cold-start simulation within 0.95–1.3× of this bound.</a:t>
            </a:r>
            <a:endParaRPr lang="en-US" sz="1600" dirty="0"/>
          </a:p>
        </p:txBody>
      </p:sp>
      <p:sp>
        <p:nvSpPr>
          <p:cNvPr id="9" name="Text 6"/>
          <p:cNvSpPr/>
          <p:nvPr/>
        </p:nvSpPr>
        <p:spPr>
          <a:xfrm>
            <a:off x="6720840" y="1874520"/>
            <a:ext cx="4919472" cy="4206240"/>
          </a:xfrm>
          <a:prstGeom prst="rect">
            <a:avLst/>
          </a:prstGeom>
          <a:noFill/>
          <a:ln/>
        </p:spPr>
        <p:txBody>
          <a:bodyPr wrap="square" lIns="0" tIns="0" rIns="0" bIns="0" rtlCol="0" anchor="t"/>
          <a:lstStyle/>
          <a:p>
            <a:pPr marL="342900" indent="-342900">
              <a:spcAft>
                <a:spcPts val="1400"/>
              </a:spcAft>
              <a:buSzPct val="100000"/>
              <a:buChar char="•"/>
            </a:pPr>
            <a:r>
              <a:rPr lang="en-US" sz="2000" dirty="0">
                <a:solidFill>
                  <a:srgbClr val="262626"/>
                </a:solidFill>
                <a:latin typeface="Calibri" pitchFamily="34" charset="0"/>
                <a:ea typeface="Calibri" pitchFamily="34" charset="-122"/>
                <a:cs typeface="Calibri" pitchFamily="34" charset="-120"/>
              </a:rPr>
              <a:t>40 °C ambient leaves 5 K below the 45 °C limit for all the charge heat</a:t>
            </a:r>
            <a:endParaRPr lang="en-US" sz="2000" dirty="0"/>
          </a:p>
          <a:p>
            <a:pPr marL="342900" indent="-342900">
              <a:spcAft>
                <a:spcPts val="1400"/>
              </a:spcAft>
              <a:buSzPct val="100000"/>
              <a:buChar char="•"/>
            </a:pPr>
            <a:r>
              <a:rPr lang="en-US" sz="2000" dirty="0">
                <a:solidFill>
                  <a:srgbClr val="262626"/>
                </a:solidFill>
                <a:latin typeface="Calibri" pitchFamily="34" charset="0"/>
                <a:ea typeface="Calibri" pitchFamily="34" charset="-122"/>
                <a:cs typeface="Calibri" pitchFamily="34" charset="-120"/>
              </a:rPr>
              <a:t>Bound: full current to the limit, then the current that holds it there</a:t>
            </a:r>
            <a:endParaRPr lang="en-US" sz="2000" dirty="0"/>
          </a:p>
          <a:p>
            <a:pPr marL="342900" indent="-342900">
              <a:spcAft>
                <a:spcPts val="1400"/>
              </a:spcAft>
              <a:buSzPct val="100000"/>
              <a:buChar char="•"/>
            </a:pPr>
            <a:r>
              <a:rPr lang="en-US" sz="2000" dirty="0">
                <a:solidFill>
                  <a:srgbClr val="262626"/>
                </a:solidFill>
                <a:latin typeface="Calibri" pitchFamily="34" charset="0"/>
                <a:ea typeface="Calibri" pitchFamily="34" charset="-122"/>
                <a:cs typeface="Calibri" pitchFamily="34" charset="-120"/>
              </a:rPr>
              <a:t>Charging faster needs hardware: better cooling (A) or a cooler-running cell (B)</a:t>
            </a:r>
            <a:endParaRPr lang="en-US" sz="2000" dirty="0"/>
          </a:p>
          <a:p>
            <a:pPr marL="342900" indent="-342900">
              <a:spcAft>
                <a:spcPts val="1400"/>
              </a:spcAft>
              <a:buSzPct val="100000"/>
              <a:buChar char="•"/>
            </a:pPr>
            <a:r>
              <a:rPr lang="en-US" sz="2000" dirty="0">
                <a:solidFill>
                  <a:srgbClr val="262626"/>
                </a:solidFill>
                <a:latin typeface="Calibri" pitchFamily="34" charset="0"/>
                <a:ea typeface="Calibri" pitchFamily="34" charset="-122"/>
                <a:cs typeface="Calibri" pitchFamily="34" charset="-120"/>
              </a:rPr>
              <a:t>Firmware (C) can make charging safe, not faster</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7772400" cy="274320"/>
          </a:xfrm>
          <a:prstGeom prst="rect">
            <a:avLst/>
          </a:prstGeom>
          <a:noFill/>
          <a:ln/>
        </p:spPr>
        <p:txBody>
          <a:bodyPr wrap="square" lIns="0" tIns="0" rIns="0" bIns="0" rtlCol="0" anchor="ctr"/>
          <a:lstStyle/>
          <a:p>
            <a:pPr marL="0" indent="0">
              <a:buNone/>
            </a:pPr>
            <a:r>
              <a:rPr lang="en-US" sz="1200" dirty="0">
                <a:solidFill>
                  <a:srgbClr val="6B7280"/>
                </a:solidFill>
                <a:latin typeface="Calibri" pitchFamily="34" charset="0"/>
                <a:ea typeface="Calibri" pitchFamily="34" charset="-122"/>
                <a:cs typeface="Calibri" pitchFamily="34" charset="-120"/>
              </a:rPr>
              <a:t>Problem</a:t>
            </a:r>
            <a:r>
              <a:rPr lang="en-US" sz="1200" dirty="0">
                <a:solidFill>
                  <a:srgbClr val="D0D5DB"/>
                </a:solidFill>
                <a:latin typeface="Calibri" pitchFamily="34" charset="0"/>
                <a:ea typeface="Calibri" pitchFamily="34" charset="-122"/>
                <a:cs typeface="Calibri" pitchFamily="34" charset="-120"/>
              </a:rPr>
              <a:t>   ·   </a:t>
            </a:r>
            <a:r>
              <a:rPr lang="en-US" sz="1200" b="1" dirty="0">
                <a:solidFill>
                  <a:srgbClr val="1F4E79"/>
                </a:solidFill>
                <a:latin typeface="Calibri" pitchFamily="34" charset="0"/>
                <a:ea typeface="Calibri" pitchFamily="34" charset="-122"/>
                <a:cs typeface="Calibri" pitchFamily="34" charset="-120"/>
              </a:rPr>
              <a:t>Approach</a:t>
            </a:r>
            <a:r>
              <a:rPr lang="en-US" sz="1200" dirty="0">
                <a:solidFill>
                  <a:srgbClr val="D0D5DB"/>
                </a:solidFill>
                <a:latin typeface="Calibri" pitchFamily="34" charset="0"/>
                <a:ea typeface="Calibri" pitchFamily="34" charset="-122"/>
                <a:cs typeface="Calibri" pitchFamily="34" charset="-120"/>
              </a:rPr>
              <a:t>   ·   </a:t>
            </a:r>
            <a:r>
              <a:rPr lang="en-US" sz="1200" dirty="0">
                <a:solidFill>
                  <a:srgbClr val="6B7280"/>
                </a:solidFill>
                <a:latin typeface="Calibri" pitchFamily="34" charset="0"/>
                <a:ea typeface="Calibri" pitchFamily="34" charset="-122"/>
                <a:cs typeface="Calibri" pitchFamily="34" charset="-120"/>
              </a:rPr>
              <a:t>Evidence</a:t>
            </a:r>
            <a:r>
              <a:rPr lang="en-US" sz="1200" dirty="0">
                <a:solidFill>
                  <a:srgbClr val="D0D5DB"/>
                </a:solidFill>
                <a:latin typeface="Calibri" pitchFamily="34" charset="0"/>
                <a:ea typeface="Calibri" pitchFamily="34" charset="-122"/>
                <a:cs typeface="Calibri" pitchFamily="34" charset="-120"/>
              </a:rPr>
              <a:t>   ·   </a:t>
            </a:r>
            <a:r>
              <a:rPr lang="en-US" sz="1200" dirty="0">
                <a:solidFill>
                  <a:srgbClr val="6B7280"/>
                </a:solidFill>
                <a:latin typeface="Calibri" pitchFamily="34" charset="0"/>
                <a:ea typeface="Calibri" pitchFamily="34" charset="-122"/>
                <a:cs typeface="Calibri" pitchFamily="34" charset="-120"/>
              </a:rPr>
              <a:t>Results</a:t>
            </a:r>
            <a:r>
              <a:rPr lang="en-US" sz="1200" dirty="0">
                <a:solidFill>
                  <a:srgbClr val="D0D5DB"/>
                </a:solidFill>
                <a:latin typeface="Calibri" pitchFamily="34" charset="0"/>
                <a:ea typeface="Calibri" pitchFamily="34" charset="-122"/>
                <a:cs typeface="Calibri" pitchFamily="34" charset="-120"/>
              </a:rPr>
              <a:t>   ·   </a:t>
            </a:r>
            <a:r>
              <a:rPr lang="en-US" sz="1200" dirty="0">
                <a:solidFill>
                  <a:srgbClr val="6B7280"/>
                </a:solidFill>
                <a:latin typeface="Calibri" pitchFamily="34" charset="0"/>
                <a:ea typeface="Calibri" pitchFamily="34" charset="-122"/>
                <a:cs typeface="Calibri" pitchFamily="34" charset="-120"/>
              </a:rPr>
              <a:t>Demo</a:t>
            </a:r>
            <a:r>
              <a:rPr lang="en-US" sz="1200" dirty="0">
                <a:solidFill>
                  <a:srgbClr val="D0D5DB"/>
                </a:solidFill>
                <a:latin typeface="Calibri" pitchFamily="34" charset="0"/>
                <a:ea typeface="Calibri" pitchFamily="34" charset="-122"/>
                <a:cs typeface="Calibri" pitchFamily="34" charset="-120"/>
              </a:rPr>
              <a:t>   ·   </a:t>
            </a:r>
            <a:r>
              <a:rPr lang="en-US" sz="1200" dirty="0">
                <a:solidFill>
                  <a:srgbClr val="6B7280"/>
                </a:solidFill>
                <a:latin typeface="Calibri" pitchFamily="34" charset="0"/>
                <a:ea typeface="Calibri" pitchFamily="34" charset="-122"/>
                <a:cs typeface="Calibri" pitchFamily="34" charset="-120"/>
              </a:rPr>
              <a:t>Impact</a:t>
            </a:r>
            <a:endParaRPr lang="en-US" sz="1200" dirty="0"/>
          </a:p>
        </p:txBody>
      </p:sp>
      <p:sp>
        <p:nvSpPr>
          <p:cNvPr id="3" name="Text 1"/>
          <p:cNvSpPr/>
          <p:nvPr/>
        </p:nvSpPr>
        <p:spPr>
          <a:xfrm>
            <a:off x="7985455" y="274320"/>
            <a:ext cx="3657600" cy="274320"/>
          </a:xfrm>
          <a:prstGeom prst="rect">
            <a:avLst/>
          </a:prstGeom>
          <a:noFill/>
          <a:ln/>
        </p:spPr>
        <p:txBody>
          <a:bodyPr wrap="square" lIns="0" tIns="0" rIns="0" bIns="0" rtlCol="0" anchor="ctr"/>
          <a:lstStyle/>
          <a:p>
            <a:pPr marL="0" indent="0" algn="r">
              <a:buNone/>
            </a:pPr>
            <a:r>
              <a:rPr lang="en-US" sz="1200" dirty="0">
                <a:solidFill>
                  <a:srgbClr val="6B7280"/>
                </a:solidFill>
                <a:latin typeface="Calibri" pitchFamily="34" charset="0"/>
                <a:ea typeface="Calibri" pitchFamily="34" charset="-122"/>
                <a:cs typeface="Calibri" pitchFamily="34" charset="-120"/>
              </a:rPr>
              <a:t>Innovation · Technical feasibility</a:t>
            </a:r>
            <a:endParaRPr lang="en-US" sz="1200" dirty="0"/>
          </a:p>
        </p:txBody>
      </p:sp>
      <p:sp>
        <p:nvSpPr>
          <p:cNvPr id="4" name="Text 2"/>
          <p:cNvSpPr/>
          <p:nvPr/>
        </p:nvSpPr>
        <p:spPr>
          <a:xfrm>
            <a:off x="548640" y="621792"/>
            <a:ext cx="11094415" cy="914400"/>
          </a:xfrm>
          <a:prstGeom prst="rect">
            <a:avLst/>
          </a:prstGeom>
          <a:noFill/>
          <a:ln/>
        </p:spPr>
        <p:txBody>
          <a:bodyPr wrap="square" lIns="0" tIns="0" rIns="0" bIns="0" rtlCol="0" anchor="t"/>
          <a:lstStyle/>
          <a:p>
            <a:pPr marL="0" indent="0">
              <a:buNone/>
            </a:pPr>
            <a:r>
              <a:rPr lang="en-US" sz="2600" b="1" dirty="0">
                <a:solidFill>
                  <a:srgbClr val="1F4E79"/>
                </a:solidFill>
                <a:latin typeface="Calibri" pitchFamily="34" charset="0"/>
                <a:ea typeface="Calibri" pitchFamily="34" charset="-122"/>
                <a:cs typeface="Calibri" pitchFamily="34" charset="-120"/>
              </a:rPr>
              <a:t>One design file feeds the simulator, the conflict checker and the ranking, so every option is tested the same way</a:t>
            </a:r>
            <a:endParaRPr lang="en-US" sz="2600" dirty="0"/>
          </a:p>
        </p:txBody>
      </p:sp>
      <p:sp>
        <p:nvSpPr>
          <p:cNvPr id="5" name="Text 3"/>
          <p:cNvSpPr/>
          <p:nvPr/>
        </p:nvSpPr>
        <p:spPr>
          <a:xfrm>
            <a:off x="548640" y="6355080"/>
            <a:ext cx="10058400" cy="274320"/>
          </a:xfrm>
          <a:prstGeom prst="rect">
            <a:avLst/>
          </a:prstGeom>
          <a:noFill/>
          <a:ln/>
        </p:spPr>
        <p:txBody>
          <a:bodyPr wrap="square" lIns="0" tIns="0" rIns="0" bIns="0" rtlCol="0" anchor="ctr"/>
          <a:lstStyle/>
          <a:p>
            <a:pPr marL="0" indent="0">
              <a:buNone/>
            </a:pPr>
            <a:r>
              <a:rPr lang="en-US" sz="1200" dirty="0">
                <a:solidFill>
                  <a:srgbClr val="6B7280"/>
                </a:solidFill>
                <a:latin typeface="Calibri" pitchFamily="34" charset="0"/>
                <a:ea typeface="Calibri" pitchFamily="34" charset="-122"/>
                <a:cs typeface="Calibri" pitchFamily="34" charset="-120"/>
              </a:rPr>
              <a:t>PackForge: packforge/ Python package; Streamlit UI, CLI and HTML report share one core. Details: Appendix A6.</a:t>
            </a:r>
            <a:endParaRPr lang="en-US" sz="1200" dirty="0"/>
          </a:p>
        </p:txBody>
      </p:sp>
      <p:sp>
        <p:nvSpPr>
          <p:cNvPr id="6" name="Text 4"/>
          <p:cNvSpPr/>
          <p:nvPr/>
        </p:nvSpPr>
        <p:spPr>
          <a:xfrm>
            <a:off x="10911535" y="6355080"/>
            <a:ext cx="731520" cy="274320"/>
          </a:xfrm>
          <a:prstGeom prst="rect">
            <a:avLst/>
          </a:prstGeom>
          <a:noFill/>
          <a:ln/>
        </p:spPr>
        <p:txBody>
          <a:bodyPr wrap="square" lIns="0" tIns="0" rIns="0" bIns="0" rtlCol="0" anchor="ctr"/>
          <a:lstStyle/>
          <a:p>
            <a:pPr marL="0" indent="0" algn="r">
              <a:buNone/>
            </a:pPr>
            <a:r>
              <a:rPr lang="en-US" sz="1200" dirty="0">
                <a:solidFill>
                  <a:srgbClr val="6B7280"/>
                </a:solidFill>
                <a:latin typeface="Calibri" pitchFamily="34" charset="0"/>
                <a:ea typeface="Calibri" pitchFamily="34" charset="-122"/>
                <a:cs typeface="Calibri" pitchFamily="34" charset="-120"/>
              </a:rPr>
              <a:t>6</a:t>
            </a:r>
            <a:endParaRPr lang="en-US" sz="1200" dirty="0"/>
          </a:p>
        </p:txBody>
      </p:sp>
      <p:sp>
        <p:nvSpPr>
          <p:cNvPr id="7" name="Shape 5"/>
          <p:cNvSpPr/>
          <p:nvPr/>
        </p:nvSpPr>
        <p:spPr>
          <a:xfrm>
            <a:off x="548640" y="1783080"/>
            <a:ext cx="1984797" cy="2240280"/>
          </a:xfrm>
          <a:prstGeom prst="rect">
            <a:avLst/>
          </a:prstGeom>
          <a:solidFill>
            <a:srgbClr val="F2F4F7"/>
          </a:solidFill>
          <a:ln w="12700">
            <a:solidFill>
              <a:srgbClr val="F2F4F7"/>
            </a:solidFill>
            <a:prstDash val="solid"/>
          </a:ln>
        </p:spPr>
      </p:sp>
      <p:sp>
        <p:nvSpPr>
          <p:cNvPr id="8" name="Text 6"/>
          <p:cNvSpPr/>
          <p:nvPr/>
        </p:nvSpPr>
        <p:spPr>
          <a:xfrm>
            <a:off x="713232" y="1901952"/>
            <a:ext cx="1655613" cy="2011680"/>
          </a:xfrm>
          <a:prstGeom prst="rect">
            <a:avLst/>
          </a:prstGeom>
          <a:noFill/>
          <a:ln/>
        </p:spPr>
        <p:txBody>
          <a:bodyPr wrap="square" lIns="0" tIns="0" rIns="0" bIns="0" rtlCol="0" anchor="t"/>
          <a:lstStyle/>
          <a:p>
            <a:pPr marL="0" indent="0">
              <a:spcAft>
                <a:spcPts val="600"/>
              </a:spcAft>
              <a:buNone/>
            </a:pPr>
            <a:r>
              <a:rPr lang="en-US" sz="1800" b="1" dirty="0">
                <a:solidFill>
                  <a:srgbClr val="1F4E79"/>
                </a:solidFill>
                <a:latin typeface="Calibri" pitchFamily="34" charset="0"/>
                <a:ea typeface="Calibri" pitchFamily="34" charset="-122"/>
                <a:cs typeface="Calibri" pitchFamily="34" charset="-120"/>
              </a:rPr>
              <a:t>1 · Design file</a:t>
            </a:r>
            <a:endParaRPr lang="en-US" sz="1800" dirty="0"/>
          </a:p>
          <a:p>
            <a:pPr marL="0" indent="0">
              <a:spcAft>
                <a:spcPts val="600"/>
              </a:spcAft>
              <a:buNone/>
            </a:pPr>
            <a:r>
              <a:rPr lang="en-US" sz="1600" dirty="0">
                <a:solidFill>
                  <a:srgbClr val="262626"/>
                </a:solidFill>
                <a:latin typeface="Calibri" pitchFamily="34" charset="0"/>
                <a:ea typeface="Calibri" pitchFamily="34" charset="-122"/>
                <a:cs typeface="Calibri" pitchFamily="34" charset="-120"/>
              </a:rPr>
              <a:t>Cell, S×P layout, cooling, sensors, BMS. Options hold only their diffs.</a:t>
            </a:r>
            <a:endParaRPr lang="en-US" sz="1800" dirty="0"/>
          </a:p>
        </p:txBody>
      </p:sp>
      <p:sp>
        <p:nvSpPr>
          <p:cNvPr id="9" name="Shape 7"/>
          <p:cNvSpPr/>
          <p:nvPr/>
        </p:nvSpPr>
        <p:spPr>
          <a:xfrm>
            <a:off x="2570013" y="2743200"/>
            <a:ext cx="219456" cy="274320"/>
          </a:xfrm>
          <a:prstGeom prst="rightArrow">
            <a:avLst/>
          </a:prstGeom>
          <a:solidFill>
            <a:srgbClr val="A6ADB4"/>
          </a:solidFill>
          <a:ln w="12700">
            <a:solidFill>
              <a:srgbClr val="A6ADB4"/>
            </a:solidFill>
            <a:prstDash val="solid"/>
          </a:ln>
        </p:spPr>
      </p:sp>
      <p:sp>
        <p:nvSpPr>
          <p:cNvPr id="10" name="Shape 8"/>
          <p:cNvSpPr/>
          <p:nvPr/>
        </p:nvSpPr>
        <p:spPr>
          <a:xfrm>
            <a:off x="548640" y="4572000"/>
            <a:ext cx="1984797" cy="1417320"/>
          </a:xfrm>
          <a:prstGeom prst="rect">
            <a:avLst/>
          </a:prstGeom>
          <a:solidFill>
            <a:srgbClr val="DEEAF6"/>
          </a:solidFill>
          <a:ln w="12700">
            <a:solidFill>
              <a:srgbClr val="DEEAF6"/>
            </a:solidFill>
            <a:prstDash val="solid"/>
          </a:ln>
        </p:spPr>
      </p:sp>
      <p:sp>
        <p:nvSpPr>
          <p:cNvPr id="11" name="Text 9"/>
          <p:cNvSpPr/>
          <p:nvPr/>
        </p:nvSpPr>
        <p:spPr>
          <a:xfrm>
            <a:off x="713232" y="4645152"/>
            <a:ext cx="1655613" cy="1280160"/>
          </a:xfrm>
          <a:prstGeom prst="rect">
            <a:avLst/>
          </a:prstGeom>
          <a:noFill/>
          <a:ln/>
        </p:spPr>
        <p:txBody>
          <a:bodyPr wrap="square" lIns="0" tIns="0" rIns="0" bIns="0" rtlCol="0" anchor="ctr"/>
          <a:lstStyle/>
          <a:p>
            <a:pPr marL="0" indent="0">
              <a:buNone/>
            </a:pPr>
            <a:r>
              <a:rPr lang="en-US" sz="1600" b="1" dirty="0">
                <a:solidFill>
                  <a:srgbClr val="1F4E79"/>
                </a:solidFill>
                <a:latin typeface="Calibri" pitchFamily="34" charset="0"/>
                <a:ea typeface="Calibri" pitchFamily="34" charset="-122"/>
                <a:cs typeface="Calibri" pitchFamily="34" charset="-120"/>
              </a:rPr>
              <a:t>One source of truth, no copied parameters</a:t>
            </a:r>
            <a:endParaRPr lang="en-US" sz="1600" dirty="0"/>
          </a:p>
        </p:txBody>
      </p:sp>
      <p:sp>
        <p:nvSpPr>
          <p:cNvPr id="12" name="Shape 10"/>
          <p:cNvSpPr/>
          <p:nvPr/>
        </p:nvSpPr>
        <p:spPr>
          <a:xfrm>
            <a:off x="2826045" y="1783080"/>
            <a:ext cx="1984797" cy="2240280"/>
          </a:xfrm>
          <a:prstGeom prst="rect">
            <a:avLst/>
          </a:prstGeom>
          <a:solidFill>
            <a:srgbClr val="F2F4F7"/>
          </a:solidFill>
          <a:ln w="12700">
            <a:solidFill>
              <a:srgbClr val="F2F4F7"/>
            </a:solidFill>
            <a:prstDash val="solid"/>
          </a:ln>
        </p:spPr>
      </p:sp>
      <p:sp>
        <p:nvSpPr>
          <p:cNvPr id="13" name="Text 11"/>
          <p:cNvSpPr/>
          <p:nvPr/>
        </p:nvSpPr>
        <p:spPr>
          <a:xfrm>
            <a:off x="2990637" y="1901952"/>
            <a:ext cx="1655613" cy="2011680"/>
          </a:xfrm>
          <a:prstGeom prst="rect">
            <a:avLst/>
          </a:prstGeom>
          <a:noFill/>
          <a:ln/>
        </p:spPr>
        <p:txBody>
          <a:bodyPr wrap="square" lIns="0" tIns="0" rIns="0" bIns="0" rtlCol="0" anchor="t"/>
          <a:lstStyle/>
          <a:p>
            <a:pPr marL="0" indent="0">
              <a:spcAft>
                <a:spcPts val="600"/>
              </a:spcAft>
              <a:buNone/>
            </a:pPr>
            <a:r>
              <a:rPr lang="en-US" sz="1800" b="1" dirty="0">
                <a:solidFill>
                  <a:srgbClr val="1F4E79"/>
                </a:solidFill>
                <a:latin typeface="Calibri" pitchFamily="34" charset="0"/>
                <a:ea typeface="Calibri" pitchFamily="34" charset="-122"/>
                <a:cs typeface="Calibri" pitchFamily="34" charset="-120"/>
              </a:rPr>
              <a:t>2 · Sim + BMS</a:t>
            </a:r>
            <a:endParaRPr lang="en-US" sz="1800" dirty="0"/>
          </a:p>
          <a:p>
            <a:pPr marL="0" indent="0">
              <a:spcAft>
                <a:spcPts val="600"/>
              </a:spcAft>
              <a:buNone/>
            </a:pPr>
            <a:r>
              <a:rPr lang="en-US" sz="1600" dirty="0">
                <a:solidFill>
                  <a:srgbClr val="262626"/>
                </a:solidFill>
                <a:latin typeface="Calibri" pitchFamily="34" charset="0"/>
                <a:ea typeface="Calibri" pitchFamily="34" charset="-122"/>
                <a:cs typeface="Calibri" pitchFamily="34" charset="-120"/>
              </a:rPr>
              <a:t>1-RC cell, one thermal node per cell. The BMS sees only its sensors.</a:t>
            </a:r>
            <a:endParaRPr lang="en-US" sz="1800" dirty="0"/>
          </a:p>
        </p:txBody>
      </p:sp>
      <p:sp>
        <p:nvSpPr>
          <p:cNvPr id="14" name="Shape 12"/>
          <p:cNvSpPr/>
          <p:nvPr/>
        </p:nvSpPr>
        <p:spPr>
          <a:xfrm>
            <a:off x="4847417" y="2743200"/>
            <a:ext cx="219456" cy="274320"/>
          </a:xfrm>
          <a:prstGeom prst="rightArrow">
            <a:avLst/>
          </a:prstGeom>
          <a:solidFill>
            <a:srgbClr val="A6ADB4"/>
          </a:solidFill>
          <a:ln w="12700">
            <a:solidFill>
              <a:srgbClr val="A6ADB4"/>
            </a:solidFill>
            <a:prstDash val="solid"/>
          </a:ln>
        </p:spPr>
      </p:sp>
      <p:sp>
        <p:nvSpPr>
          <p:cNvPr id="15" name="Shape 13"/>
          <p:cNvSpPr/>
          <p:nvPr/>
        </p:nvSpPr>
        <p:spPr>
          <a:xfrm>
            <a:off x="2826045" y="4572000"/>
            <a:ext cx="1984797" cy="1417320"/>
          </a:xfrm>
          <a:prstGeom prst="rect">
            <a:avLst/>
          </a:prstGeom>
          <a:solidFill>
            <a:srgbClr val="DEEAF6"/>
          </a:solidFill>
          <a:ln w="12700">
            <a:solidFill>
              <a:srgbClr val="DEEAF6"/>
            </a:solidFill>
            <a:prstDash val="solid"/>
          </a:ln>
        </p:spPr>
      </p:sp>
      <p:sp>
        <p:nvSpPr>
          <p:cNvPr id="16" name="Text 14"/>
          <p:cNvSpPr/>
          <p:nvPr/>
        </p:nvSpPr>
        <p:spPr>
          <a:xfrm>
            <a:off x="2990637" y="4645152"/>
            <a:ext cx="1655613" cy="1280160"/>
          </a:xfrm>
          <a:prstGeom prst="rect">
            <a:avLst/>
          </a:prstGeom>
          <a:noFill/>
          <a:ln/>
        </p:spPr>
        <p:txBody>
          <a:bodyPr wrap="square" lIns="0" tIns="0" rIns="0" bIns="0" rtlCol="0" anchor="ctr"/>
          <a:lstStyle/>
          <a:p>
            <a:pPr marL="0" indent="0">
              <a:buNone/>
            </a:pPr>
            <a:r>
              <a:rPr lang="en-US" sz="1600" b="1" dirty="0">
                <a:solidFill>
                  <a:srgbClr val="1F4E79"/>
                </a:solidFill>
                <a:latin typeface="Calibri" pitchFamily="34" charset="0"/>
                <a:ea typeface="Calibri" pitchFamily="34" charset="-122"/>
                <a:cs typeface="Calibri" pitchFamily="34" charset="-120"/>
              </a:rPr>
              <a:t>Virtual hotspot sensor; blind-spot metric</a:t>
            </a:r>
            <a:endParaRPr lang="en-US" sz="1600" dirty="0"/>
          </a:p>
        </p:txBody>
      </p:sp>
      <p:sp>
        <p:nvSpPr>
          <p:cNvPr id="17" name="Shape 15"/>
          <p:cNvSpPr/>
          <p:nvPr/>
        </p:nvSpPr>
        <p:spPr>
          <a:xfrm>
            <a:off x="5103449" y="1783080"/>
            <a:ext cx="1984797" cy="2240280"/>
          </a:xfrm>
          <a:prstGeom prst="rect">
            <a:avLst/>
          </a:prstGeom>
          <a:solidFill>
            <a:srgbClr val="F2F4F7"/>
          </a:solidFill>
          <a:ln w="12700">
            <a:solidFill>
              <a:srgbClr val="F2F4F7"/>
            </a:solidFill>
            <a:prstDash val="solid"/>
          </a:ln>
        </p:spPr>
      </p:sp>
      <p:sp>
        <p:nvSpPr>
          <p:cNvPr id="18" name="Text 16"/>
          <p:cNvSpPr/>
          <p:nvPr/>
        </p:nvSpPr>
        <p:spPr>
          <a:xfrm>
            <a:off x="5268041" y="1901952"/>
            <a:ext cx="1655613" cy="2011680"/>
          </a:xfrm>
          <a:prstGeom prst="rect">
            <a:avLst/>
          </a:prstGeom>
          <a:noFill/>
          <a:ln/>
        </p:spPr>
        <p:txBody>
          <a:bodyPr wrap="square" lIns="0" tIns="0" rIns="0" bIns="0" rtlCol="0" anchor="t"/>
          <a:lstStyle/>
          <a:p>
            <a:pPr marL="0" indent="0">
              <a:spcAft>
                <a:spcPts val="600"/>
              </a:spcAft>
              <a:buNone/>
            </a:pPr>
            <a:r>
              <a:rPr lang="en-US" sz="1800" b="1" dirty="0">
                <a:solidFill>
                  <a:srgbClr val="1F4E79"/>
                </a:solidFill>
                <a:latin typeface="Calibri" pitchFamily="34" charset="0"/>
                <a:ea typeface="Calibri" pitchFamily="34" charset="-122"/>
                <a:cs typeface="Calibri" pitchFamily="34" charset="-120"/>
              </a:rPr>
              <a:t>3 · KPIs</a:t>
            </a:r>
            <a:endParaRPr lang="en-US" sz="1800" dirty="0"/>
          </a:p>
          <a:p>
            <a:pPr marL="0" indent="0">
              <a:spcAft>
                <a:spcPts val="600"/>
              </a:spcAft>
              <a:buNone/>
            </a:pPr>
            <a:r>
              <a:rPr lang="en-US" sz="1600" dirty="0">
                <a:solidFill>
                  <a:srgbClr val="262626"/>
                </a:solidFill>
                <a:latin typeface="Calibri" pitchFamily="34" charset="0"/>
                <a:ea typeface="Calibri" pitchFamily="34" charset="-122"/>
                <a:cs typeface="Calibri" pitchFamily="34" charset="-120"/>
              </a:rPr>
              <a:t>Charge time, peak temperature, blind spot, mass, cost, life.</a:t>
            </a:r>
            <a:endParaRPr lang="en-US" sz="1800" dirty="0"/>
          </a:p>
        </p:txBody>
      </p:sp>
      <p:sp>
        <p:nvSpPr>
          <p:cNvPr id="19" name="Shape 17"/>
          <p:cNvSpPr/>
          <p:nvPr/>
        </p:nvSpPr>
        <p:spPr>
          <a:xfrm>
            <a:off x="7124822" y="2743200"/>
            <a:ext cx="219456" cy="274320"/>
          </a:xfrm>
          <a:prstGeom prst="rightArrow">
            <a:avLst/>
          </a:prstGeom>
          <a:solidFill>
            <a:srgbClr val="A6ADB4"/>
          </a:solidFill>
          <a:ln w="12700">
            <a:solidFill>
              <a:srgbClr val="A6ADB4"/>
            </a:solidFill>
            <a:prstDash val="solid"/>
          </a:ln>
        </p:spPr>
      </p:sp>
      <p:sp>
        <p:nvSpPr>
          <p:cNvPr id="20" name="Shape 18"/>
          <p:cNvSpPr/>
          <p:nvPr/>
        </p:nvSpPr>
        <p:spPr>
          <a:xfrm>
            <a:off x="5103449" y="4572000"/>
            <a:ext cx="1984797" cy="1417320"/>
          </a:xfrm>
          <a:prstGeom prst="rect">
            <a:avLst/>
          </a:prstGeom>
          <a:solidFill>
            <a:srgbClr val="DEEAF6"/>
          </a:solidFill>
          <a:ln w="12700">
            <a:solidFill>
              <a:srgbClr val="DEEAF6"/>
            </a:solidFill>
            <a:prstDash val="solid"/>
          </a:ln>
        </p:spPr>
      </p:sp>
      <p:sp>
        <p:nvSpPr>
          <p:cNvPr id="21" name="Text 19"/>
          <p:cNvSpPr/>
          <p:nvPr/>
        </p:nvSpPr>
        <p:spPr>
          <a:xfrm>
            <a:off x="5268041" y="4645152"/>
            <a:ext cx="1655613" cy="1280160"/>
          </a:xfrm>
          <a:prstGeom prst="rect">
            <a:avLst/>
          </a:prstGeom>
          <a:noFill/>
          <a:ln/>
        </p:spPr>
        <p:txBody>
          <a:bodyPr wrap="square" lIns="0" tIns="0" rIns="0" bIns="0" rtlCol="0" anchor="ctr"/>
          <a:lstStyle/>
          <a:p>
            <a:pPr marL="0" indent="0">
              <a:buNone/>
            </a:pPr>
            <a:r>
              <a:rPr lang="en-US" sz="1600" b="1" dirty="0">
                <a:solidFill>
                  <a:srgbClr val="1F4E79"/>
                </a:solidFill>
                <a:latin typeface="Calibri" pitchFamily="34" charset="0"/>
                <a:ea typeface="Calibri" pitchFamily="34" charset="-122"/>
                <a:cs typeface="Calibri" pitchFamily="34" charset="-120"/>
              </a:rPr>
              <a:t>Evidence level on every number; Monte Carlo spread</a:t>
            </a:r>
            <a:endParaRPr lang="en-US" sz="1600" dirty="0"/>
          </a:p>
        </p:txBody>
      </p:sp>
      <p:sp>
        <p:nvSpPr>
          <p:cNvPr id="22" name="Shape 20"/>
          <p:cNvSpPr/>
          <p:nvPr/>
        </p:nvSpPr>
        <p:spPr>
          <a:xfrm>
            <a:off x="7380854" y="1783080"/>
            <a:ext cx="1984797" cy="2240280"/>
          </a:xfrm>
          <a:prstGeom prst="rect">
            <a:avLst/>
          </a:prstGeom>
          <a:solidFill>
            <a:srgbClr val="F2F4F7"/>
          </a:solidFill>
          <a:ln w="12700">
            <a:solidFill>
              <a:srgbClr val="F2F4F7"/>
            </a:solidFill>
            <a:prstDash val="solid"/>
          </a:ln>
        </p:spPr>
      </p:sp>
      <p:sp>
        <p:nvSpPr>
          <p:cNvPr id="23" name="Text 21"/>
          <p:cNvSpPr/>
          <p:nvPr/>
        </p:nvSpPr>
        <p:spPr>
          <a:xfrm>
            <a:off x="7545446" y="1901952"/>
            <a:ext cx="1655613" cy="2011680"/>
          </a:xfrm>
          <a:prstGeom prst="rect">
            <a:avLst/>
          </a:prstGeom>
          <a:noFill/>
          <a:ln/>
        </p:spPr>
        <p:txBody>
          <a:bodyPr wrap="square" lIns="0" tIns="0" rIns="0" bIns="0" rtlCol="0" anchor="t"/>
          <a:lstStyle/>
          <a:p>
            <a:pPr marL="0" indent="0">
              <a:spcAft>
                <a:spcPts val="600"/>
              </a:spcAft>
              <a:buNone/>
            </a:pPr>
            <a:r>
              <a:rPr lang="en-US" sz="1800" b="1" dirty="0">
                <a:solidFill>
                  <a:srgbClr val="1F4E79"/>
                </a:solidFill>
                <a:latin typeface="Calibri" pitchFamily="34" charset="0"/>
                <a:ea typeface="Calibri" pitchFamily="34" charset="-122"/>
                <a:cs typeface="Calibri" pitchFamily="34" charset="-120"/>
              </a:rPr>
              <a:t>4 · Conflict checker</a:t>
            </a:r>
            <a:endParaRPr lang="en-US" sz="1800" dirty="0"/>
          </a:p>
          <a:p>
            <a:pPr marL="0" indent="0">
              <a:spcAft>
                <a:spcPts val="600"/>
              </a:spcAft>
              <a:buNone/>
            </a:pPr>
            <a:r>
              <a:rPr lang="en-US" sz="1600" dirty="0">
                <a:solidFill>
                  <a:srgbClr val="262626"/>
                </a:solidFill>
                <a:latin typeface="Calibri" pitchFamily="34" charset="0"/>
                <a:ea typeface="Calibri" pitchFamily="34" charset="-122"/>
                <a:cs typeface="Calibri" pitchFamily="34" charset="-120"/>
              </a:rPr>
              <a:t>11 requirements and 14 interface rules.</a:t>
            </a:r>
            <a:endParaRPr lang="en-US" sz="1800" dirty="0"/>
          </a:p>
        </p:txBody>
      </p:sp>
      <p:sp>
        <p:nvSpPr>
          <p:cNvPr id="24" name="Shape 22"/>
          <p:cNvSpPr/>
          <p:nvPr/>
        </p:nvSpPr>
        <p:spPr>
          <a:xfrm>
            <a:off x="9402227" y="2743200"/>
            <a:ext cx="219456" cy="274320"/>
          </a:xfrm>
          <a:prstGeom prst="rightArrow">
            <a:avLst/>
          </a:prstGeom>
          <a:solidFill>
            <a:srgbClr val="A6ADB4"/>
          </a:solidFill>
          <a:ln w="12700">
            <a:solidFill>
              <a:srgbClr val="A6ADB4"/>
            </a:solidFill>
            <a:prstDash val="solid"/>
          </a:ln>
        </p:spPr>
      </p:sp>
      <p:sp>
        <p:nvSpPr>
          <p:cNvPr id="25" name="Shape 23"/>
          <p:cNvSpPr/>
          <p:nvPr/>
        </p:nvSpPr>
        <p:spPr>
          <a:xfrm>
            <a:off x="7380854" y="4572000"/>
            <a:ext cx="1984797" cy="1417320"/>
          </a:xfrm>
          <a:prstGeom prst="rect">
            <a:avLst/>
          </a:prstGeom>
          <a:solidFill>
            <a:srgbClr val="DEEAF6"/>
          </a:solidFill>
          <a:ln w="12700">
            <a:solidFill>
              <a:srgbClr val="DEEAF6"/>
            </a:solidFill>
            <a:prstDash val="solid"/>
          </a:ln>
        </p:spPr>
      </p:sp>
      <p:sp>
        <p:nvSpPr>
          <p:cNvPr id="26" name="Text 24"/>
          <p:cNvSpPr/>
          <p:nvPr/>
        </p:nvSpPr>
        <p:spPr>
          <a:xfrm>
            <a:off x="7545446" y="4645152"/>
            <a:ext cx="1655613" cy="1280160"/>
          </a:xfrm>
          <a:prstGeom prst="rect">
            <a:avLst/>
          </a:prstGeom>
          <a:noFill/>
          <a:ln/>
        </p:spPr>
        <p:txBody>
          <a:bodyPr wrap="square" lIns="0" tIns="0" rIns="0" bIns="0" rtlCol="0" anchor="ctr"/>
          <a:lstStyle/>
          <a:p>
            <a:pPr marL="0" indent="0">
              <a:buNone/>
            </a:pPr>
            <a:r>
              <a:rPr lang="en-US" sz="1600" b="1" dirty="0">
                <a:solidFill>
                  <a:srgbClr val="1F4E79"/>
                </a:solidFill>
                <a:latin typeface="Calibri" pitchFamily="34" charset="0"/>
                <a:ea typeface="Calibri" pitchFamily="34" charset="-122"/>
                <a:cs typeface="Calibri" pitchFamily="34" charset="-120"/>
              </a:rPr>
              <a:t>Cause chain and fixes for each failure</a:t>
            </a:r>
            <a:endParaRPr lang="en-US" sz="1600" dirty="0"/>
          </a:p>
        </p:txBody>
      </p:sp>
      <p:sp>
        <p:nvSpPr>
          <p:cNvPr id="27" name="Shape 25"/>
          <p:cNvSpPr/>
          <p:nvPr/>
        </p:nvSpPr>
        <p:spPr>
          <a:xfrm>
            <a:off x="9658259" y="1783080"/>
            <a:ext cx="1984797" cy="2240280"/>
          </a:xfrm>
          <a:prstGeom prst="rect">
            <a:avLst/>
          </a:prstGeom>
          <a:solidFill>
            <a:srgbClr val="F2F4F7"/>
          </a:solidFill>
          <a:ln w="12700">
            <a:solidFill>
              <a:srgbClr val="F2F4F7"/>
            </a:solidFill>
            <a:prstDash val="solid"/>
          </a:ln>
        </p:spPr>
      </p:sp>
      <p:sp>
        <p:nvSpPr>
          <p:cNvPr id="28" name="Text 26"/>
          <p:cNvSpPr/>
          <p:nvPr/>
        </p:nvSpPr>
        <p:spPr>
          <a:xfrm>
            <a:off x="9822851" y="1901952"/>
            <a:ext cx="1655613" cy="2011680"/>
          </a:xfrm>
          <a:prstGeom prst="rect">
            <a:avLst/>
          </a:prstGeom>
          <a:noFill/>
          <a:ln/>
        </p:spPr>
        <p:txBody>
          <a:bodyPr wrap="square" lIns="0" tIns="0" rIns="0" bIns="0" rtlCol="0" anchor="t"/>
          <a:lstStyle/>
          <a:p>
            <a:pPr marL="0" indent="0">
              <a:spcAft>
                <a:spcPts val="600"/>
              </a:spcAft>
              <a:buNone/>
            </a:pPr>
            <a:r>
              <a:rPr lang="en-US" sz="1800" b="1" dirty="0">
                <a:solidFill>
                  <a:srgbClr val="1F4E79"/>
                </a:solidFill>
                <a:latin typeface="Calibri" pitchFamily="34" charset="0"/>
                <a:ea typeface="Calibri" pitchFamily="34" charset="-122"/>
                <a:cs typeface="Calibri" pitchFamily="34" charset="-120"/>
              </a:rPr>
              <a:t>5 · Rank and report</a:t>
            </a:r>
            <a:endParaRPr lang="en-US" sz="1800" dirty="0"/>
          </a:p>
          <a:p>
            <a:pPr marL="0" indent="0">
              <a:spcAft>
                <a:spcPts val="600"/>
              </a:spcAft>
              <a:buNone/>
            </a:pPr>
            <a:r>
              <a:rPr lang="en-US" sz="1600" dirty="0">
                <a:solidFill>
                  <a:srgbClr val="262626"/>
                </a:solidFill>
                <a:latin typeface="Calibri" pitchFamily="34" charset="0"/>
                <a:ea typeface="Calibri" pitchFamily="34" charset="-122"/>
                <a:cs typeface="Calibri" pitchFamily="34" charset="-120"/>
              </a:rPr>
              <a:t>Ranking, traceability, offline HTML report.</a:t>
            </a:r>
            <a:endParaRPr lang="en-US" sz="1800" dirty="0"/>
          </a:p>
        </p:txBody>
      </p:sp>
      <p:sp>
        <p:nvSpPr>
          <p:cNvPr id="29" name="Shape 27"/>
          <p:cNvSpPr/>
          <p:nvPr/>
        </p:nvSpPr>
        <p:spPr>
          <a:xfrm>
            <a:off x="9658259" y="4572000"/>
            <a:ext cx="1984797" cy="1417320"/>
          </a:xfrm>
          <a:prstGeom prst="rect">
            <a:avLst/>
          </a:prstGeom>
          <a:solidFill>
            <a:srgbClr val="DEEAF6"/>
          </a:solidFill>
          <a:ln w="12700">
            <a:solidFill>
              <a:srgbClr val="DEEAF6"/>
            </a:solidFill>
            <a:prstDash val="solid"/>
          </a:ln>
        </p:spPr>
      </p:sp>
      <p:sp>
        <p:nvSpPr>
          <p:cNvPr id="30" name="Text 28"/>
          <p:cNvSpPr/>
          <p:nvPr/>
        </p:nvSpPr>
        <p:spPr>
          <a:xfrm>
            <a:off x="9822851" y="4645152"/>
            <a:ext cx="1655613" cy="1280160"/>
          </a:xfrm>
          <a:prstGeom prst="rect">
            <a:avLst/>
          </a:prstGeom>
          <a:noFill/>
          <a:ln/>
        </p:spPr>
        <p:txBody>
          <a:bodyPr wrap="square" lIns="0" tIns="0" rIns="0" bIns="0" rtlCol="0" anchor="ctr"/>
          <a:lstStyle/>
          <a:p>
            <a:pPr marL="0" indent="0">
              <a:buNone/>
            </a:pPr>
            <a:r>
              <a:rPr lang="en-US" sz="1600" b="1" dirty="0">
                <a:solidFill>
                  <a:srgbClr val="1F4E79"/>
                </a:solidFill>
                <a:latin typeface="Calibri" pitchFamily="34" charset="0"/>
                <a:ea typeface="Calibri" pitchFamily="34" charset="-122"/>
                <a:cs typeface="Calibri" pitchFamily="34" charset="-120"/>
              </a:rPr>
              <a:t>Three answers; 2× heat re-run</a:t>
            </a:r>
            <a:endParaRPr lang="en-US" sz="1600" dirty="0"/>
          </a:p>
        </p:txBody>
      </p:sp>
      <p:sp>
        <p:nvSpPr>
          <p:cNvPr id="31" name="Text 29"/>
          <p:cNvSpPr/>
          <p:nvPr/>
        </p:nvSpPr>
        <p:spPr>
          <a:xfrm>
            <a:off x="548640" y="4160520"/>
            <a:ext cx="3657600" cy="347472"/>
          </a:xfrm>
          <a:prstGeom prst="rect">
            <a:avLst/>
          </a:prstGeom>
          <a:noFill/>
          <a:ln/>
        </p:spPr>
        <p:txBody>
          <a:bodyPr wrap="square" lIns="0" tIns="0" rIns="0" bIns="0" rtlCol="0" anchor="ctr"/>
          <a:lstStyle/>
          <a:p>
            <a:pPr marL="0" indent="0">
              <a:buNone/>
            </a:pPr>
            <a:r>
              <a:rPr lang="en-US" sz="1600" b="1" dirty="0">
                <a:solidFill>
                  <a:srgbClr val="2E75B6"/>
                </a:solidFill>
                <a:latin typeface="Calibri" pitchFamily="34" charset="0"/>
                <a:ea typeface="Calibri" pitchFamily="34" charset="-122"/>
                <a:cs typeface="Calibri" pitchFamily="34" charset="-120"/>
              </a:rPr>
              <a:t>New in PackForge</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7772400" cy="274320"/>
          </a:xfrm>
          <a:prstGeom prst="rect">
            <a:avLst/>
          </a:prstGeom>
          <a:noFill/>
          <a:ln/>
        </p:spPr>
        <p:txBody>
          <a:bodyPr wrap="square" lIns="0" tIns="0" rIns="0" bIns="0" rtlCol="0" anchor="ctr"/>
          <a:lstStyle/>
          <a:p>
            <a:pPr marL="0" indent="0">
              <a:buNone/>
            </a:pPr>
            <a:r>
              <a:rPr lang="en-US" sz="1200" dirty="0">
                <a:solidFill>
                  <a:srgbClr val="6B7280"/>
                </a:solidFill>
                <a:latin typeface="Calibri" pitchFamily="34" charset="0"/>
                <a:ea typeface="Calibri" pitchFamily="34" charset="-122"/>
                <a:cs typeface="Calibri" pitchFamily="34" charset="-120"/>
              </a:rPr>
              <a:t>Problem</a:t>
            </a:r>
            <a:r>
              <a:rPr lang="en-US" sz="1200" dirty="0">
                <a:solidFill>
                  <a:srgbClr val="D0D5DB"/>
                </a:solidFill>
                <a:latin typeface="Calibri" pitchFamily="34" charset="0"/>
                <a:ea typeface="Calibri" pitchFamily="34" charset="-122"/>
                <a:cs typeface="Calibri" pitchFamily="34" charset="-120"/>
              </a:rPr>
              <a:t>   ·   </a:t>
            </a:r>
            <a:r>
              <a:rPr lang="en-US" sz="1200" dirty="0">
                <a:solidFill>
                  <a:srgbClr val="6B7280"/>
                </a:solidFill>
                <a:latin typeface="Calibri" pitchFamily="34" charset="0"/>
                <a:ea typeface="Calibri" pitchFamily="34" charset="-122"/>
                <a:cs typeface="Calibri" pitchFamily="34" charset="-120"/>
              </a:rPr>
              <a:t>Approach</a:t>
            </a:r>
            <a:r>
              <a:rPr lang="en-US" sz="1200" dirty="0">
                <a:solidFill>
                  <a:srgbClr val="D0D5DB"/>
                </a:solidFill>
                <a:latin typeface="Calibri" pitchFamily="34" charset="0"/>
                <a:ea typeface="Calibri" pitchFamily="34" charset="-122"/>
                <a:cs typeface="Calibri" pitchFamily="34" charset="-120"/>
              </a:rPr>
              <a:t>   ·   </a:t>
            </a:r>
            <a:r>
              <a:rPr lang="en-US" sz="1200" b="1" dirty="0">
                <a:solidFill>
                  <a:srgbClr val="1F4E79"/>
                </a:solidFill>
                <a:latin typeface="Calibri" pitchFamily="34" charset="0"/>
                <a:ea typeface="Calibri" pitchFamily="34" charset="-122"/>
                <a:cs typeface="Calibri" pitchFamily="34" charset="-120"/>
              </a:rPr>
              <a:t>Evidence</a:t>
            </a:r>
            <a:r>
              <a:rPr lang="en-US" sz="1200" dirty="0">
                <a:solidFill>
                  <a:srgbClr val="D0D5DB"/>
                </a:solidFill>
                <a:latin typeface="Calibri" pitchFamily="34" charset="0"/>
                <a:ea typeface="Calibri" pitchFamily="34" charset="-122"/>
                <a:cs typeface="Calibri" pitchFamily="34" charset="-120"/>
              </a:rPr>
              <a:t>   ·   </a:t>
            </a:r>
            <a:r>
              <a:rPr lang="en-US" sz="1200" dirty="0">
                <a:solidFill>
                  <a:srgbClr val="6B7280"/>
                </a:solidFill>
                <a:latin typeface="Calibri" pitchFamily="34" charset="0"/>
                <a:ea typeface="Calibri" pitchFamily="34" charset="-122"/>
                <a:cs typeface="Calibri" pitchFamily="34" charset="-120"/>
              </a:rPr>
              <a:t>Results</a:t>
            </a:r>
            <a:r>
              <a:rPr lang="en-US" sz="1200" dirty="0">
                <a:solidFill>
                  <a:srgbClr val="D0D5DB"/>
                </a:solidFill>
                <a:latin typeface="Calibri" pitchFamily="34" charset="0"/>
                <a:ea typeface="Calibri" pitchFamily="34" charset="-122"/>
                <a:cs typeface="Calibri" pitchFamily="34" charset="-120"/>
              </a:rPr>
              <a:t>   ·   </a:t>
            </a:r>
            <a:r>
              <a:rPr lang="en-US" sz="1200" dirty="0">
                <a:solidFill>
                  <a:srgbClr val="6B7280"/>
                </a:solidFill>
                <a:latin typeface="Calibri" pitchFamily="34" charset="0"/>
                <a:ea typeface="Calibri" pitchFamily="34" charset="-122"/>
                <a:cs typeface="Calibri" pitchFamily="34" charset="-120"/>
              </a:rPr>
              <a:t>Demo</a:t>
            </a:r>
            <a:r>
              <a:rPr lang="en-US" sz="1200" dirty="0">
                <a:solidFill>
                  <a:srgbClr val="D0D5DB"/>
                </a:solidFill>
                <a:latin typeface="Calibri" pitchFamily="34" charset="0"/>
                <a:ea typeface="Calibri" pitchFamily="34" charset="-122"/>
                <a:cs typeface="Calibri" pitchFamily="34" charset="-120"/>
              </a:rPr>
              <a:t>   ·   </a:t>
            </a:r>
            <a:r>
              <a:rPr lang="en-US" sz="1200" dirty="0">
                <a:solidFill>
                  <a:srgbClr val="6B7280"/>
                </a:solidFill>
                <a:latin typeface="Calibri" pitchFamily="34" charset="0"/>
                <a:ea typeface="Calibri" pitchFamily="34" charset="-122"/>
                <a:cs typeface="Calibri" pitchFamily="34" charset="-120"/>
              </a:rPr>
              <a:t>Impact</a:t>
            </a:r>
            <a:endParaRPr lang="en-US" sz="1200" dirty="0"/>
          </a:p>
        </p:txBody>
      </p:sp>
      <p:sp>
        <p:nvSpPr>
          <p:cNvPr id="3" name="Text 1"/>
          <p:cNvSpPr/>
          <p:nvPr/>
        </p:nvSpPr>
        <p:spPr>
          <a:xfrm>
            <a:off x="7985455" y="274320"/>
            <a:ext cx="3657600" cy="274320"/>
          </a:xfrm>
          <a:prstGeom prst="rect">
            <a:avLst/>
          </a:prstGeom>
          <a:noFill/>
          <a:ln/>
        </p:spPr>
        <p:txBody>
          <a:bodyPr wrap="square" lIns="0" tIns="0" rIns="0" bIns="0" rtlCol="0" anchor="ctr"/>
          <a:lstStyle/>
          <a:p>
            <a:pPr marL="0" indent="0" algn="r">
              <a:buNone/>
            </a:pPr>
            <a:r>
              <a:rPr lang="en-US" sz="1200" dirty="0">
                <a:solidFill>
                  <a:srgbClr val="6B7280"/>
                </a:solidFill>
                <a:latin typeface="Calibri" pitchFamily="34" charset="0"/>
                <a:ea typeface="Calibri" pitchFamily="34" charset="-122"/>
                <a:cs typeface="Calibri" pitchFamily="34" charset="-120"/>
              </a:rPr>
              <a:t>Prototype &amp; evidence · Engineering quality</a:t>
            </a:r>
            <a:endParaRPr lang="en-US" sz="1200" dirty="0"/>
          </a:p>
        </p:txBody>
      </p:sp>
      <p:sp>
        <p:nvSpPr>
          <p:cNvPr id="4" name="Text 2"/>
          <p:cNvSpPr/>
          <p:nvPr/>
        </p:nvSpPr>
        <p:spPr>
          <a:xfrm>
            <a:off x="548640" y="621792"/>
            <a:ext cx="11094415" cy="914400"/>
          </a:xfrm>
          <a:prstGeom prst="rect">
            <a:avLst/>
          </a:prstGeom>
          <a:noFill/>
          <a:ln/>
        </p:spPr>
        <p:txBody>
          <a:bodyPr wrap="square" lIns="0" tIns="0" rIns="0" bIns="0" rtlCol="0" anchor="t"/>
          <a:lstStyle/>
          <a:p>
            <a:pPr marL="0" indent="0">
              <a:buNone/>
            </a:pPr>
            <a:r>
              <a:rPr lang="en-US" sz="2600" b="1" dirty="0">
                <a:solidFill>
                  <a:srgbClr val="1F4E79"/>
                </a:solidFill>
                <a:latin typeface="Calibri" pitchFamily="34" charset="0"/>
                <a:ea typeface="Calibri" pitchFamily="34" charset="-122"/>
                <a:cs typeface="Calibri" pitchFamily="34" charset="-120"/>
              </a:rPr>
              <a:t>On 60 unseen 45 °C logs the model predicts voltage within 18 mV but underestimates heating about 2×</a:t>
            </a:r>
            <a:endParaRPr lang="en-US" sz="2600" dirty="0"/>
          </a:p>
        </p:txBody>
      </p:sp>
      <p:sp>
        <p:nvSpPr>
          <p:cNvPr id="5" name="Text 3"/>
          <p:cNvSpPr/>
          <p:nvPr/>
        </p:nvSpPr>
        <p:spPr>
          <a:xfrm>
            <a:off x="548640" y="6355080"/>
            <a:ext cx="10058400" cy="274320"/>
          </a:xfrm>
          <a:prstGeom prst="rect">
            <a:avLst/>
          </a:prstGeom>
          <a:noFill/>
          <a:ln/>
        </p:spPr>
        <p:txBody>
          <a:bodyPr wrap="square" lIns="0" tIns="0" rIns="0" bIns="0" rtlCol="0" anchor="ctr"/>
          <a:lstStyle/>
          <a:p>
            <a:pPr marL="0" indent="0">
              <a:buNone/>
            </a:pPr>
            <a:r>
              <a:rPr lang="en-US" sz="1200" dirty="0">
                <a:solidFill>
                  <a:srgbClr val="6B7280"/>
                </a:solidFill>
                <a:latin typeface="Calibri" pitchFamily="34" charset="0"/>
                <a:ea typeface="Calibri" pitchFamily="34" charset="-122"/>
                <a:cs typeface="Calibri" pitchFamily="34" charset="-120"/>
              </a:rPr>
              <a:t>Data: Yao, Droese &amp; Kowal (2026), TU Berlin, DOI 10.14279/depositonce-25110, CC BY 4.0. Full table: Appendix A2.</a:t>
            </a:r>
            <a:endParaRPr lang="en-US" sz="1200" dirty="0"/>
          </a:p>
        </p:txBody>
      </p:sp>
      <p:sp>
        <p:nvSpPr>
          <p:cNvPr id="6" name="Text 4"/>
          <p:cNvSpPr/>
          <p:nvPr/>
        </p:nvSpPr>
        <p:spPr>
          <a:xfrm>
            <a:off x="10911535" y="6355080"/>
            <a:ext cx="731520" cy="274320"/>
          </a:xfrm>
          <a:prstGeom prst="rect">
            <a:avLst/>
          </a:prstGeom>
          <a:noFill/>
          <a:ln/>
        </p:spPr>
        <p:txBody>
          <a:bodyPr wrap="square" lIns="0" tIns="0" rIns="0" bIns="0" rtlCol="0" anchor="ctr"/>
          <a:lstStyle/>
          <a:p>
            <a:pPr marL="0" indent="0" algn="r">
              <a:buNone/>
            </a:pPr>
            <a:r>
              <a:rPr lang="en-US" sz="1200" dirty="0">
                <a:solidFill>
                  <a:srgbClr val="6B7280"/>
                </a:solidFill>
                <a:latin typeface="Calibri" pitchFamily="34" charset="0"/>
                <a:ea typeface="Calibri" pitchFamily="34" charset="-122"/>
                <a:cs typeface="Calibri" pitchFamily="34" charset="-120"/>
              </a:rPr>
              <a:t>7</a:t>
            </a:r>
            <a:endParaRPr lang="en-US" sz="1200" dirty="0"/>
          </a:p>
        </p:txBody>
      </p:sp>
      <p:graphicFrame>
        <p:nvGraphicFramePr>
          <p:cNvPr id="7" name="Chart 0"/>
          <p:cNvGraphicFramePr/>
          <p:nvPr/>
        </p:nvGraphicFramePr>
        <p:xfrm>
          <a:off x="548640" y="1737360"/>
          <a:ext cx="5852160" cy="4206240"/>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 5"/>
          <p:cNvSpPr/>
          <p:nvPr/>
        </p:nvSpPr>
        <p:spPr>
          <a:xfrm>
            <a:off x="1371600" y="2377440"/>
            <a:ext cx="2560320" cy="640080"/>
          </a:xfrm>
          <a:prstGeom prst="rect">
            <a:avLst/>
          </a:prstGeom>
          <a:noFill/>
          <a:ln/>
        </p:spPr>
        <p:txBody>
          <a:bodyPr wrap="square" lIns="0" tIns="0" rIns="0" bIns="0" rtlCol="0" anchor="t"/>
          <a:lstStyle/>
          <a:p>
            <a:pPr marL="0" indent="0">
              <a:buNone/>
            </a:pPr>
            <a:r>
              <a:rPr lang="en-US" sz="1600" b="1" dirty="0">
                <a:solidFill>
                  <a:srgbClr val="C2410C"/>
                </a:solidFill>
                <a:latin typeface="Calibri" pitchFamily="34" charset="0"/>
                <a:ea typeface="Calibri" pitchFamily="34" charset="-122"/>
                <a:cs typeface="Calibri" pitchFamily="34" charset="-120"/>
              </a:rPr>
              <a:t>Model ≈ half the measured rise</a:t>
            </a:r>
            <a:endParaRPr lang="en-US" sz="1600" dirty="0"/>
          </a:p>
        </p:txBody>
      </p:sp>
      <p:sp>
        <p:nvSpPr>
          <p:cNvPr id="9" name="Text 6"/>
          <p:cNvSpPr/>
          <p:nvPr/>
        </p:nvSpPr>
        <p:spPr>
          <a:xfrm>
            <a:off x="6720840" y="1874520"/>
            <a:ext cx="4919472" cy="4206240"/>
          </a:xfrm>
          <a:prstGeom prst="rect">
            <a:avLst/>
          </a:prstGeom>
          <a:noFill/>
          <a:ln/>
        </p:spPr>
        <p:txBody>
          <a:bodyPr wrap="square" lIns="0" tIns="0" rIns="0" bIns="0" rtlCol="0" anchor="t"/>
          <a:lstStyle/>
          <a:p>
            <a:pPr marL="342900" indent="-342900">
              <a:spcAft>
                <a:spcPts val="1400"/>
              </a:spcAft>
              <a:buSzPct val="100000"/>
              <a:buChar char="•"/>
            </a:pPr>
            <a:r>
              <a:rPr lang="en-US" sz="2000" dirty="0">
                <a:solidFill>
                  <a:srgbClr val="262626"/>
                </a:solidFill>
                <a:latin typeface="Calibri" pitchFamily="34" charset="0"/>
                <a:ea typeface="Calibri" pitchFamily="34" charset="-122"/>
                <a:cs typeface="Calibri" pitchFamily="34" charset="-120"/>
              </a:rPr>
              <a:t>Fitted at 25 and 35 °C on a proxy cell (LG M50LT, public TU Berlin data)</a:t>
            </a:r>
            <a:endParaRPr lang="en-US" sz="2000" dirty="0"/>
          </a:p>
          <a:p>
            <a:pPr marL="342900" indent="-342900">
              <a:spcAft>
                <a:spcPts val="1400"/>
              </a:spcAft>
              <a:buSzPct val="100000"/>
              <a:buChar char="•"/>
            </a:pPr>
            <a:r>
              <a:rPr lang="en-US" sz="2000" dirty="0">
                <a:solidFill>
                  <a:srgbClr val="262626"/>
                </a:solidFill>
                <a:latin typeface="Calibri" pitchFamily="34" charset="0"/>
                <a:ea typeface="Calibri" pitchFamily="34" charset="-122"/>
                <a:cs typeface="Calibri" pitchFamily="34" charset="-120"/>
              </a:rPr>
              <a:t>Hold-out: 60 logs at 45 °C, never used in the fit</a:t>
            </a:r>
            <a:endParaRPr lang="en-US" sz="2000" dirty="0"/>
          </a:p>
          <a:p>
            <a:pPr marL="342900" indent="-342900">
              <a:spcAft>
                <a:spcPts val="1400"/>
              </a:spcAft>
              <a:buSzPct val="100000"/>
              <a:buChar char="•"/>
            </a:pPr>
            <a:r>
              <a:rPr lang="en-US" sz="2000" dirty="0">
                <a:solidFill>
                  <a:srgbClr val="262626"/>
                </a:solidFill>
                <a:latin typeface="Calibri" pitchFamily="34" charset="0"/>
                <a:ea typeface="Calibri" pitchFamily="34" charset="-122"/>
                <a:cs typeface="Calibri" pitchFamily="34" charset="-120"/>
              </a:rPr>
              <a:t>Voltage RMSE at SOC ≥ 10 %: 18 mV drives, 17 mV charges (median)</a:t>
            </a:r>
            <a:endParaRPr lang="en-US" sz="2000" dirty="0"/>
          </a:p>
          <a:p>
            <a:pPr marL="342900" indent="-342900">
              <a:spcAft>
                <a:spcPts val="1400"/>
              </a:spcAft>
              <a:buSzPct val="100000"/>
              <a:buChar char="•"/>
            </a:pPr>
            <a:r>
              <a:rPr lang="en-US" sz="2000" dirty="0">
                <a:solidFill>
                  <a:srgbClr val="262626"/>
                </a:solidFill>
                <a:latin typeface="Calibri" pitchFamily="34" charset="0"/>
                <a:ea typeface="Calibri" pitchFamily="34" charset="-122"/>
                <a:cs typeface="Calibri" pitchFamily="34" charset="-120"/>
              </a:rPr>
              <a:t>The model gives about half the measured rise, so every design is re-run at 2× heat</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7772400" cy="274320"/>
          </a:xfrm>
          <a:prstGeom prst="rect">
            <a:avLst/>
          </a:prstGeom>
          <a:noFill/>
          <a:ln/>
        </p:spPr>
        <p:txBody>
          <a:bodyPr wrap="square" lIns="0" tIns="0" rIns="0" bIns="0" rtlCol="0" anchor="ctr"/>
          <a:lstStyle/>
          <a:p>
            <a:pPr marL="0" indent="0">
              <a:buNone/>
            </a:pPr>
            <a:r>
              <a:rPr lang="en-US" sz="1200" dirty="0">
                <a:solidFill>
                  <a:srgbClr val="6B7280"/>
                </a:solidFill>
                <a:latin typeface="Calibri" pitchFamily="34" charset="0"/>
                <a:ea typeface="Calibri" pitchFamily="34" charset="-122"/>
                <a:cs typeface="Calibri" pitchFamily="34" charset="-120"/>
              </a:rPr>
              <a:t>Problem</a:t>
            </a:r>
            <a:r>
              <a:rPr lang="en-US" sz="1200" dirty="0">
                <a:solidFill>
                  <a:srgbClr val="D0D5DB"/>
                </a:solidFill>
                <a:latin typeface="Calibri" pitchFamily="34" charset="0"/>
                <a:ea typeface="Calibri" pitchFamily="34" charset="-122"/>
                <a:cs typeface="Calibri" pitchFamily="34" charset="-120"/>
              </a:rPr>
              <a:t>   ·   </a:t>
            </a:r>
            <a:r>
              <a:rPr lang="en-US" sz="1200" dirty="0">
                <a:solidFill>
                  <a:srgbClr val="6B7280"/>
                </a:solidFill>
                <a:latin typeface="Calibri" pitchFamily="34" charset="0"/>
                <a:ea typeface="Calibri" pitchFamily="34" charset="-122"/>
                <a:cs typeface="Calibri" pitchFamily="34" charset="-120"/>
              </a:rPr>
              <a:t>Approach</a:t>
            </a:r>
            <a:r>
              <a:rPr lang="en-US" sz="1200" dirty="0">
                <a:solidFill>
                  <a:srgbClr val="D0D5DB"/>
                </a:solidFill>
                <a:latin typeface="Calibri" pitchFamily="34" charset="0"/>
                <a:ea typeface="Calibri" pitchFamily="34" charset="-122"/>
                <a:cs typeface="Calibri" pitchFamily="34" charset="-120"/>
              </a:rPr>
              <a:t>   ·   </a:t>
            </a:r>
            <a:r>
              <a:rPr lang="en-US" sz="1200" dirty="0">
                <a:solidFill>
                  <a:srgbClr val="6B7280"/>
                </a:solidFill>
                <a:latin typeface="Calibri" pitchFamily="34" charset="0"/>
                <a:ea typeface="Calibri" pitchFamily="34" charset="-122"/>
                <a:cs typeface="Calibri" pitchFamily="34" charset="-120"/>
              </a:rPr>
              <a:t>Evidence</a:t>
            </a:r>
            <a:r>
              <a:rPr lang="en-US" sz="1200" dirty="0">
                <a:solidFill>
                  <a:srgbClr val="D0D5DB"/>
                </a:solidFill>
                <a:latin typeface="Calibri" pitchFamily="34" charset="0"/>
                <a:ea typeface="Calibri" pitchFamily="34" charset="-122"/>
                <a:cs typeface="Calibri" pitchFamily="34" charset="-120"/>
              </a:rPr>
              <a:t>   ·   </a:t>
            </a:r>
            <a:r>
              <a:rPr lang="en-US" sz="1200" b="1" dirty="0">
                <a:solidFill>
                  <a:srgbClr val="1F4E79"/>
                </a:solidFill>
                <a:latin typeface="Calibri" pitchFamily="34" charset="0"/>
                <a:ea typeface="Calibri" pitchFamily="34" charset="-122"/>
                <a:cs typeface="Calibri" pitchFamily="34" charset="-120"/>
              </a:rPr>
              <a:t>Results</a:t>
            </a:r>
            <a:r>
              <a:rPr lang="en-US" sz="1200" dirty="0">
                <a:solidFill>
                  <a:srgbClr val="D0D5DB"/>
                </a:solidFill>
                <a:latin typeface="Calibri" pitchFamily="34" charset="0"/>
                <a:ea typeface="Calibri" pitchFamily="34" charset="-122"/>
                <a:cs typeface="Calibri" pitchFamily="34" charset="-120"/>
              </a:rPr>
              <a:t>   ·   </a:t>
            </a:r>
            <a:r>
              <a:rPr lang="en-US" sz="1200" dirty="0">
                <a:solidFill>
                  <a:srgbClr val="6B7280"/>
                </a:solidFill>
                <a:latin typeface="Calibri" pitchFamily="34" charset="0"/>
                <a:ea typeface="Calibri" pitchFamily="34" charset="-122"/>
                <a:cs typeface="Calibri" pitchFamily="34" charset="-120"/>
              </a:rPr>
              <a:t>Demo</a:t>
            </a:r>
            <a:r>
              <a:rPr lang="en-US" sz="1200" dirty="0">
                <a:solidFill>
                  <a:srgbClr val="D0D5DB"/>
                </a:solidFill>
                <a:latin typeface="Calibri" pitchFamily="34" charset="0"/>
                <a:ea typeface="Calibri" pitchFamily="34" charset="-122"/>
                <a:cs typeface="Calibri" pitchFamily="34" charset="-120"/>
              </a:rPr>
              <a:t>   ·   </a:t>
            </a:r>
            <a:r>
              <a:rPr lang="en-US" sz="1200" dirty="0">
                <a:solidFill>
                  <a:srgbClr val="6B7280"/>
                </a:solidFill>
                <a:latin typeface="Calibri" pitchFamily="34" charset="0"/>
                <a:ea typeface="Calibri" pitchFamily="34" charset="-122"/>
                <a:cs typeface="Calibri" pitchFamily="34" charset="-120"/>
              </a:rPr>
              <a:t>Impact</a:t>
            </a:r>
            <a:endParaRPr lang="en-US" sz="1200" dirty="0"/>
          </a:p>
        </p:txBody>
      </p:sp>
      <p:sp>
        <p:nvSpPr>
          <p:cNvPr id="3" name="Text 1"/>
          <p:cNvSpPr/>
          <p:nvPr/>
        </p:nvSpPr>
        <p:spPr>
          <a:xfrm>
            <a:off x="7985455" y="274320"/>
            <a:ext cx="3657600" cy="274320"/>
          </a:xfrm>
          <a:prstGeom prst="rect">
            <a:avLst/>
          </a:prstGeom>
          <a:noFill/>
          <a:ln/>
        </p:spPr>
        <p:txBody>
          <a:bodyPr wrap="square" lIns="0" tIns="0" rIns="0" bIns="0" rtlCol="0" anchor="ctr"/>
          <a:lstStyle/>
          <a:p>
            <a:pPr marL="0" indent="0" algn="r">
              <a:buNone/>
            </a:pPr>
            <a:r>
              <a:rPr lang="en-US" sz="1200" dirty="0">
                <a:solidFill>
                  <a:srgbClr val="6B7280"/>
                </a:solidFill>
                <a:latin typeface="Calibri" pitchFamily="34" charset="0"/>
                <a:ea typeface="Calibri" pitchFamily="34" charset="-122"/>
                <a:cs typeface="Calibri" pitchFamily="34" charset="-120"/>
              </a:rPr>
              <a:t>Prototype &amp; evidence</a:t>
            </a:r>
            <a:endParaRPr lang="en-US" sz="1200" dirty="0"/>
          </a:p>
        </p:txBody>
      </p:sp>
      <p:sp>
        <p:nvSpPr>
          <p:cNvPr id="4" name="Text 2"/>
          <p:cNvSpPr/>
          <p:nvPr/>
        </p:nvSpPr>
        <p:spPr>
          <a:xfrm>
            <a:off x="548640" y="621792"/>
            <a:ext cx="11094415" cy="914400"/>
          </a:xfrm>
          <a:prstGeom prst="rect">
            <a:avLst/>
          </a:prstGeom>
          <a:noFill/>
          <a:ln/>
        </p:spPr>
        <p:txBody>
          <a:bodyPr wrap="square" lIns="0" tIns="0" rIns="0" bIns="0" rtlCol="0" anchor="t"/>
          <a:lstStyle/>
          <a:p>
            <a:pPr marL="0" indent="0">
              <a:buNone/>
            </a:pPr>
            <a:r>
              <a:rPr lang="en-US" sz="2600" b="1" dirty="0">
                <a:solidFill>
                  <a:srgbClr val="1F4E79"/>
                </a:solidFill>
                <a:latin typeface="Calibri" pitchFamily="34" charset="0"/>
                <a:ea typeface="Calibri" pitchFamily="34" charset="-122"/>
                <a:cs typeface="Calibri" pitchFamily="34" charset="-120"/>
              </a:rPr>
              <a:t>Options A and B charge to 80 % in under 100 min after a hot ride; the baseline is disqualified at 47.6 °C</a:t>
            </a:r>
            <a:endParaRPr lang="en-US" sz="2600" dirty="0"/>
          </a:p>
        </p:txBody>
      </p:sp>
      <p:sp>
        <p:nvSpPr>
          <p:cNvPr id="5" name="Text 3"/>
          <p:cNvSpPr/>
          <p:nvPr/>
        </p:nvSpPr>
        <p:spPr>
          <a:xfrm>
            <a:off x="548640" y="6355080"/>
            <a:ext cx="10058400" cy="274320"/>
          </a:xfrm>
          <a:prstGeom prst="rect">
            <a:avLst/>
          </a:prstGeom>
          <a:noFill/>
          <a:ln/>
        </p:spPr>
        <p:txBody>
          <a:bodyPr wrap="square" lIns="0" tIns="0" rIns="0" bIns="0" rtlCol="0" anchor="ctr"/>
          <a:lstStyle/>
          <a:p>
            <a:pPr marL="0" indent="0">
              <a:buNone/>
            </a:pPr>
            <a:r>
              <a:rPr lang="en-US" sz="1200" dirty="0">
                <a:solidFill>
                  <a:srgbClr val="6B7280"/>
                </a:solidFill>
                <a:latin typeface="Calibri" pitchFamily="34" charset="0"/>
                <a:ea typeface="Calibri" pitchFamily="34" charset="-122"/>
                <a:cs typeface="Calibri" pitchFamily="34" charset="-120"/>
              </a:rPr>
              <a:t>Source: python -m packforge studies/escooter_48v, calibrated NMC cell. All KPIs: Appendix A3.</a:t>
            </a:r>
            <a:endParaRPr lang="en-US" sz="1200" dirty="0"/>
          </a:p>
        </p:txBody>
      </p:sp>
      <p:sp>
        <p:nvSpPr>
          <p:cNvPr id="6" name="Text 4"/>
          <p:cNvSpPr/>
          <p:nvPr/>
        </p:nvSpPr>
        <p:spPr>
          <a:xfrm>
            <a:off x="10911535" y="6355080"/>
            <a:ext cx="731520" cy="274320"/>
          </a:xfrm>
          <a:prstGeom prst="rect">
            <a:avLst/>
          </a:prstGeom>
          <a:noFill/>
          <a:ln/>
        </p:spPr>
        <p:txBody>
          <a:bodyPr wrap="square" lIns="0" tIns="0" rIns="0" bIns="0" rtlCol="0" anchor="ctr"/>
          <a:lstStyle/>
          <a:p>
            <a:pPr marL="0" indent="0" algn="r">
              <a:buNone/>
            </a:pPr>
            <a:r>
              <a:rPr lang="en-US" sz="1200" dirty="0">
                <a:solidFill>
                  <a:srgbClr val="6B7280"/>
                </a:solidFill>
                <a:latin typeface="Calibri" pitchFamily="34" charset="0"/>
                <a:ea typeface="Calibri" pitchFamily="34" charset="-122"/>
                <a:cs typeface="Calibri" pitchFamily="34" charset="-120"/>
              </a:rPr>
              <a:t>8</a:t>
            </a:r>
            <a:endParaRPr lang="en-US" sz="1200" dirty="0"/>
          </a:p>
        </p:txBody>
      </p:sp>
      <p:graphicFrame>
        <p:nvGraphicFramePr>
          <p:cNvPr id="7" name="Chart 0"/>
          <p:cNvGraphicFramePr/>
          <p:nvPr/>
        </p:nvGraphicFramePr>
        <p:xfrm>
          <a:off x="548640" y="1737360"/>
          <a:ext cx="6035040" cy="4343400"/>
        </p:xfrm>
        <a:graphic>
          <a:graphicData uri="http://schemas.openxmlformats.org/drawingml/2006/chart">
            <c:chart xmlns:c="http://schemas.openxmlformats.org/drawingml/2006/chart" xmlns:r="http://schemas.openxmlformats.org/officeDocument/2006/relationships" r:id="rId3"/>
          </a:graphicData>
        </a:graphic>
      </p:graphicFrame>
      <p:sp>
        <p:nvSpPr>
          <p:cNvPr id="8" name="Shape 5"/>
          <p:cNvSpPr/>
          <p:nvPr/>
        </p:nvSpPr>
        <p:spPr>
          <a:xfrm>
            <a:off x="4313225" y="2487168"/>
            <a:ext cx="0" cy="3035808"/>
          </a:xfrm>
          <a:prstGeom prst="line">
            <a:avLst/>
          </a:prstGeom>
          <a:noFill/>
          <a:ln w="25400">
            <a:solidFill>
              <a:srgbClr val="C2410C"/>
            </a:solidFill>
            <a:prstDash val="dash"/>
          </a:ln>
        </p:spPr>
      </p:sp>
      <p:sp>
        <p:nvSpPr>
          <p:cNvPr id="9" name="Text 6"/>
          <p:cNvSpPr/>
          <p:nvPr/>
        </p:nvSpPr>
        <p:spPr>
          <a:xfrm>
            <a:off x="4404665" y="3474720"/>
            <a:ext cx="1920240" cy="365760"/>
          </a:xfrm>
          <a:prstGeom prst="rect">
            <a:avLst/>
          </a:prstGeom>
          <a:noFill/>
          <a:ln/>
        </p:spPr>
        <p:txBody>
          <a:bodyPr wrap="square" lIns="0" tIns="0" rIns="0" bIns="0" rtlCol="0" anchor="ctr"/>
          <a:lstStyle/>
          <a:p>
            <a:pPr marL="0" indent="0">
              <a:buNone/>
            </a:pPr>
            <a:r>
              <a:rPr lang="en-US" sz="1400" b="1" dirty="0">
                <a:solidFill>
                  <a:srgbClr val="C2410C"/>
                </a:solidFill>
                <a:latin typeface="Calibri" pitchFamily="34" charset="0"/>
                <a:ea typeface="Calibri" pitchFamily="34" charset="-122"/>
                <a:cs typeface="Calibri" pitchFamily="34" charset="-120"/>
              </a:rPr>
              <a:t>120 min limit (REQ‑05)</a:t>
            </a:r>
            <a:endParaRPr lang="en-US" sz="1400" dirty="0"/>
          </a:p>
        </p:txBody>
      </p:sp>
      <p:sp>
        <p:nvSpPr>
          <p:cNvPr id="10" name="Text 7"/>
          <p:cNvSpPr/>
          <p:nvPr/>
        </p:nvSpPr>
        <p:spPr>
          <a:xfrm>
            <a:off x="6903720" y="1874520"/>
            <a:ext cx="4736592" cy="4206240"/>
          </a:xfrm>
          <a:prstGeom prst="rect">
            <a:avLst/>
          </a:prstGeom>
          <a:noFill/>
          <a:ln/>
        </p:spPr>
        <p:txBody>
          <a:bodyPr wrap="square" lIns="0" tIns="0" rIns="0" bIns="0" rtlCol="0" anchor="t"/>
          <a:lstStyle/>
          <a:p>
            <a:pPr marL="342900" indent="-342900">
              <a:spcAft>
                <a:spcPts val="1400"/>
              </a:spcAft>
              <a:buSzPct val="100000"/>
              <a:buChar char="•"/>
            </a:pPr>
            <a:r>
              <a:rPr lang="en-US" sz="2000" dirty="0">
                <a:solidFill>
                  <a:srgbClr val="262626"/>
                </a:solidFill>
                <a:latin typeface="Calibri" pitchFamily="34" charset="0"/>
                <a:ea typeface="Calibri" pitchFamily="34" charset="-122"/>
                <a:cs typeface="Calibri" pitchFamily="34" charset="-120"/>
              </a:rPr>
              <a:t>Baseline holds 48 min, then charges at 47.6 °C and is disqualified</a:t>
            </a:r>
            <a:endParaRPr lang="en-US" sz="2000" dirty="0"/>
          </a:p>
          <a:p>
            <a:pPr marL="342900" indent="-342900">
              <a:spcAft>
                <a:spcPts val="1400"/>
              </a:spcAft>
              <a:buSzPct val="100000"/>
              <a:buChar char="•"/>
            </a:pPr>
            <a:r>
              <a:rPr lang="en-US" sz="2000" dirty="0">
                <a:solidFill>
                  <a:srgbClr val="262626"/>
                </a:solidFill>
                <a:latin typeface="Calibri" pitchFamily="34" charset="0"/>
                <a:ea typeface="Calibri" pitchFamily="34" charset="-122"/>
                <a:cs typeface="Calibri" pitchFamily="34" charset="-120"/>
              </a:rPr>
              <a:t>A (Al conduction plate): 92 min. B (LFP): 97 min. Both meet the 120 min limit</a:t>
            </a:r>
            <a:endParaRPr lang="en-US" sz="2000" dirty="0"/>
          </a:p>
          <a:p>
            <a:pPr marL="342900" indent="-342900">
              <a:spcAft>
                <a:spcPts val="1400"/>
              </a:spcAft>
              <a:buSzPct val="100000"/>
              <a:buChar char="•"/>
            </a:pPr>
            <a:r>
              <a:rPr lang="en-US" sz="2000" dirty="0">
                <a:solidFill>
                  <a:srgbClr val="262626"/>
                </a:solidFill>
                <a:latin typeface="Calibri" pitchFamily="34" charset="0"/>
                <a:ea typeface="Calibri" pitchFamily="34" charset="-122"/>
                <a:cs typeface="Calibri" pitchFamily="34" charset="-120"/>
              </a:rPr>
              <a:t>C (BMS change only) stays at 44.5 °C but is the slowest, at 277 min</a:t>
            </a:r>
            <a:endParaRPr lang="en-US"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7772400" cy="274320"/>
          </a:xfrm>
          <a:prstGeom prst="rect">
            <a:avLst/>
          </a:prstGeom>
          <a:noFill/>
          <a:ln/>
        </p:spPr>
        <p:txBody>
          <a:bodyPr wrap="square" lIns="0" tIns="0" rIns="0" bIns="0" rtlCol="0" anchor="ctr"/>
          <a:lstStyle/>
          <a:p>
            <a:pPr marL="0" indent="0">
              <a:buNone/>
            </a:pPr>
            <a:r>
              <a:rPr lang="en-US" sz="1200" dirty="0">
                <a:solidFill>
                  <a:srgbClr val="6B7280"/>
                </a:solidFill>
                <a:latin typeface="Calibri" pitchFamily="34" charset="0"/>
                <a:ea typeface="Calibri" pitchFamily="34" charset="-122"/>
                <a:cs typeface="Calibri" pitchFamily="34" charset="-120"/>
              </a:rPr>
              <a:t>Problem</a:t>
            </a:r>
            <a:r>
              <a:rPr lang="en-US" sz="1200" dirty="0">
                <a:solidFill>
                  <a:srgbClr val="D0D5DB"/>
                </a:solidFill>
                <a:latin typeface="Calibri" pitchFamily="34" charset="0"/>
                <a:ea typeface="Calibri" pitchFamily="34" charset="-122"/>
                <a:cs typeface="Calibri" pitchFamily="34" charset="-120"/>
              </a:rPr>
              <a:t>   ·   </a:t>
            </a:r>
            <a:r>
              <a:rPr lang="en-US" sz="1200" dirty="0">
                <a:solidFill>
                  <a:srgbClr val="6B7280"/>
                </a:solidFill>
                <a:latin typeface="Calibri" pitchFamily="34" charset="0"/>
                <a:ea typeface="Calibri" pitchFamily="34" charset="-122"/>
                <a:cs typeface="Calibri" pitchFamily="34" charset="-120"/>
              </a:rPr>
              <a:t>Approach</a:t>
            </a:r>
            <a:r>
              <a:rPr lang="en-US" sz="1200" dirty="0">
                <a:solidFill>
                  <a:srgbClr val="D0D5DB"/>
                </a:solidFill>
                <a:latin typeface="Calibri" pitchFamily="34" charset="0"/>
                <a:ea typeface="Calibri" pitchFamily="34" charset="-122"/>
                <a:cs typeface="Calibri" pitchFamily="34" charset="-120"/>
              </a:rPr>
              <a:t>   ·   </a:t>
            </a:r>
            <a:r>
              <a:rPr lang="en-US" sz="1200" dirty="0">
                <a:solidFill>
                  <a:srgbClr val="6B7280"/>
                </a:solidFill>
                <a:latin typeface="Calibri" pitchFamily="34" charset="0"/>
                <a:ea typeface="Calibri" pitchFamily="34" charset="-122"/>
                <a:cs typeface="Calibri" pitchFamily="34" charset="-120"/>
              </a:rPr>
              <a:t>Evidence</a:t>
            </a:r>
            <a:r>
              <a:rPr lang="en-US" sz="1200" dirty="0">
                <a:solidFill>
                  <a:srgbClr val="D0D5DB"/>
                </a:solidFill>
                <a:latin typeface="Calibri" pitchFamily="34" charset="0"/>
                <a:ea typeface="Calibri" pitchFamily="34" charset="-122"/>
                <a:cs typeface="Calibri" pitchFamily="34" charset="-120"/>
              </a:rPr>
              <a:t>   ·   </a:t>
            </a:r>
            <a:r>
              <a:rPr lang="en-US" sz="1200" b="1" dirty="0">
                <a:solidFill>
                  <a:srgbClr val="1F4E79"/>
                </a:solidFill>
                <a:latin typeface="Calibri" pitchFamily="34" charset="0"/>
                <a:ea typeface="Calibri" pitchFamily="34" charset="-122"/>
                <a:cs typeface="Calibri" pitchFamily="34" charset="-120"/>
              </a:rPr>
              <a:t>Results</a:t>
            </a:r>
            <a:r>
              <a:rPr lang="en-US" sz="1200" dirty="0">
                <a:solidFill>
                  <a:srgbClr val="D0D5DB"/>
                </a:solidFill>
                <a:latin typeface="Calibri" pitchFamily="34" charset="0"/>
                <a:ea typeface="Calibri" pitchFamily="34" charset="-122"/>
                <a:cs typeface="Calibri" pitchFamily="34" charset="-120"/>
              </a:rPr>
              <a:t>   ·   </a:t>
            </a:r>
            <a:r>
              <a:rPr lang="en-US" sz="1200" dirty="0">
                <a:solidFill>
                  <a:srgbClr val="6B7280"/>
                </a:solidFill>
                <a:latin typeface="Calibri" pitchFamily="34" charset="0"/>
                <a:ea typeface="Calibri" pitchFamily="34" charset="-122"/>
                <a:cs typeface="Calibri" pitchFamily="34" charset="-120"/>
              </a:rPr>
              <a:t>Demo</a:t>
            </a:r>
            <a:r>
              <a:rPr lang="en-US" sz="1200" dirty="0">
                <a:solidFill>
                  <a:srgbClr val="D0D5DB"/>
                </a:solidFill>
                <a:latin typeface="Calibri" pitchFamily="34" charset="0"/>
                <a:ea typeface="Calibri" pitchFamily="34" charset="-122"/>
                <a:cs typeface="Calibri" pitchFamily="34" charset="-120"/>
              </a:rPr>
              <a:t>   ·   </a:t>
            </a:r>
            <a:r>
              <a:rPr lang="en-US" sz="1200" dirty="0">
                <a:solidFill>
                  <a:srgbClr val="6B7280"/>
                </a:solidFill>
                <a:latin typeface="Calibri" pitchFamily="34" charset="0"/>
                <a:ea typeface="Calibri" pitchFamily="34" charset="-122"/>
                <a:cs typeface="Calibri" pitchFamily="34" charset="-120"/>
              </a:rPr>
              <a:t>Impact</a:t>
            </a:r>
            <a:endParaRPr lang="en-US" sz="1200" dirty="0"/>
          </a:p>
        </p:txBody>
      </p:sp>
      <p:sp>
        <p:nvSpPr>
          <p:cNvPr id="3" name="Text 1"/>
          <p:cNvSpPr/>
          <p:nvPr/>
        </p:nvSpPr>
        <p:spPr>
          <a:xfrm>
            <a:off x="7985455" y="274320"/>
            <a:ext cx="3657600" cy="274320"/>
          </a:xfrm>
          <a:prstGeom prst="rect">
            <a:avLst/>
          </a:prstGeom>
          <a:noFill/>
          <a:ln/>
        </p:spPr>
        <p:txBody>
          <a:bodyPr wrap="square" lIns="0" tIns="0" rIns="0" bIns="0" rtlCol="0" anchor="ctr"/>
          <a:lstStyle/>
          <a:p>
            <a:pPr marL="0" indent="0" algn="r">
              <a:buNone/>
            </a:pPr>
            <a:r>
              <a:rPr lang="en-US" sz="1200" dirty="0">
                <a:solidFill>
                  <a:srgbClr val="6B7280"/>
                </a:solidFill>
                <a:latin typeface="Calibri" pitchFamily="34" charset="0"/>
                <a:ea typeface="Calibri" pitchFamily="34" charset="-122"/>
                <a:cs typeface="Calibri" pitchFamily="34" charset="-120"/>
              </a:rPr>
              <a:t>Prototype &amp; evidence · Business viability</a:t>
            </a:r>
            <a:endParaRPr lang="en-US" sz="1200" dirty="0"/>
          </a:p>
        </p:txBody>
      </p:sp>
      <p:sp>
        <p:nvSpPr>
          <p:cNvPr id="4" name="Text 2"/>
          <p:cNvSpPr/>
          <p:nvPr/>
        </p:nvSpPr>
        <p:spPr>
          <a:xfrm>
            <a:off x="548640" y="621792"/>
            <a:ext cx="11094415" cy="914400"/>
          </a:xfrm>
          <a:prstGeom prst="rect">
            <a:avLst/>
          </a:prstGeom>
          <a:noFill/>
          <a:ln/>
        </p:spPr>
        <p:txBody>
          <a:bodyPr wrap="square" lIns="0" tIns="0" rIns="0" bIns="0" rtlCol="0" anchor="t"/>
          <a:lstStyle/>
          <a:p>
            <a:pPr marL="0" indent="0">
              <a:buNone/>
            </a:pPr>
            <a:r>
              <a:rPr lang="en-US" sz="2600" b="1" dirty="0">
                <a:solidFill>
                  <a:srgbClr val="1F4E79"/>
                </a:solidFill>
                <a:latin typeface="Calibri" pitchFamily="34" charset="0"/>
                <a:ea typeface="Calibri" pitchFamily="34" charset="-122"/>
                <a:cs typeface="Calibri" pitchFamily="34" charset="-120"/>
              </a:rPr>
              <a:t>We recommend B for new packs, A where mass and volume are capped, and C as a ₹0 retrofit</a:t>
            </a:r>
            <a:endParaRPr lang="en-US" sz="2600" dirty="0"/>
          </a:p>
        </p:txBody>
      </p:sp>
      <p:sp>
        <p:nvSpPr>
          <p:cNvPr id="5" name="Text 3"/>
          <p:cNvSpPr/>
          <p:nvPr/>
        </p:nvSpPr>
        <p:spPr>
          <a:xfrm>
            <a:off x="548640" y="6355080"/>
            <a:ext cx="10058400" cy="274320"/>
          </a:xfrm>
          <a:prstGeom prst="rect">
            <a:avLst/>
          </a:prstGeom>
          <a:noFill/>
          <a:ln/>
        </p:spPr>
        <p:txBody>
          <a:bodyPr wrap="square" lIns="0" tIns="0" rIns="0" bIns="0" rtlCol="0" anchor="ctr"/>
          <a:lstStyle/>
          <a:p>
            <a:pPr marL="0" indent="0">
              <a:buNone/>
            </a:pPr>
            <a:r>
              <a:rPr lang="en-US" sz="1200" dirty="0">
                <a:solidFill>
                  <a:srgbClr val="6B7280"/>
                </a:solidFill>
                <a:latin typeface="Calibri" pitchFamily="34" charset="0"/>
                <a:ea typeface="Calibri" pitchFamily="34" charset="-122"/>
                <a:cs typeface="Calibri" pitchFamily="34" charset="-120"/>
              </a:rPr>
              <a:t>Source: recommend() in packforge/engine.py, printed by the CLI. Costs and masses are generic class values.</a:t>
            </a:r>
            <a:endParaRPr lang="en-US" sz="1200" dirty="0"/>
          </a:p>
        </p:txBody>
      </p:sp>
      <p:sp>
        <p:nvSpPr>
          <p:cNvPr id="6" name="Text 4"/>
          <p:cNvSpPr/>
          <p:nvPr/>
        </p:nvSpPr>
        <p:spPr>
          <a:xfrm>
            <a:off x="10911535" y="6355080"/>
            <a:ext cx="731520" cy="274320"/>
          </a:xfrm>
          <a:prstGeom prst="rect">
            <a:avLst/>
          </a:prstGeom>
          <a:noFill/>
          <a:ln/>
        </p:spPr>
        <p:txBody>
          <a:bodyPr wrap="square" lIns="0" tIns="0" rIns="0" bIns="0" rtlCol="0" anchor="ctr"/>
          <a:lstStyle/>
          <a:p>
            <a:pPr marL="0" indent="0" algn="r">
              <a:buNone/>
            </a:pPr>
            <a:r>
              <a:rPr lang="en-US" sz="1200" dirty="0">
                <a:solidFill>
                  <a:srgbClr val="6B7280"/>
                </a:solidFill>
                <a:latin typeface="Calibri" pitchFamily="34" charset="0"/>
                <a:ea typeface="Calibri" pitchFamily="34" charset="-122"/>
                <a:cs typeface="Calibri" pitchFamily="34" charset="-120"/>
              </a:rPr>
              <a:t>9</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11094414" cy="3749040"/>
        </p:xfrm>
        <a:graphic>
          <a:graphicData uri="http://schemas.openxmlformats.org/drawingml/2006/table">
            <a:tbl>
              <a:tblPr/>
              <a:tblGrid>
                <a:gridCol w="2011680">
                  <a:extLst>
                    <a:ext uri="{9D8B030D-6E8A-4147-A177-3AD203B41FA5}">
                      <a16:colId xmlns:a16="http://schemas.microsoft.com/office/drawing/2014/main" val="20000"/>
                    </a:ext>
                  </a:extLst>
                </a:gridCol>
                <a:gridCol w="3027578">
                  <a:extLst>
                    <a:ext uri="{9D8B030D-6E8A-4147-A177-3AD203B41FA5}">
                      <a16:colId xmlns:a16="http://schemas.microsoft.com/office/drawing/2014/main" val="20001"/>
                    </a:ext>
                  </a:extLst>
                </a:gridCol>
                <a:gridCol w="3027578">
                  <a:extLst>
                    <a:ext uri="{9D8B030D-6E8A-4147-A177-3AD203B41FA5}">
                      <a16:colId xmlns:a16="http://schemas.microsoft.com/office/drawing/2014/main" val="20002"/>
                    </a:ext>
                  </a:extLst>
                </a:gridCol>
                <a:gridCol w="3027578">
                  <a:extLst>
                    <a:ext uri="{9D8B030D-6E8A-4147-A177-3AD203B41FA5}">
                      <a16:colId xmlns:a16="http://schemas.microsoft.com/office/drawing/2014/main" val="20003"/>
                    </a:ext>
                  </a:extLst>
                </a:gridCol>
              </a:tblGrid>
              <a:tr h="502920">
                <a:tc>
                  <a:txBody>
                    <a:bodyPr/>
                    <a:lstStyle/>
                    <a:p>
                      <a:pPr marL="0" indent="0">
                        <a:buNone/>
                      </a:pPr>
                      <a:endParaRPr lang="en-US" sz="18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solidFill>
                      <a:srgbClr val="1F4E79"/>
                    </a:solidFill>
                  </a:tcPr>
                </a:tc>
                <a:tc>
                  <a:txBody>
                    <a:bodyPr/>
                    <a:lstStyle/>
                    <a:p>
                      <a:pPr marL="0" indent="0">
                        <a:buNone/>
                      </a:pPr>
                      <a:r>
                        <a:rPr lang="en-US" sz="1800" b="1" dirty="0">
                          <a:solidFill>
                            <a:srgbClr val="FFFFFF"/>
                          </a:solidFill>
                          <a:latin typeface="Calibri" pitchFamily="34" charset="0"/>
                          <a:ea typeface="Calibri" pitchFamily="34" charset="-122"/>
                          <a:cs typeface="Calibri" pitchFamily="34" charset="-120"/>
                        </a:rPr>
                        <a:t>B · LFP 16S8P (recommended)</a:t>
                      </a:r>
                      <a:endParaRPr lang="en-US" sz="18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solidFill>
                      <a:srgbClr val="1F4E79"/>
                    </a:solidFill>
                  </a:tcPr>
                </a:tc>
                <a:tc>
                  <a:txBody>
                    <a:bodyPr/>
                    <a:lstStyle/>
                    <a:p>
                      <a:pPr marL="0" indent="0">
                        <a:buNone/>
                      </a:pPr>
                      <a:r>
                        <a:rPr lang="en-US" sz="1800" b="1" dirty="0">
                          <a:solidFill>
                            <a:srgbClr val="FFFFFF"/>
                          </a:solidFill>
                          <a:latin typeface="Calibri" pitchFamily="34" charset="0"/>
                          <a:ea typeface="Calibri" pitchFamily="34" charset="-122"/>
                          <a:cs typeface="Calibri" pitchFamily="34" charset="-120"/>
                        </a:rPr>
                        <a:t>A · NMC + Al plate</a:t>
                      </a:r>
                      <a:endParaRPr lang="en-US" sz="18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solidFill>
                      <a:srgbClr val="1F4E79"/>
                    </a:solidFill>
                  </a:tcPr>
                </a:tc>
                <a:tc>
                  <a:txBody>
                    <a:bodyPr/>
                    <a:lstStyle/>
                    <a:p>
                      <a:pPr marL="0" indent="0">
                        <a:buNone/>
                      </a:pPr>
                      <a:r>
                        <a:rPr lang="en-US" sz="1800" b="1" dirty="0">
                          <a:solidFill>
                            <a:srgbClr val="FFFFFF"/>
                          </a:solidFill>
                          <a:latin typeface="Calibri" pitchFamily="34" charset="0"/>
                          <a:ea typeface="Calibri" pitchFamily="34" charset="-122"/>
                          <a:cs typeface="Calibri" pitchFamily="34" charset="-120"/>
                        </a:rPr>
                        <a:t>C · baseline + observer</a:t>
                      </a:r>
                      <a:endParaRPr lang="en-US" sz="18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solidFill>
                      <a:srgbClr val="1F4E79"/>
                    </a:solidFill>
                  </a:tcPr>
                </a:tc>
                <a:extLst>
                  <a:ext uri="{0D108BD9-81ED-4DB2-BD59-A6C34878D82A}">
                    <a16:rowId xmlns:a16="http://schemas.microsoft.com/office/drawing/2014/main" val="10000"/>
                  </a:ext>
                </a:extLst>
              </a:tr>
              <a:tr h="64008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Use for</a:t>
                      </a:r>
                      <a:endParaRPr lang="en-US" sz="18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buNone/>
                      </a:pPr>
                      <a:r>
                        <a:rPr lang="en-US" sz="1800" dirty="0">
                          <a:solidFill>
                            <a:srgbClr val="262626"/>
                          </a:solidFill>
                          <a:latin typeface="Calibri" pitchFamily="34" charset="0"/>
                          <a:ea typeface="Calibri" pitchFamily="34" charset="-122"/>
                          <a:cs typeface="Calibri" pitchFamily="34" charset="-120"/>
                        </a:rPr>
                        <a:t>New packs</a:t>
                      </a:r>
                      <a:endParaRPr lang="en-US" sz="18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solidFill>
                      <a:srgbClr val="DEEAF6"/>
                    </a:solidFill>
                  </a:tcPr>
                </a:tc>
                <a:tc>
                  <a:txBody>
                    <a:bodyPr/>
                    <a:lstStyle/>
                    <a:p>
                      <a:pPr marL="0" indent="0">
                        <a:buNone/>
                      </a:pPr>
                      <a:r>
                        <a:rPr lang="en-US" sz="1800" dirty="0">
                          <a:solidFill>
                            <a:srgbClr val="262626"/>
                          </a:solidFill>
                          <a:latin typeface="Calibri" pitchFamily="34" charset="0"/>
                          <a:ea typeface="Calibri" pitchFamily="34" charset="-122"/>
                          <a:cs typeface="Calibri" pitchFamily="34" charset="-120"/>
                        </a:rPr>
                        <a:t>Mass and volume capped</a:t>
                      </a:r>
                      <a:endParaRPr lang="en-US" sz="18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buNone/>
                      </a:pPr>
                      <a:r>
                        <a:rPr lang="en-US" sz="1800" dirty="0">
                          <a:solidFill>
                            <a:srgbClr val="262626"/>
                          </a:solidFill>
                          <a:latin typeface="Calibri" pitchFamily="34" charset="0"/>
                          <a:ea typeface="Calibri" pitchFamily="34" charset="-122"/>
                          <a:cs typeface="Calibri" pitchFamily="34" charset="-120"/>
                        </a:rPr>
                        <a:t>2-NTC packs already built</a:t>
                      </a:r>
                      <a:endParaRPr lang="en-US" sz="18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extLst>
                  <a:ext uri="{0D108BD9-81ED-4DB2-BD59-A6C34878D82A}">
                    <a16:rowId xmlns:a16="http://schemas.microsoft.com/office/drawing/2014/main" val="10001"/>
                  </a:ext>
                </a:extLst>
              </a:tr>
              <a:tr h="64008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Plug-in → 80 %</a:t>
                      </a:r>
                      <a:endParaRPr lang="en-US" sz="18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buNone/>
                      </a:pPr>
                      <a:r>
                        <a:rPr lang="en-US" sz="1800" b="1" dirty="0">
                          <a:solidFill>
                            <a:srgbClr val="262626"/>
                          </a:solidFill>
                          <a:latin typeface="Calibri" pitchFamily="34" charset="0"/>
                          <a:ea typeface="Calibri" pitchFamily="34" charset="-122"/>
                          <a:cs typeface="Calibri" pitchFamily="34" charset="-120"/>
                        </a:rPr>
                        <a:t>97 min</a:t>
                      </a:r>
                      <a:endParaRPr lang="en-US" sz="18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solidFill>
                      <a:srgbClr val="DEEAF6"/>
                    </a:solidFill>
                  </a:tcPr>
                </a:tc>
                <a:tc>
                  <a:txBody>
                    <a:bodyPr/>
                    <a:lstStyle/>
                    <a:p>
                      <a:pPr marL="0" indent="0">
                        <a:buNone/>
                      </a:pPr>
                      <a:r>
                        <a:rPr lang="en-US" sz="1800" b="1" dirty="0">
                          <a:solidFill>
                            <a:srgbClr val="262626"/>
                          </a:solidFill>
                          <a:latin typeface="Calibri" pitchFamily="34" charset="0"/>
                          <a:ea typeface="Calibri" pitchFamily="34" charset="-122"/>
                          <a:cs typeface="Calibri" pitchFamily="34" charset="-120"/>
                        </a:rPr>
                        <a:t>92 min</a:t>
                      </a:r>
                      <a:endParaRPr lang="en-US" sz="18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buNone/>
                      </a:pPr>
                      <a:r>
                        <a:rPr lang="en-US" sz="1800" b="1" dirty="0">
                          <a:solidFill>
                            <a:srgbClr val="262626"/>
                          </a:solidFill>
                          <a:latin typeface="Calibri" pitchFamily="34" charset="0"/>
                          <a:ea typeface="Calibri" pitchFamily="34" charset="-122"/>
                          <a:cs typeface="Calibri" pitchFamily="34" charset="-120"/>
                        </a:rPr>
                        <a:t>277 min</a:t>
                      </a:r>
                      <a:endParaRPr lang="en-US" sz="18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extLst>
                  <a:ext uri="{0D108BD9-81ED-4DB2-BD59-A6C34878D82A}">
                    <a16:rowId xmlns:a16="http://schemas.microsoft.com/office/drawing/2014/main" val="10002"/>
                  </a:ext>
                </a:extLst>
              </a:tr>
              <a:tr h="82296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Cost</a:t>
                      </a:r>
                      <a:endParaRPr lang="en-US" sz="18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buNone/>
                      </a:pPr>
                      <a:r>
                        <a:rPr lang="en-US" sz="1800" dirty="0">
                          <a:solidFill>
                            <a:srgbClr val="262626"/>
                          </a:solidFill>
                          <a:latin typeface="Calibri" pitchFamily="34" charset="0"/>
                          <a:ea typeface="Calibri" pitchFamily="34" charset="-122"/>
                          <a:cs typeface="Calibri" pitchFamily="34" charset="-120"/>
                        </a:rPr>
                        <a:t>₹18.2 k per usable kWh, the lowest</a:t>
                      </a:r>
                      <a:endParaRPr lang="en-US" sz="18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solidFill>
                      <a:srgbClr val="DEEAF6"/>
                    </a:solidFill>
                  </a:tcPr>
                </a:tc>
                <a:tc>
                  <a:txBody>
                    <a:bodyPr/>
                    <a:lstStyle/>
                    <a:p>
                      <a:pPr marL="0" indent="0">
                        <a:buNone/>
                      </a:pPr>
                      <a:r>
                        <a:rPr lang="en-US" sz="1800" dirty="0">
                          <a:solidFill>
                            <a:srgbClr val="262626"/>
                          </a:solidFill>
                          <a:latin typeface="Calibri" pitchFamily="34" charset="0"/>
                          <a:ea typeface="Calibri" pitchFamily="34" charset="-122"/>
                          <a:cs typeface="Calibri" pitchFamily="34" charset="-120"/>
                        </a:rPr>
                        <a:t>+₹2.7 k per pack</a:t>
                      </a:r>
                      <a:endParaRPr lang="en-US" sz="18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buNone/>
                      </a:pPr>
                      <a:r>
                        <a:rPr lang="en-US" sz="1800" dirty="0">
                          <a:solidFill>
                            <a:srgbClr val="262626"/>
                          </a:solidFill>
                          <a:latin typeface="Calibri" pitchFamily="34" charset="0"/>
                          <a:ea typeface="Calibri" pitchFamily="34" charset="-122"/>
                          <a:cs typeface="Calibri" pitchFamily="34" charset="-120"/>
                        </a:rPr>
                        <a:t>₹0: BMS settings only</a:t>
                      </a:r>
                      <a:endParaRPr lang="en-US" sz="18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extLst>
                  <a:ext uri="{0D108BD9-81ED-4DB2-BD59-A6C34878D82A}">
                    <a16:rowId xmlns:a16="http://schemas.microsoft.com/office/drawing/2014/main" val="10003"/>
                  </a:ext>
                </a:extLst>
              </a:tr>
              <a:tr h="114300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Risk</a:t>
                      </a:r>
                      <a:endParaRPr lang="en-US" sz="18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buNone/>
                      </a:pPr>
                      <a:r>
                        <a:rPr lang="en-US" sz="1800" dirty="0">
                          <a:solidFill>
                            <a:srgbClr val="262626"/>
                          </a:solidFill>
                          <a:latin typeface="Calibri" pitchFamily="34" charset="0"/>
                          <a:ea typeface="Calibri" pitchFamily="34" charset="-122"/>
                          <a:cs typeface="Calibri" pitchFamily="34" charset="-120"/>
                        </a:rPr>
                        <a:t>Over the mass (22.7 kg) and volume (13.1 L) targets; LFP cell not validated</a:t>
                      </a:r>
                      <a:endParaRPr lang="en-US" sz="18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solidFill>
                      <a:srgbClr val="DEEAF6"/>
                    </a:solidFill>
                  </a:tcPr>
                </a:tc>
                <a:tc>
                  <a:txBody>
                    <a:bodyPr/>
                    <a:lstStyle/>
                    <a:p>
                      <a:pPr marL="0" indent="0">
                        <a:buNone/>
                      </a:pPr>
                      <a:r>
                        <a:rPr lang="en-US" sz="1800" dirty="0">
                          <a:solidFill>
                            <a:srgbClr val="262626"/>
                          </a:solidFill>
                          <a:latin typeface="Calibri" pitchFamily="34" charset="0"/>
                          <a:ea typeface="Calibri" pitchFamily="34" charset="-122"/>
                          <a:cs typeface="Calibri" pitchFamily="34" charset="-120"/>
                        </a:rPr>
                        <a:t>+1.2 kg; the only design that passes at 2× heat</a:t>
                      </a:r>
                      <a:endParaRPr lang="en-US" sz="18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buNone/>
                      </a:pPr>
                      <a:r>
                        <a:rPr lang="en-US" sz="1800" dirty="0">
                          <a:solidFill>
                            <a:srgbClr val="262626"/>
                          </a:solidFill>
                          <a:latin typeface="Calibri" pitchFamily="34" charset="0"/>
                          <a:ea typeface="Calibri" pitchFamily="34" charset="-122"/>
                          <a:cs typeface="Calibri" pitchFamily="34" charset="-120"/>
                        </a:rPr>
                        <a:t>Slower; 2 sensors, so not AIS‑156 compliant (≥ 4)</a:t>
                      </a:r>
                      <a:endParaRPr lang="en-US" sz="18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7772400" cy="274320"/>
          </a:xfrm>
          <a:prstGeom prst="rect">
            <a:avLst/>
          </a:prstGeom>
          <a:noFill/>
          <a:ln/>
        </p:spPr>
        <p:txBody>
          <a:bodyPr wrap="square" lIns="0" tIns="0" rIns="0" bIns="0" rtlCol="0" anchor="ctr"/>
          <a:lstStyle/>
          <a:p>
            <a:pPr marL="0" indent="0">
              <a:buNone/>
            </a:pPr>
            <a:r>
              <a:rPr lang="en-US" sz="1200" dirty="0">
                <a:solidFill>
                  <a:srgbClr val="6B7280"/>
                </a:solidFill>
                <a:latin typeface="Calibri" pitchFamily="34" charset="0"/>
                <a:ea typeface="Calibri" pitchFamily="34" charset="-122"/>
                <a:cs typeface="Calibri" pitchFamily="34" charset="-120"/>
              </a:rPr>
              <a:t>Problem</a:t>
            </a:r>
            <a:r>
              <a:rPr lang="en-US" sz="1200" dirty="0">
                <a:solidFill>
                  <a:srgbClr val="D0D5DB"/>
                </a:solidFill>
                <a:latin typeface="Calibri" pitchFamily="34" charset="0"/>
                <a:ea typeface="Calibri" pitchFamily="34" charset="-122"/>
                <a:cs typeface="Calibri" pitchFamily="34" charset="-120"/>
              </a:rPr>
              <a:t>   ·   </a:t>
            </a:r>
            <a:r>
              <a:rPr lang="en-US" sz="1200" dirty="0">
                <a:solidFill>
                  <a:srgbClr val="6B7280"/>
                </a:solidFill>
                <a:latin typeface="Calibri" pitchFamily="34" charset="0"/>
                <a:ea typeface="Calibri" pitchFamily="34" charset="-122"/>
                <a:cs typeface="Calibri" pitchFamily="34" charset="-120"/>
              </a:rPr>
              <a:t>Approach</a:t>
            </a:r>
            <a:r>
              <a:rPr lang="en-US" sz="1200" dirty="0">
                <a:solidFill>
                  <a:srgbClr val="D0D5DB"/>
                </a:solidFill>
                <a:latin typeface="Calibri" pitchFamily="34" charset="0"/>
                <a:ea typeface="Calibri" pitchFamily="34" charset="-122"/>
                <a:cs typeface="Calibri" pitchFamily="34" charset="-120"/>
              </a:rPr>
              <a:t>   ·   </a:t>
            </a:r>
            <a:r>
              <a:rPr lang="en-US" sz="1200" dirty="0">
                <a:solidFill>
                  <a:srgbClr val="6B7280"/>
                </a:solidFill>
                <a:latin typeface="Calibri" pitchFamily="34" charset="0"/>
                <a:ea typeface="Calibri" pitchFamily="34" charset="-122"/>
                <a:cs typeface="Calibri" pitchFamily="34" charset="-120"/>
              </a:rPr>
              <a:t>Evidence</a:t>
            </a:r>
            <a:r>
              <a:rPr lang="en-US" sz="1200" dirty="0">
                <a:solidFill>
                  <a:srgbClr val="D0D5DB"/>
                </a:solidFill>
                <a:latin typeface="Calibri" pitchFamily="34" charset="0"/>
                <a:ea typeface="Calibri" pitchFamily="34" charset="-122"/>
                <a:cs typeface="Calibri" pitchFamily="34" charset="-120"/>
              </a:rPr>
              <a:t>   ·   </a:t>
            </a:r>
            <a:r>
              <a:rPr lang="en-US" sz="1200" b="1" dirty="0">
                <a:solidFill>
                  <a:srgbClr val="1F4E79"/>
                </a:solidFill>
                <a:latin typeface="Calibri" pitchFamily="34" charset="0"/>
                <a:ea typeface="Calibri" pitchFamily="34" charset="-122"/>
                <a:cs typeface="Calibri" pitchFamily="34" charset="-120"/>
              </a:rPr>
              <a:t>Results</a:t>
            </a:r>
            <a:r>
              <a:rPr lang="en-US" sz="1200" dirty="0">
                <a:solidFill>
                  <a:srgbClr val="D0D5DB"/>
                </a:solidFill>
                <a:latin typeface="Calibri" pitchFamily="34" charset="0"/>
                <a:ea typeface="Calibri" pitchFamily="34" charset="-122"/>
                <a:cs typeface="Calibri" pitchFamily="34" charset="-120"/>
              </a:rPr>
              <a:t>   ·   </a:t>
            </a:r>
            <a:r>
              <a:rPr lang="en-US" sz="1200" dirty="0">
                <a:solidFill>
                  <a:srgbClr val="6B7280"/>
                </a:solidFill>
                <a:latin typeface="Calibri" pitchFamily="34" charset="0"/>
                <a:ea typeface="Calibri" pitchFamily="34" charset="-122"/>
                <a:cs typeface="Calibri" pitchFamily="34" charset="-120"/>
              </a:rPr>
              <a:t>Demo</a:t>
            </a:r>
            <a:r>
              <a:rPr lang="en-US" sz="1200" dirty="0">
                <a:solidFill>
                  <a:srgbClr val="D0D5DB"/>
                </a:solidFill>
                <a:latin typeface="Calibri" pitchFamily="34" charset="0"/>
                <a:ea typeface="Calibri" pitchFamily="34" charset="-122"/>
                <a:cs typeface="Calibri" pitchFamily="34" charset="-120"/>
              </a:rPr>
              <a:t>   ·   </a:t>
            </a:r>
            <a:r>
              <a:rPr lang="en-US" sz="1200" dirty="0">
                <a:solidFill>
                  <a:srgbClr val="6B7280"/>
                </a:solidFill>
                <a:latin typeface="Calibri" pitchFamily="34" charset="0"/>
                <a:ea typeface="Calibri" pitchFamily="34" charset="-122"/>
                <a:cs typeface="Calibri" pitchFamily="34" charset="-120"/>
              </a:rPr>
              <a:t>Impact</a:t>
            </a:r>
            <a:endParaRPr lang="en-US" sz="1200" dirty="0"/>
          </a:p>
        </p:txBody>
      </p:sp>
      <p:sp>
        <p:nvSpPr>
          <p:cNvPr id="3" name="Text 1"/>
          <p:cNvSpPr/>
          <p:nvPr/>
        </p:nvSpPr>
        <p:spPr>
          <a:xfrm>
            <a:off x="7985455" y="274320"/>
            <a:ext cx="3657600" cy="274320"/>
          </a:xfrm>
          <a:prstGeom prst="rect">
            <a:avLst/>
          </a:prstGeom>
          <a:noFill/>
          <a:ln/>
        </p:spPr>
        <p:txBody>
          <a:bodyPr wrap="square" lIns="0" tIns="0" rIns="0" bIns="0" rtlCol="0" anchor="ctr"/>
          <a:lstStyle/>
          <a:p>
            <a:pPr marL="0" indent="0" algn="r">
              <a:buNone/>
            </a:pPr>
            <a:r>
              <a:rPr lang="en-US" sz="1200" dirty="0">
                <a:solidFill>
                  <a:srgbClr val="6B7280"/>
                </a:solidFill>
                <a:latin typeface="Calibri" pitchFamily="34" charset="0"/>
                <a:ea typeface="Calibri" pitchFamily="34" charset="-122"/>
                <a:cs typeface="Calibri" pitchFamily="34" charset="-120"/>
              </a:rPr>
              <a:t>Engineering quality</a:t>
            </a:r>
            <a:endParaRPr lang="en-US" sz="1200" dirty="0"/>
          </a:p>
        </p:txBody>
      </p:sp>
      <p:sp>
        <p:nvSpPr>
          <p:cNvPr id="4" name="Text 2"/>
          <p:cNvSpPr/>
          <p:nvPr/>
        </p:nvSpPr>
        <p:spPr>
          <a:xfrm>
            <a:off x="548640" y="621792"/>
            <a:ext cx="11094415" cy="914400"/>
          </a:xfrm>
          <a:prstGeom prst="rect">
            <a:avLst/>
          </a:prstGeom>
          <a:noFill/>
          <a:ln/>
        </p:spPr>
        <p:txBody>
          <a:bodyPr wrap="square" lIns="0" tIns="0" rIns="0" bIns="0" rtlCol="0" anchor="t"/>
          <a:lstStyle/>
          <a:p>
            <a:pPr marL="0" indent="0">
              <a:buNone/>
            </a:pPr>
            <a:r>
              <a:rPr lang="en-US" sz="2600" b="1" dirty="0">
                <a:solidFill>
                  <a:srgbClr val="1F4E79"/>
                </a:solidFill>
                <a:latin typeface="Calibri" pitchFamily="34" charset="0"/>
                <a:ea typeface="Calibri" pitchFamily="34" charset="-122"/>
                <a:cs typeface="Calibri" pitchFamily="34" charset="-120"/>
              </a:rPr>
              <a:t>If cells make 2× the modelled heat, B misses the charge limit by 0.02 K and A becomes the pick</a:t>
            </a:r>
            <a:endParaRPr lang="en-US" sz="2600" dirty="0"/>
          </a:p>
        </p:txBody>
      </p:sp>
      <p:sp>
        <p:nvSpPr>
          <p:cNvPr id="5" name="Text 3"/>
          <p:cNvSpPr/>
          <p:nvPr/>
        </p:nvSpPr>
        <p:spPr>
          <a:xfrm>
            <a:off x="548640" y="6355080"/>
            <a:ext cx="10058400" cy="274320"/>
          </a:xfrm>
          <a:prstGeom prst="rect">
            <a:avLst/>
          </a:prstGeom>
          <a:noFill/>
          <a:ln/>
        </p:spPr>
        <p:txBody>
          <a:bodyPr wrap="square" lIns="0" tIns="0" rIns="0" bIns="0" rtlCol="0" anchor="ctr"/>
          <a:lstStyle/>
          <a:p>
            <a:pPr marL="0" indent="0">
              <a:buNone/>
            </a:pPr>
            <a:r>
              <a:rPr lang="en-US" sz="1200" dirty="0">
                <a:solidFill>
                  <a:srgbClr val="6B7280"/>
                </a:solidFill>
                <a:latin typeface="Calibri" pitchFamily="34" charset="0"/>
                <a:ea typeface="Calibri" pitchFamily="34" charset="-122"/>
                <a:cs typeface="Calibri" pitchFamily="34" charset="-120"/>
              </a:rPr>
              <a:t>Source: CLI robustness re-run; cells generate 2× the modelled heat and the BMS is not told. Charge time: plug-in → 80 %.</a:t>
            </a:r>
            <a:endParaRPr lang="en-US" sz="1200" dirty="0"/>
          </a:p>
        </p:txBody>
      </p:sp>
      <p:sp>
        <p:nvSpPr>
          <p:cNvPr id="6" name="Text 4"/>
          <p:cNvSpPr/>
          <p:nvPr/>
        </p:nvSpPr>
        <p:spPr>
          <a:xfrm>
            <a:off x="10911535" y="6355080"/>
            <a:ext cx="731520" cy="274320"/>
          </a:xfrm>
          <a:prstGeom prst="rect">
            <a:avLst/>
          </a:prstGeom>
          <a:noFill/>
          <a:ln/>
        </p:spPr>
        <p:txBody>
          <a:bodyPr wrap="square" lIns="0" tIns="0" rIns="0" bIns="0" rtlCol="0" anchor="ctr"/>
          <a:lstStyle/>
          <a:p>
            <a:pPr marL="0" indent="0" algn="r">
              <a:buNone/>
            </a:pPr>
            <a:r>
              <a:rPr lang="en-US" sz="1200" dirty="0">
                <a:solidFill>
                  <a:srgbClr val="6B7280"/>
                </a:solidFill>
                <a:latin typeface="Calibri" pitchFamily="34" charset="0"/>
                <a:ea typeface="Calibri" pitchFamily="34" charset="-122"/>
                <a:cs typeface="Calibri" pitchFamily="34" charset="-120"/>
              </a:rPr>
              <a:t>10</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6126480" cy="3611880"/>
        </p:xfrm>
        <a:graphic>
          <a:graphicData uri="http://schemas.openxmlformats.org/drawingml/2006/table">
            <a:tbl>
              <a:tblPr/>
              <a:tblGrid>
                <a:gridCol w="2148840">
                  <a:extLst>
                    <a:ext uri="{9D8B030D-6E8A-4147-A177-3AD203B41FA5}">
                      <a16:colId xmlns:a16="http://schemas.microsoft.com/office/drawing/2014/main" val="20000"/>
                    </a:ext>
                  </a:extLst>
                </a:gridCol>
                <a:gridCol w="1508760">
                  <a:extLst>
                    <a:ext uri="{9D8B030D-6E8A-4147-A177-3AD203B41FA5}">
                      <a16:colId xmlns:a16="http://schemas.microsoft.com/office/drawing/2014/main" val="20001"/>
                    </a:ext>
                  </a:extLst>
                </a:gridCol>
                <a:gridCol w="2468880">
                  <a:extLst>
                    <a:ext uri="{9D8B030D-6E8A-4147-A177-3AD203B41FA5}">
                      <a16:colId xmlns:a16="http://schemas.microsoft.com/office/drawing/2014/main" val="20002"/>
                    </a:ext>
                  </a:extLst>
                </a:gridCol>
              </a:tblGrid>
              <a:tr h="502920">
                <a:tc>
                  <a:txBody>
                    <a:bodyPr/>
                    <a:lstStyle/>
                    <a:p>
                      <a:pPr marL="0" indent="0">
                        <a:buNone/>
                      </a:pPr>
                      <a:r>
                        <a:rPr lang="en-US" sz="1800" b="1" dirty="0">
                          <a:solidFill>
                            <a:srgbClr val="FFFFFF"/>
                          </a:solidFill>
                          <a:latin typeface="Calibri" pitchFamily="34" charset="0"/>
                          <a:ea typeface="Calibri" pitchFamily="34" charset="-122"/>
                          <a:cs typeface="Calibri" pitchFamily="34" charset="-120"/>
                        </a:rPr>
                        <a:t>Design</a:t>
                      </a:r>
                      <a:endParaRPr lang="en-US" sz="18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solidFill>
                      <a:srgbClr val="1F4E79"/>
                    </a:solidFill>
                  </a:tcPr>
                </a:tc>
                <a:tc>
                  <a:txBody>
                    <a:bodyPr/>
                    <a:lstStyle/>
                    <a:p>
                      <a:pPr marL="0" indent="0">
                        <a:buNone/>
                      </a:pPr>
                      <a:r>
                        <a:rPr lang="en-US" sz="1800" b="1" dirty="0">
                          <a:solidFill>
                            <a:srgbClr val="FFFFFF"/>
                          </a:solidFill>
                          <a:latin typeface="Calibri" pitchFamily="34" charset="0"/>
                          <a:ea typeface="Calibri" pitchFamily="34" charset="-122"/>
                          <a:cs typeface="Calibri" pitchFamily="34" charset="-120"/>
                        </a:rPr>
                        <a:t>Charge time</a:t>
                      </a:r>
                      <a:endParaRPr lang="en-US" sz="18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solidFill>
                      <a:srgbClr val="1F4E79"/>
                    </a:solidFill>
                  </a:tcPr>
                </a:tc>
                <a:tc>
                  <a:txBody>
                    <a:bodyPr/>
                    <a:lstStyle/>
                    <a:p>
                      <a:pPr marL="0" indent="0">
                        <a:buNone/>
                      </a:pPr>
                      <a:r>
                        <a:rPr lang="en-US" sz="1800" b="1" dirty="0">
                          <a:solidFill>
                            <a:srgbClr val="FFFFFF"/>
                          </a:solidFill>
                          <a:latin typeface="Calibri" pitchFamily="34" charset="0"/>
                          <a:ea typeface="Calibri" pitchFamily="34" charset="-122"/>
                          <a:cs typeface="Calibri" pitchFamily="34" charset="-120"/>
                        </a:rPr>
                        <a:t>Result at 2× heat</a:t>
                      </a:r>
                      <a:endParaRPr lang="en-US" sz="18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solidFill>
                      <a:srgbClr val="1F4E79"/>
                    </a:solidFill>
                  </a:tcPr>
                </a:tc>
                <a:extLst>
                  <a:ext uri="{0D108BD9-81ED-4DB2-BD59-A6C34878D82A}">
                    <a16:rowId xmlns:a16="http://schemas.microsoft.com/office/drawing/2014/main" val="10000"/>
                  </a:ext>
                </a:extLst>
              </a:tr>
              <a:tr h="777240">
                <a:tc>
                  <a:txBody>
                    <a:bodyPr/>
                    <a:lstStyle/>
                    <a:p>
                      <a:pPr marL="0" indent="0">
                        <a:buNone/>
                      </a:pPr>
                      <a:r>
                        <a:rPr lang="en-US" sz="1800" dirty="0">
                          <a:solidFill>
                            <a:srgbClr val="262626"/>
                          </a:solidFill>
                          <a:latin typeface="Calibri" pitchFamily="34" charset="0"/>
                          <a:ea typeface="Calibri" pitchFamily="34" charset="-122"/>
                          <a:cs typeface="Calibri" pitchFamily="34" charset="-120"/>
                        </a:rPr>
                        <a:t>Baseline</a:t>
                      </a:r>
                      <a:endParaRPr lang="en-US" sz="18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buNone/>
                      </a:pPr>
                      <a:r>
                        <a:rPr lang="en-US" sz="1800" dirty="0">
                          <a:solidFill>
                            <a:srgbClr val="262626"/>
                          </a:solidFill>
                          <a:latin typeface="Calibri" pitchFamily="34" charset="0"/>
                          <a:ea typeface="Calibri" pitchFamily="34" charset="-122"/>
                          <a:cs typeface="Calibri" pitchFamily="34" charset="-120"/>
                        </a:rPr>
                        <a:t>339 min</a:t>
                      </a:r>
                      <a:endParaRPr lang="en-US" sz="18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buNone/>
                      </a:pPr>
                      <a:r>
                        <a:rPr lang="en-US" sz="1800" dirty="0">
                          <a:solidFill>
                            <a:srgbClr val="C2410C"/>
                          </a:solidFill>
                          <a:latin typeface="Calibri" pitchFamily="34" charset="0"/>
                          <a:ea typeface="Calibri" pitchFamily="34" charset="-122"/>
                          <a:cs typeface="Calibri" pitchFamily="34" charset="-120"/>
                        </a:rPr>
                        <a:t>Fails REQ‑03 and REQ‑04 (64 °C riding)</a:t>
                      </a:r>
                      <a:endParaRPr lang="en-US" sz="18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extLst>
                  <a:ext uri="{0D108BD9-81ED-4DB2-BD59-A6C34878D82A}">
                    <a16:rowId xmlns:a16="http://schemas.microsoft.com/office/drawing/2014/main" val="10001"/>
                  </a:ext>
                </a:extLst>
              </a:tr>
              <a:tr h="777240">
                <a:tc>
                  <a:txBody>
                    <a:bodyPr/>
                    <a:lstStyle/>
                    <a:p>
                      <a:pPr marL="0" indent="0">
                        <a:buNone/>
                      </a:pPr>
                      <a:r>
                        <a:rPr lang="en-US" sz="1800" b="1" dirty="0">
                          <a:solidFill>
                            <a:srgbClr val="262626"/>
                          </a:solidFill>
                          <a:latin typeface="Calibri" pitchFamily="34" charset="0"/>
                          <a:ea typeface="Calibri" pitchFamily="34" charset="-122"/>
                          <a:cs typeface="Calibri" pitchFamily="34" charset="-120"/>
                        </a:rPr>
                        <a:t>A · NMC + Al plate</a:t>
                      </a:r>
                      <a:endParaRPr lang="en-US" sz="18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solidFill>
                      <a:srgbClr val="DEEAF6"/>
                    </a:solidFill>
                  </a:tcPr>
                </a:tc>
                <a:tc>
                  <a:txBody>
                    <a:bodyPr/>
                    <a:lstStyle/>
                    <a:p>
                      <a:pPr marL="0" indent="0">
                        <a:buNone/>
                      </a:pPr>
                      <a:r>
                        <a:rPr lang="en-US" sz="1800" b="1" dirty="0">
                          <a:solidFill>
                            <a:srgbClr val="262626"/>
                          </a:solidFill>
                          <a:latin typeface="Calibri" pitchFamily="34" charset="0"/>
                          <a:ea typeface="Calibri" pitchFamily="34" charset="-122"/>
                          <a:cs typeface="Calibri" pitchFamily="34" charset="-120"/>
                        </a:rPr>
                        <a:t>132 min</a:t>
                      </a:r>
                      <a:endParaRPr lang="en-US" sz="18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solidFill>
                      <a:srgbClr val="DEEAF6"/>
                    </a:solidFill>
                  </a:tcPr>
                </a:tc>
                <a:tc>
                  <a:txBody>
                    <a:bodyPr/>
                    <a:lstStyle/>
                    <a:p>
                      <a:pPr marL="0" indent="0">
                        <a:buNone/>
                      </a:pPr>
                      <a:r>
                        <a:rPr lang="en-US" sz="1800" b="1" dirty="0">
                          <a:solidFill>
                            <a:srgbClr val="262626"/>
                          </a:solidFill>
                          <a:latin typeface="Calibri" pitchFamily="34" charset="0"/>
                          <a:ea typeface="Calibri" pitchFamily="34" charset="-122"/>
                          <a:cs typeface="Calibri" pitchFamily="34" charset="-120"/>
                        </a:rPr>
                        <a:t>Passes: charge peak 45.0 °C</a:t>
                      </a:r>
                      <a:endParaRPr lang="en-US" sz="18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solidFill>
                      <a:srgbClr val="DEEAF6"/>
                    </a:solidFill>
                  </a:tcPr>
                </a:tc>
                <a:extLst>
                  <a:ext uri="{0D108BD9-81ED-4DB2-BD59-A6C34878D82A}">
                    <a16:rowId xmlns:a16="http://schemas.microsoft.com/office/drawing/2014/main" val="10002"/>
                  </a:ext>
                </a:extLst>
              </a:tr>
              <a:tr h="777240">
                <a:tc>
                  <a:txBody>
                    <a:bodyPr/>
                    <a:lstStyle/>
                    <a:p>
                      <a:pPr marL="0" indent="0">
                        <a:buNone/>
                      </a:pPr>
                      <a:r>
                        <a:rPr lang="en-US" sz="1800" dirty="0">
                          <a:solidFill>
                            <a:srgbClr val="262626"/>
                          </a:solidFill>
                          <a:latin typeface="Calibri" pitchFamily="34" charset="0"/>
                          <a:ea typeface="Calibri" pitchFamily="34" charset="-122"/>
                          <a:cs typeface="Calibri" pitchFamily="34" charset="-120"/>
                        </a:rPr>
                        <a:t>B · LFP 16S8P</a:t>
                      </a:r>
                      <a:endParaRPr lang="en-US" sz="18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buNone/>
                      </a:pPr>
                      <a:r>
                        <a:rPr lang="en-US" sz="1800" dirty="0">
                          <a:solidFill>
                            <a:srgbClr val="262626"/>
                          </a:solidFill>
                          <a:latin typeface="Calibri" pitchFamily="34" charset="0"/>
                          <a:ea typeface="Calibri" pitchFamily="34" charset="-122"/>
                          <a:cs typeface="Calibri" pitchFamily="34" charset="-120"/>
                        </a:rPr>
                        <a:t>173 min</a:t>
                      </a:r>
                      <a:endParaRPr lang="en-US" sz="18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buNone/>
                      </a:pPr>
                      <a:r>
                        <a:rPr lang="en-US" sz="1800" b="1" dirty="0">
                          <a:solidFill>
                            <a:srgbClr val="C2410C"/>
                          </a:solidFill>
                          <a:latin typeface="Calibri" pitchFamily="34" charset="0"/>
                          <a:ea typeface="Calibri" pitchFamily="34" charset="-122"/>
                          <a:cs typeface="Calibri" pitchFamily="34" charset="-120"/>
                        </a:rPr>
                        <a:t>Fails REQ‑03 by 0.02 K</a:t>
                      </a:r>
                      <a:endParaRPr lang="en-US" sz="18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extLst>
                  <a:ext uri="{0D108BD9-81ED-4DB2-BD59-A6C34878D82A}">
                    <a16:rowId xmlns:a16="http://schemas.microsoft.com/office/drawing/2014/main" val="10003"/>
                  </a:ext>
                </a:extLst>
              </a:tr>
              <a:tr h="777240">
                <a:tc>
                  <a:txBody>
                    <a:bodyPr/>
                    <a:lstStyle/>
                    <a:p>
                      <a:pPr marL="0" indent="0">
                        <a:buNone/>
                      </a:pPr>
                      <a:r>
                        <a:rPr lang="en-US" sz="1800" dirty="0">
                          <a:solidFill>
                            <a:srgbClr val="262626"/>
                          </a:solidFill>
                          <a:latin typeface="Calibri" pitchFamily="34" charset="0"/>
                          <a:ea typeface="Calibri" pitchFamily="34" charset="-122"/>
                          <a:cs typeface="Calibri" pitchFamily="34" charset="-120"/>
                        </a:rPr>
                        <a:t>C · baseline + observer</a:t>
                      </a:r>
                      <a:endParaRPr lang="en-US" sz="18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buNone/>
                      </a:pPr>
                      <a:r>
                        <a:rPr lang="en-US" sz="1800" dirty="0">
                          <a:solidFill>
                            <a:srgbClr val="262626"/>
                          </a:solidFill>
                          <a:latin typeface="Calibri" pitchFamily="34" charset="0"/>
                          <a:ea typeface="Calibri" pitchFamily="34" charset="-122"/>
                          <a:cs typeface="Calibri" pitchFamily="34" charset="-120"/>
                        </a:rPr>
                        <a:t>392 min</a:t>
                      </a:r>
                      <a:endParaRPr lang="en-US" sz="18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buNone/>
                      </a:pPr>
                      <a:r>
                        <a:rPr lang="en-US" sz="1800" dirty="0">
                          <a:solidFill>
                            <a:srgbClr val="C2410C"/>
                          </a:solidFill>
                          <a:latin typeface="Calibri" pitchFamily="34" charset="0"/>
                          <a:ea typeface="Calibri" pitchFamily="34" charset="-122"/>
                          <a:cs typeface="Calibri" pitchFamily="34" charset="-120"/>
                        </a:rPr>
                        <a:t>Fails REQ‑04 (64 °C riding)</a:t>
                      </a:r>
                      <a:endParaRPr lang="en-US" sz="18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8" name="Text 5"/>
          <p:cNvSpPr/>
          <p:nvPr/>
        </p:nvSpPr>
        <p:spPr>
          <a:xfrm>
            <a:off x="6995160" y="1874520"/>
            <a:ext cx="4645152" cy="4206240"/>
          </a:xfrm>
          <a:prstGeom prst="rect">
            <a:avLst/>
          </a:prstGeom>
          <a:noFill/>
          <a:ln/>
        </p:spPr>
        <p:txBody>
          <a:bodyPr wrap="square" lIns="0" tIns="0" rIns="0" bIns="0" rtlCol="0" anchor="t"/>
          <a:lstStyle/>
          <a:p>
            <a:pPr marL="342900" indent="-342900">
              <a:spcAft>
                <a:spcPts val="1400"/>
              </a:spcAft>
              <a:buSzPct val="100000"/>
              <a:buChar char="•"/>
            </a:pPr>
            <a:r>
              <a:rPr lang="en-US" sz="2000" dirty="0">
                <a:solidFill>
                  <a:srgbClr val="262626"/>
                </a:solidFill>
                <a:latin typeface="Calibri" pitchFamily="34" charset="0"/>
                <a:ea typeface="Calibri" pitchFamily="34" charset="-122"/>
                <a:cs typeface="Calibri" pitchFamily="34" charset="-120"/>
              </a:rPr>
              <a:t>Why 2×: on the 45 °C hold-out logs, cells heat about twice as much as the model</a:t>
            </a:r>
            <a:endParaRPr lang="en-US" sz="2000" dirty="0"/>
          </a:p>
          <a:p>
            <a:pPr marL="342900" indent="-342900">
              <a:spcAft>
                <a:spcPts val="1400"/>
              </a:spcAft>
              <a:buSzPct val="100000"/>
              <a:buChar char="•"/>
            </a:pPr>
            <a:r>
              <a:rPr lang="en-US" sz="2000" dirty="0">
                <a:solidFill>
                  <a:srgbClr val="262626"/>
                </a:solidFill>
                <a:latin typeface="Calibri" pitchFamily="34" charset="0"/>
                <a:ea typeface="Calibri" pitchFamily="34" charset="-122"/>
                <a:cs typeface="Calibri" pitchFamily="34" charset="-120"/>
              </a:rPr>
              <a:t>B rests on an LFP cell with generic class values, not validated</a:t>
            </a:r>
            <a:endParaRPr lang="en-US" sz="2000" dirty="0"/>
          </a:p>
          <a:p>
            <a:pPr marL="342900" indent="-342900">
              <a:spcAft>
                <a:spcPts val="1400"/>
              </a:spcAft>
              <a:buSzPct val="100000"/>
              <a:buChar char="•"/>
            </a:pPr>
            <a:r>
              <a:rPr lang="en-US" sz="2000" dirty="0">
                <a:solidFill>
                  <a:srgbClr val="262626"/>
                </a:solidFill>
                <a:latin typeface="Calibri" pitchFamily="34" charset="0"/>
                <a:ea typeface="Calibri" pitchFamily="34" charset="-122"/>
                <a:cs typeface="Calibri" pitchFamily="34" charset="-120"/>
              </a:rPr>
              <a:t>One LFP charge test through the same fit pipeline decides between B and A</a:t>
            </a:r>
            <a:endParaRPr lang="en-US" sz="2000" dirty="0"/>
          </a:p>
          <a:p>
            <a:pPr marL="342900" indent="-342900">
              <a:spcAft>
                <a:spcPts val="1400"/>
              </a:spcAft>
              <a:buSzPct val="100000"/>
              <a:buChar char="•"/>
            </a:pPr>
            <a:r>
              <a:rPr lang="en-US" sz="2000" dirty="0">
                <a:solidFill>
                  <a:srgbClr val="262626"/>
                </a:solidFill>
                <a:latin typeface="Calibri" pitchFamily="34" charset="0"/>
                <a:ea typeface="Calibri" pitchFamily="34" charset="-122"/>
                <a:cs typeface="Calibri" pitchFamily="34" charset="-120"/>
              </a:rPr>
              <a:t>Other limits: Appendix A9</a:t>
            </a:r>
            <a:endParaRPr lang="en-US" sz="2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7772400" cy="274320"/>
          </a:xfrm>
          <a:prstGeom prst="rect">
            <a:avLst/>
          </a:prstGeom>
          <a:noFill/>
          <a:ln/>
        </p:spPr>
        <p:txBody>
          <a:bodyPr wrap="square" lIns="0" tIns="0" rIns="0" bIns="0" rtlCol="0" anchor="ctr"/>
          <a:lstStyle/>
          <a:p>
            <a:pPr marL="0" indent="0">
              <a:buNone/>
            </a:pPr>
            <a:r>
              <a:rPr lang="en-US" sz="1200" dirty="0">
                <a:solidFill>
                  <a:srgbClr val="6B7280"/>
                </a:solidFill>
                <a:latin typeface="Calibri" pitchFamily="34" charset="0"/>
                <a:ea typeface="Calibri" pitchFamily="34" charset="-122"/>
                <a:cs typeface="Calibri" pitchFamily="34" charset="-120"/>
              </a:rPr>
              <a:t>Problem</a:t>
            </a:r>
            <a:r>
              <a:rPr lang="en-US" sz="1200" dirty="0">
                <a:solidFill>
                  <a:srgbClr val="D0D5DB"/>
                </a:solidFill>
                <a:latin typeface="Calibri" pitchFamily="34" charset="0"/>
                <a:ea typeface="Calibri" pitchFamily="34" charset="-122"/>
                <a:cs typeface="Calibri" pitchFamily="34" charset="-120"/>
              </a:rPr>
              <a:t>   ·   </a:t>
            </a:r>
            <a:r>
              <a:rPr lang="en-US" sz="1200" dirty="0">
                <a:solidFill>
                  <a:srgbClr val="6B7280"/>
                </a:solidFill>
                <a:latin typeface="Calibri" pitchFamily="34" charset="0"/>
                <a:ea typeface="Calibri" pitchFamily="34" charset="-122"/>
                <a:cs typeface="Calibri" pitchFamily="34" charset="-120"/>
              </a:rPr>
              <a:t>Approach</a:t>
            </a:r>
            <a:r>
              <a:rPr lang="en-US" sz="1200" dirty="0">
                <a:solidFill>
                  <a:srgbClr val="D0D5DB"/>
                </a:solidFill>
                <a:latin typeface="Calibri" pitchFamily="34" charset="0"/>
                <a:ea typeface="Calibri" pitchFamily="34" charset="-122"/>
                <a:cs typeface="Calibri" pitchFamily="34" charset="-120"/>
              </a:rPr>
              <a:t>   ·   </a:t>
            </a:r>
            <a:r>
              <a:rPr lang="en-US" sz="1200" dirty="0">
                <a:solidFill>
                  <a:srgbClr val="6B7280"/>
                </a:solidFill>
                <a:latin typeface="Calibri" pitchFamily="34" charset="0"/>
                <a:ea typeface="Calibri" pitchFamily="34" charset="-122"/>
                <a:cs typeface="Calibri" pitchFamily="34" charset="-120"/>
              </a:rPr>
              <a:t>Evidence</a:t>
            </a:r>
            <a:r>
              <a:rPr lang="en-US" sz="1200" dirty="0">
                <a:solidFill>
                  <a:srgbClr val="D0D5DB"/>
                </a:solidFill>
                <a:latin typeface="Calibri" pitchFamily="34" charset="0"/>
                <a:ea typeface="Calibri" pitchFamily="34" charset="-122"/>
                <a:cs typeface="Calibri" pitchFamily="34" charset="-120"/>
              </a:rPr>
              <a:t>   ·   </a:t>
            </a:r>
            <a:r>
              <a:rPr lang="en-US" sz="1200" dirty="0">
                <a:solidFill>
                  <a:srgbClr val="6B7280"/>
                </a:solidFill>
                <a:latin typeface="Calibri" pitchFamily="34" charset="0"/>
                <a:ea typeface="Calibri" pitchFamily="34" charset="-122"/>
                <a:cs typeface="Calibri" pitchFamily="34" charset="-120"/>
              </a:rPr>
              <a:t>Results</a:t>
            </a:r>
            <a:r>
              <a:rPr lang="en-US" sz="1200" dirty="0">
                <a:solidFill>
                  <a:srgbClr val="D0D5DB"/>
                </a:solidFill>
                <a:latin typeface="Calibri" pitchFamily="34" charset="0"/>
                <a:ea typeface="Calibri" pitchFamily="34" charset="-122"/>
                <a:cs typeface="Calibri" pitchFamily="34" charset="-120"/>
              </a:rPr>
              <a:t>   ·   </a:t>
            </a:r>
            <a:r>
              <a:rPr lang="en-US" sz="1200" b="1" dirty="0">
                <a:solidFill>
                  <a:srgbClr val="1F4E79"/>
                </a:solidFill>
                <a:latin typeface="Calibri" pitchFamily="34" charset="0"/>
                <a:ea typeface="Calibri" pitchFamily="34" charset="-122"/>
                <a:cs typeface="Calibri" pitchFamily="34" charset="-120"/>
              </a:rPr>
              <a:t>Demo</a:t>
            </a:r>
            <a:r>
              <a:rPr lang="en-US" sz="1200" dirty="0">
                <a:solidFill>
                  <a:srgbClr val="D0D5DB"/>
                </a:solidFill>
                <a:latin typeface="Calibri" pitchFamily="34" charset="0"/>
                <a:ea typeface="Calibri" pitchFamily="34" charset="-122"/>
                <a:cs typeface="Calibri" pitchFamily="34" charset="-120"/>
              </a:rPr>
              <a:t>   ·   </a:t>
            </a:r>
            <a:r>
              <a:rPr lang="en-US" sz="1200" dirty="0">
                <a:solidFill>
                  <a:srgbClr val="6B7280"/>
                </a:solidFill>
                <a:latin typeface="Calibri" pitchFamily="34" charset="0"/>
                <a:ea typeface="Calibri" pitchFamily="34" charset="-122"/>
                <a:cs typeface="Calibri" pitchFamily="34" charset="-120"/>
              </a:rPr>
              <a:t>Impact</a:t>
            </a:r>
            <a:endParaRPr lang="en-US" sz="1200" dirty="0"/>
          </a:p>
        </p:txBody>
      </p:sp>
      <p:sp>
        <p:nvSpPr>
          <p:cNvPr id="3" name="Text 1"/>
          <p:cNvSpPr/>
          <p:nvPr/>
        </p:nvSpPr>
        <p:spPr>
          <a:xfrm>
            <a:off x="7985455" y="274320"/>
            <a:ext cx="3657600" cy="274320"/>
          </a:xfrm>
          <a:prstGeom prst="rect">
            <a:avLst/>
          </a:prstGeom>
          <a:noFill/>
          <a:ln/>
        </p:spPr>
        <p:txBody>
          <a:bodyPr wrap="square" lIns="0" tIns="0" rIns="0" bIns="0" rtlCol="0" anchor="ctr"/>
          <a:lstStyle/>
          <a:p>
            <a:pPr marL="0" indent="0" algn="r">
              <a:buNone/>
            </a:pPr>
            <a:r>
              <a:rPr lang="en-US" sz="1200" dirty="0">
                <a:solidFill>
                  <a:srgbClr val="6B7280"/>
                </a:solidFill>
                <a:latin typeface="Calibri" pitchFamily="34" charset="0"/>
                <a:ea typeface="Calibri" pitchFamily="34" charset="-122"/>
                <a:cs typeface="Calibri" pitchFamily="34" charset="-120"/>
              </a:rPr>
              <a:t>Prototype &amp; evidence · Technical feasibility</a:t>
            </a:r>
            <a:endParaRPr lang="en-US" sz="1200" dirty="0"/>
          </a:p>
        </p:txBody>
      </p:sp>
      <p:sp>
        <p:nvSpPr>
          <p:cNvPr id="4" name="Text 2"/>
          <p:cNvSpPr/>
          <p:nvPr/>
        </p:nvSpPr>
        <p:spPr>
          <a:xfrm>
            <a:off x="548640" y="621792"/>
            <a:ext cx="11094415" cy="914400"/>
          </a:xfrm>
          <a:prstGeom prst="rect">
            <a:avLst/>
          </a:prstGeom>
          <a:noFill/>
          <a:ln/>
        </p:spPr>
        <p:txBody>
          <a:bodyPr wrap="square" lIns="0" tIns="0" rIns="0" bIns="0" rtlCol="0" anchor="t"/>
          <a:lstStyle/>
          <a:p>
            <a:pPr marL="0" indent="0">
              <a:buNone/>
            </a:pPr>
            <a:r>
              <a:rPr lang="en-US" sz="2600" b="1" dirty="0">
                <a:solidFill>
                  <a:srgbClr val="1F4E79"/>
                </a:solidFill>
                <a:latin typeface="Calibri" pitchFamily="34" charset="0"/>
                <a:ea typeface="Calibri" pitchFamily="34" charset="-122"/>
                <a:cs typeface="Calibri" pitchFamily="34" charset="-120"/>
              </a:rPr>
              <a:t>The live demo runs the same study in six steps</a:t>
            </a:r>
            <a:endParaRPr lang="en-US" sz="2600" dirty="0"/>
          </a:p>
        </p:txBody>
      </p:sp>
      <p:sp>
        <p:nvSpPr>
          <p:cNvPr id="5" name="Text 3"/>
          <p:cNvSpPr/>
          <p:nvPr/>
        </p:nvSpPr>
        <p:spPr>
          <a:xfrm>
            <a:off x="548640" y="6355080"/>
            <a:ext cx="10058400" cy="274320"/>
          </a:xfrm>
          <a:prstGeom prst="rect">
            <a:avLst/>
          </a:prstGeom>
          <a:noFill/>
          <a:ln/>
        </p:spPr>
        <p:txBody>
          <a:bodyPr wrap="square" lIns="0" tIns="0" rIns="0" bIns="0" rtlCol="0" anchor="ctr"/>
          <a:lstStyle/>
          <a:p>
            <a:pPr marL="0" indent="0">
              <a:buNone/>
            </a:pPr>
            <a:r>
              <a:rPr lang="en-US" sz="1200" dirty="0">
                <a:solidFill>
                  <a:srgbClr val="6B7280"/>
                </a:solidFill>
                <a:latin typeface="Calibri" pitchFamily="34" charset="0"/>
                <a:ea typeface="Calibri" pitchFamily="34" charset="-122"/>
                <a:cs typeface="Calibri" pitchFamily="34" charset="-120"/>
              </a:rPr>
              <a:t>streamlit run app.py · python -m packforge --report packforge_report.html · script: docs/DEMO_SCRIPT.md</a:t>
            </a:r>
            <a:endParaRPr lang="en-US" sz="1200" dirty="0"/>
          </a:p>
        </p:txBody>
      </p:sp>
      <p:sp>
        <p:nvSpPr>
          <p:cNvPr id="6" name="Text 4"/>
          <p:cNvSpPr/>
          <p:nvPr/>
        </p:nvSpPr>
        <p:spPr>
          <a:xfrm>
            <a:off x="10911535" y="6355080"/>
            <a:ext cx="731520" cy="274320"/>
          </a:xfrm>
          <a:prstGeom prst="rect">
            <a:avLst/>
          </a:prstGeom>
          <a:noFill/>
          <a:ln/>
        </p:spPr>
        <p:txBody>
          <a:bodyPr wrap="square" lIns="0" tIns="0" rIns="0" bIns="0" rtlCol="0" anchor="ctr"/>
          <a:lstStyle/>
          <a:p>
            <a:pPr marL="0" indent="0" algn="r">
              <a:buNone/>
            </a:pPr>
            <a:r>
              <a:rPr lang="en-US" sz="1200" dirty="0">
                <a:solidFill>
                  <a:srgbClr val="6B7280"/>
                </a:solidFill>
                <a:latin typeface="Calibri" pitchFamily="34" charset="0"/>
                <a:ea typeface="Calibri" pitchFamily="34" charset="-122"/>
                <a:cs typeface="Calibri" pitchFamily="34" charset="-120"/>
              </a:rPr>
              <a:t>11</a:t>
            </a:r>
            <a:endParaRPr lang="en-US" sz="1200" dirty="0"/>
          </a:p>
        </p:txBody>
      </p:sp>
      <p:sp>
        <p:nvSpPr>
          <p:cNvPr id="7" name="Shape 5"/>
          <p:cNvSpPr/>
          <p:nvPr/>
        </p:nvSpPr>
        <p:spPr>
          <a:xfrm>
            <a:off x="548640" y="1819656"/>
            <a:ext cx="457200" cy="457200"/>
          </a:xfrm>
          <a:prstGeom prst="ellipse">
            <a:avLst/>
          </a:prstGeom>
          <a:solidFill>
            <a:srgbClr val="1F4E79"/>
          </a:solidFill>
          <a:ln w="12700">
            <a:solidFill>
              <a:srgbClr val="1F4E79"/>
            </a:solidFill>
            <a:prstDash val="solid"/>
          </a:ln>
        </p:spPr>
      </p:sp>
      <p:sp>
        <p:nvSpPr>
          <p:cNvPr id="8" name="Text 6"/>
          <p:cNvSpPr/>
          <p:nvPr/>
        </p:nvSpPr>
        <p:spPr>
          <a:xfrm>
            <a:off x="548640" y="1819656"/>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9" name="Text 7"/>
          <p:cNvSpPr/>
          <p:nvPr/>
        </p:nvSpPr>
        <p:spPr>
          <a:xfrm>
            <a:off x="1234440" y="1783080"/>
            <a:ext cx="6309360" cy="530352"/>
          </a:xfrm>
          <a:prstGeom prst="rect">
            <a:avLst/>
          </a:prstGeom>
          <a:noFill/>
          <a:ln/>
        </p:spPr>
        <p:txBody>
          <a:bodyPr wrap="square" lIns="0" tIns="0" rIns="0" bIns="0" rtlCol="0" anchor="ctr"/>
          <a:lstStyle/>
          <a:p>
            <a:pPr marL="0" indent="0">
              <a:buNone/>
            </a:pPr>
            <a:r>
              <a:rPr lang="en-US" sz="2000" dirty="0">
                <a:solidFill>
                  <a:srgbClr val="262626"/>
                </a:solidFill>
                <a:latin typeface="Calibri" pitchFamily="34" charset="0"/>
                <a:ea typeface="Calibri" pitchFamily="34" charset="-122"/>
                <a:cs typeface="Calibri" pitchFamily="34" charset="-120"/>
              </a:rPr>
              <a:t>Baseline after a ride: 48 min hold, then REQ‑03 fails</a:t>
            </a:r>
            <a:endParaRPr lang="en-US" sz="2000" dirty="0"/>
          </a:p>
        </p:txBody>
      </p:sp>
      <p:sp>
        <p:nvSpPr>
          <p:cNvPr id="10" name="Shape 8"/>
          <p:cNvSpPr/>
          <p:nvPr/>
        </p:nvSpPr>
        <p:spPr>
          <a:xfrm>
            <a:off x="548640" y="2505456"/>
            <a:ext cx="457200" cy="457200"/>
          </a:xfrm>
          <a:prstGeom prst="ellipse">
            <a:avLst/>
          </a:prstGeom>
          <a:solidFill>
            <a:srgbClr val="1F4E79"/>
          </a:solidFill>
          <a:ln w="12700">
            <a:solidFill>
              <a:srgbClr val="1F4E79"/>
            </a:solidFill>
            <a:prstDash val="solid"/>
          </a:ln>
        </p:spPr>
      </p:sp>
      <p:sp>
        <p:nvSpPr>
          <p:cNvPr id="11" name="Text 9"/>
          <p:cNvSpPr/>
          <p:nvPr/>
        </p:nvSpPr>
        <p:spPr>
          <a:xfrm>
            <a:off x="548640" y="2505456"/>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Text 10"/>
          <p:cNvSpPr/>
          <p:nvPr/>
        </p:nvSpPr>
        <p:spPr>
          <a:xfrm>
            <a:off x="1234440" y="2468880"/>
            <a:ext cx="6309360" cy="530352"/>
          </a:xfrm>
          <a:prstGeom prst="rect">
            <a:avLst/>
          </a:prstGeom>
          <a:noFill/>
          <a:ln/>
        </p:spPr>
        <p:txBody>
          <a:bodyPr wrap="square" lIns="0" tIns="0" rIns="0" bIns="0" rtlCol="0" anchor="ctr"/>
          <a:lstStyle/>
          <a:p>
            <a:pPr marL="0" indent="0">
              <a:buNone/>
            </a:pPr>
            <a:r>
              <a:rPr lang="en-US" sz="2000" dirty="0">
                <a:solidFill>
                  <a:srgbClr val="262626"/>
                </a:solidFill>
                <a:latin typeface="Calibri" pitchFamily="34" charset="0"/>
                <a:ea typeface="Calibri" pitchFamily="34" charset="-122"/>
                <a:cs typeface="Calibri" pitchFamily="34" charset="-120"/>
              </a:rPr>
              <a:t>Option C, the observer: passes, but slower</a:t>
            </a:r>
            <a:endParaRPr lang="en-US" sz="2000" dirty="0"/>
          </a:p>
        </p:txBody>
      </p:sp>
      <p:sp>
        <p:nvSpPr>
          <p:cNvPr id="13" name="Shape 11"/>
          <p:cNvSpPr/>
          <p:nvPr/>
        </p:nvSpPr>
        <p:spPr>
          <a:xfrm>
            <a:off x="548640" y="3191256"/>
            <a:ext cx="457200" cy="457200"/>
          </a:xfrm>
          <a:prstGeom prst="ellipse">
            <a:avLst/>
          </a:prstGeom>
          <a:solidFill>
            <a:srgbClr val="1F4E79"/>
          </a:solidFill>
          <a:ln w="12700">
            <a:solidFill>
              <a:srgbClr val="1F4E79"/>
            </a:solidFill>
            <a:prstDash val="solid"/>
          </a:ln>
        </p:spPr>
      </p:sp>
      <p:sp>
        <p:nvSpPr>
          <p:cNvPr id="14" name="Text 12"/>
          <p:cNvSpPr/>
          <p:nvPr/>
        </p:nvSpPr>
        <p:spPr>
          <a:xfrm>
            <a:off x="548640" y="3191256"/>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5" name="Text 13"/>
          <p:cNvSpPr/>
          <p:nvPr/>
        </p:nvSpPr>
        <p:spPr>
          <a:xfrm>
            <a:off x="1234440" y="3154680"/>
            <a:ext cx="6309360" cy="530352"/>
          </a:xfrm>
          <a:prstGeom prst="rect">
            <a:avLst/>
          </a:prstGeom>
          <a:noFill/>
          <a:ln/>
        </p:spPr>
        <p:txBody>
          <a:bodyPr wrap="square" lIns="0" tIns="0" rIns="0" bIns="0" rtlCol="0" anchor="ctr"/>
          <a:lstStyle/>
          <a:p>
            <a:pPr marL="0" indent="0">
              <a:buNone/>
            </a:pPr>
            <a:r>
              <a:rPr lang="en-US" sz="2000" dirty="0">
                <a:solidFill>
                  <a:srgbClr val="262626"/>
                </a:solidFill>
                <a:latin typeface="Calibri" pitchFamily="34" charset="0"/>
                <a:ea typeface="Calibri" pitchFamily="34" charset="-122"/>
                <a:cs typeface="Calibri" pitchFamily="34" charset="-120"/>
              </a:rPr>
              <a:t>A against B: the ranking and the three answers</a:t>
            </a:r>
            <a:endParaRPr lang="en-US" sz="2000" dirty="0"/>
          </a:p>
        </p:txBody>
      </p:sp>
      <p:sp>
        <p:nvSpPr>
          <p:cNvPr id="16" name="Shape 14"/>
          <p:cNvSpPr/>
          <p:nvPr/>
        </p:nvSpPr>
        <p:spPr>
          <a:xfrm>
            <a:off x="548640" y="3877056"/>
            <a:ext cx="457200" cy="457200"/>
          </a:xfrm>
          <a:prstGeom prst="ellipse">
            <a:avLst/>
          </a:prstGeom>
          <a:solidFill>
            <a:srgbClr val="1F4E79"/>
          </a:solidFill>
          <a:ln w="12700">
            <a:solidFill>
              <a:srgbClr val="1F4E79"/>
            </a:solidFill>
            <a:prstDash val="solid"/>
          </a:ln>
        </p:spPr>
      </p:sp>
      <p:sp>
        <p:nvSpPr>
          <p:cNvPr id="17" name="Text 15"/>
          <p:cNvSpPr/>
          <p:nvPr/>
        </p:nvSpPr>
        <p:spPr>
          <a:xfrm>
            <a:off x="548640" y="3877056"/>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8" name="Text 16"/>
          <p:cNvSpPr/>
          <p:nvPr/>
        </p:nvSpPr>
        <p:spPr>
          <a:xfrm>
            <a:off x="1234440" y="3840480"/>
            <a:ext cx="6309360" cy="530352"/>
          </a:xfrm>
          <a:prstGeom prst="rect">
            <a:avLst/>
          </a:prstGeom>
          <a:noFill/>
          <a:ln/>
        </p:spPr>
        <p:txBody>
          <a:bodyPr wrap="square" lIns="0" tIns="0" rIns="0" bIns="0" rtlCol="0" anchor="ctr"/>
          <a:lstStyle/>
          <a:p>
            <a:pPr marL="0" indent="0">
              <a:buNone/>
            </a:pPr>
            <a:r>
              <a:rPr lang="en-US" sz="2000" dirty="0">
                <a:solidFill>
                  <a:srgbClr val="262626"/>
                </a:solidFill>
                <a:latin typeface="Calibri" pitchFamily="34" charset="0"/>
                <a:ea typeface="Calibri" pitchFamily="34" charset="-122"/>
                <a:cs typeface="Calibri" pitchFamily="34" charset="-120"/>
              </a:rPr>
              <a:t>Validation: replay a 45 °C hold-out charge</a:t>
            </a:r>
            <a:endParaRPr lang="en-US" sz="2000" dirty="0"/>
          </a:p>
        </p:txBody>
      </p:sp>
      <p:sp>
        <p:nvSpPr>
          <p:cNvPr id="19" name="Shape 17"/>
          <p:cNvSpPr/>
          <p:nvPr/>
        </p:nvSpPr>
        <p:spPr>
          <a:xfrm>
            <a:off x="548640" y="4562856"/>
            <a:ext cx="457200" cy="457200"/>
          </a:xfrm>
          <a:prstGeom prst="ellipse">
            <a:avLst/>
          </a:prstGeom>
          <a:solidFill>
            <a:srgbClr val="1F4E79"/>
          </a:solidFill>
          <a:ln w="12700">
            <a:solidFill>
              <a:srgbClr val="1F4E79"/>
            </a:solidFill>
            <a:prstDash val="solid"/>
          </a:ln>
        </p:spPr>
      </p:sp>
      <p:sp>
        <p:nvSpPr>
          <p:cNvPr id="20" name="Text 18"/>
          <p:cNvSpPr/>
          <p:nvPr/>
        </p:nvSpPr>
        <p:spPr>
          <a:xfrm>
            <a:off x="548640" y="4562856"/>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21" name="Text 19"/>
          <p:cNvSpPr/>
          <p:nvPr/>
        </p:nvSpPr>
        <p:spPr>
          <a:xfrm>
            <a:off x="1234440" y="4526280"/>
            <a:ext cx="6309360" cy="530352"/>
          </a:xfrm>
          <a:prstGeom prst="rect">
            <a:avLst/>
          </a:prstGeom>
          <a:noFill/>
          <a:ln/>
        </p:spPr>
        <p:txBody>
          <a:bodyPr wrap="square" lIns="0" tIns="0" rIns="0" bIns="0" rtlCol="0" anchor="ctr"/>
          <a:lstStyle/>
          <a:p>
            <a:pPr marL="0" indent="0">
              <a:buNone/>
            </a:pPr>
            <a:r>
              <a:rPr lang="en-US" sz="2000" dirty="0">
                <a:solidFill>
                  <a:srgbClr val="262626"/>
                </a:solidFill>
                <a:latin typeface="Calibri" pitchFamily="34" charset="0"/>
                <a:ea typeface="Calibri" pitchFamily="34" charset="-122"/>
                <a:cs typeface="Calibri" pitchFamily="34" charset="-120"/>
              </a:rPr>
              <a:t>Unmodelled heat to 2×: the pick flips to A</a:t>
            </a:r>
            <a:endParaRPr lang="en-US" sz="2000" dirty="0"/>
          </a:p>
        </p:txBody>
      </p:sp>
      <p:sp>
        <p:nvSpPr>
          <p:cNvPr id="22" name="Shape 20"/>
          <p:cNvSpPr/>
          <p:nvPr/>
        </p:nvSpPr>
        <p:spPr>
          <a:xfrm>
            <a:off x="548640" y="5248656"/>
            <a:ext cx="457200" cy="457200"/>
          </a:xfrm>
          <a:prstGeom prst="ellipse">
            <a:avLst/>
          </a:prstGeom>
          <a:solidFill>
            <a:srgbClr val="1F4E79"/>
          </a:solidFill>
          <a:ln w="12700">
            <a:solidFill>
              <a:srgbClr val="1F4E79"/>
            </a:solidFill>
            <a:prstDash val="solid"/>
          </a:ln>
        </p:spPr>
      </p:sp>
      <p:sp>
        <p:nvSpPr>
          <p:cNvPr id="23" name="Text 21"/>
          <p:cNvSpPr/>
          <p:nvPr/>
        </p:nvSpPr>
        <p:spPr>
          <a:xfrm>
            <a:off x="548640" y="5248656"/>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4" name="Text 22"/>
          <p:cNvSpPr/>
          <p:nvPr/>
        </p:nvSpPr>
        <p:spPr>
          <a:xfrm>
            <a:off x="1234440" y="5212080"/>
            <a:ext cx="6309360" cy="530352"/>
          </a:xfrm>
          <a:prstGeom prst="rect">
            <a:avLst/>
          </a:prstGeom>
          <a:noFill/>
          <a:ln/>
        </p:spPr>
        <p:txBody>
          <a:bodyPr wrap="square" lIns="0" tIns="0" rIns="0" bIns="0" rtlCol="0" anchor="ctr"/>
          <a:lstStyle/>
          <a:p>
            <a:pPr marL="0" indent="0">
              <a:buNone/>
            </a:pPr>
            <a:r>
              <a:rPr lang="en-US" sz="2000" dirty="0">
                <a:solidFill>
                  <a:srgbClr val="262626"/>
                </a:solidFill>
                <a:latin typeface="Calibri" pitchFamily="34" charset="0"/>
                <a:ea typeface="Calibri" pitchFamily="34" charset="-122"/>
                <a:cs typeface="Calibri" pitchFamily="34" charset="-120"/>
              </a:rPr>
              <a:t>Download the offline report</a:t>
            </a:r>
            <a:endParaRPr lang="en-US" sz="2000" dirty="0"/>
          </a:p>
        </p:txBody>
      </p:sp>
      <p:sp>
        <p:nvSpPr>
          <p:cNvPr id="25" name="Shape 23"/>
          <p:cNvSpPr/>
          <p:nvPr/>
        </p:nvSpPr>
        <p:spPr>
          <a:xfrm>
            <a:off x="7863840" y="1783080"/>
            <a:ext cx="3776472" cy="4069080"/>
          </a:xfrm>
          <a:prstGeom prst="rect">
            <a:avLst/>
          </a:prstGeom>
          <a:solidFill>
            <a:srgbClr val="F2F4F7"/>
          </a:solidFill>
          <a:ln w="12700">
            <a:solidFill>
              <a:srgbClr val="F2F4F7"/>
            </a:solidFill>
            <a:prstDash val="solid"/>
          </a:ln>
        </p:spPr>
      </p:sp>
      <p:sp>
        <p:nvSpPr>
          <p:cNvPr id="26" name="Text 24"/>
          <p:cNvSpPr/>
          <p:nvPr/>
        </p:nvSpPr>
        <p:spPr>
          <a:xfrm>
            <a:off x="8138160" y="1965960"/>
            <a:ext cx="3246120" cy="2377440"/>
          </a:xfrm>
          <a:prstGeom prst="rect">
            <a:avLst/>
          </a:prstGeom>
          <a:noFill/>
          <a:ln/>
        </p:spPr>
        <p:txBody>
          <a:bodyPr wrap="square" lIns="0" tIns="0" rIns="0" bIns="0" rtlCol="0" anchor="t"/>
          <a:lstStyle/>
          <a:p>
            <a:pPr marL="0" indent="0">
              <a:spcAft>
                <a:spcPts val="600"/>
              </a:spcAft>
              <a:buNone/>
            </a:pPr>
            <a:r>
              <a:rPr lang="en-US" sz="4400" b="1" dirty="0">
                <a:solidFill>
                  <a:srgbClr val="1F4E79"/>
                </a:solidFill>
                <a:latin typeface="Calibri" pitchFamily="34" charset="0"/>
                <a:ea typeface="Calibri" pitchFamily="34" charset="-122"/>
                <a:cs typeface="Calibri" pitchFamily="34" charset="-120"/>
              </a:rPr>
              <a:t>31 s</a:t>
            </a:r>
            <a:endParaRPr lang="en-US" sz="4400" dirty="0"/>
          </a:p>
          <a:p>
            <a:pPr marL="0" indent="0">
              <a:spcAft>
                <a:spcPts val="600"/>
              </a:spcAft>
              <a:buNone/>
            </a:pPr>
            <a:r>
              <a:rPr lang="en-US" sz="1800" dirty="0">
                <a:solidFill>
                  <a:srgbClr val="262626"/>
                </a:solidFill>
                <a:latin typeface="Calibri" pitchFamily="34" charset="0"/>
                <a:ea typeface="Calibri" pitchFamily="34" charset="-122"/>
                <a:cs typeface="Calibri" pitchFamily="34" charset="-120"/>
              </a:rPr>
              <a:t>for the full study on a laptop: 4 designs, ride then charge, plus the 2× heat re-run</a:t>
            </a:r>
            <a:endParaRPr lang="en-US" sz="4400" dirty="0"/>
          </a:p>
        </p:txBody>
      </p:sp>
      <p:sp>
        <p:nvSpPr>
          <p:cNvPr id="27" name="Text 25"/>
          <p:cNvSpPr/>
          <p:nvPr/>
        </p:nvSpPr>
        <p:spPr>
          <a:xfrm>
            <a:off x="8138160" y="4572000"/>
            <a:ext cx="3246120" cy="1097280"/>
          </a:xfrm>
          <a:prstGeom prst="rect">
            <a:avLst/>
          </a:prstGeom>
          <a:noFill/>
          <a:ln/>
        </p:spPr>
        <p:txBody>
          <a:bodyPr wrap="square" lIns="0" tIns="0" rIns="0" bIns="0" rtlCol="0" anchor="t"/>
          <a:lstStyle/>
          <a:p>
            <a:pPr marL="0" indent="0">
              <a:buNone/>
            </a:pPr>
            <a:r>
              <a:rPr lang="en-US" sz="1600" dirty="0">
                <a:solidFill>
                  <a:srgbClr val="6B7280"/>
                </a:solidFill>
                <a:latin typeface="Calibri" pitchFamily="34" charset="0"/>
                <a:ea typeface="Calibri" pitchFamily="34" charset="-122"/>
                <a:cs typeface="Calibri" pitchFamily="34" charset="-120"/>
              </a:rPr>
              <a:t>Backup if the app fails: recorded clip, CLI output, HTML report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7772400" cy="274320"/>
          </a:xfrm>
          <a:prstGeom prst="rect">
            <a:avLst/>
          </a:prstGeom>
          <a:noFill/>
          <a:ln/>
        </p:spPr>
        <p:txBody>
          <a:bodyPr wrap="square" lIns="0" tIns="0" rIns="0" bIns="0" rtlCol="0" anchor="ctr"/>
          <a:lstStyle/>
          <a:p>
            <a:pPr marL="0" indent="0">
              <a:buNone/>
            </a:pPr>
            <a:r>
              <a:rPr lang="en-US" sz="1200" dirty="0">
                <a:solidFill>
                  <a:srgbClr val="6B7280"/>
                </a:solidFill>
                <a:latin typeface="Calibri" pitchFamily="34" charset="0"/>
                <a:ea typeface="Calibri" pitchFamily="34" charset="-122"/>
                <a:cs typeface="Calibri" pitchFamily="34" charset="-120"/>
              </a:rPr>
              <a:t>Problem</a:t>
            </a:r>
            <a:r>
              <a:rPr lang="en-US" sz="1200" dirty="0">
                <a:solidFill>
                  <a:srgbClr val="D0D5DB"/>
                </a:solidFill>
                <a:latin typeface="Calibri" pitchFamily="34" charset="0"/>
                <a:ea typeface="Calibri" pitchFamily="34" charset="-122"/>
                <a:cs typeface="Calibri" pitchFamily="34" charset="-120"/>
              </a:rPr>
              <a:t>   ·   </a:t>
            </a:r>
            <a:r>
              <a:rPr lang="en-US" sz="1200" dirty="0">
                <a:solidFill>
                  <a:srgbClr val="6B7280"/>
                </a:solidFill>
                <a:latin typeface="Calibri" pitchFamily="34" charset="0"/>
                <a:ea typeface="Calibri" pitchFamily="34" charset="-122"/>
                <a:cs typeface="Calibri" pitchFamily="34" charset="-120"/>
              </a:rPr>
              <a:t>Approach</a:t>
            </a:r>
            <a:r>
              <a:rPr lang="en-US" sz="1200" dirty="0">
                <a:solidFill>
                  <a:srgbClr val="D0D5DB"/>
                </a:solidFill>
                <a:latin typeface="Calibri" pitchFamily="34" charset="0"/>
                <a:ea typeface="Calibri" pitchFamily="34" charset="-122"/>
                <a:cs typeface="Calibri" pitchFamily="34" charset="-120"/>
              </a:rPr>
              <a:t>   ·   </a:t>
            </a:r>
            <a:r>
              <a:rPr lang="en-US" sz="1200" dirty="0">
                <a:solidFill>
                  <a:srgbClr val="6B7280"/>
                </a:solidFill>
                <a:latin typeface="Calibri" pitchFamily="34" charset="0"/>
                <a:ea typeface="Calibri" pitchFamily="34" charset="-122"/>
                <a:cs typeface="Calibri" pitchFamily="34" charset="-120"/>
              </a:rPr>
              <a:t>Evidence</a:t>
            </a:r>
            <a:r>
              <a:rPr lang="en-US" sz="1200" dirty="0">
                <a:solidFill>
                  <a:srgbClr val="D0D5DB"/>
                </a:solidFill>
                <a:latin typeface="Calibri" pitchFamily="34" charset="0"/>
                <a:ea typeface="Calibri" pitchFamily="34" charset="-122"/>
                <a:cs typeface="Calibri" pitchFamily="34" charset="-120"/>
              </a:rPr>
              <a:t>   ·   </a:t>
            </a:r>
            <a:r>
              <a:rPr lang="en-US" sz="1200" dirty="0">
                <a:solidFill>
                  <a:srgbClr val="6B7280"/>
                </a:solidFill>
                <a:latin typeface="Calibri" pitchFamily="34" charset="0"/>
                <a:ea typeface="Calibri" pitchFamily="34" charset="-122"/>
                <a:cs typeface="Calibri" pitchFamily="34" charset="-120"/>
              </a:rPr>
              <a:t>Results</a:t>
            </a:r>
            <a:r>
              <a:rPr lang="en-US" sz="1200" dirty="0">
                <a:solidFill>
                  <a:srgbClr val="D0D5DB"/>
                </a:solidFill>
                <a:latin typeface="Calibri" pitchFamily="34" charset="0"/>
                <a:ea typeface="Calibri" pitchFamily="34" charset="-122"/>
                <a:cs typeface="Calibri" pitchFamily="34" charset="-120"/>
              </a:rPr>
              <a:t>   ·   </a:t>
            </a:r>
            <a:r>
              <a:rPr lang="en-US" sz="1200" dirty="0">
                <a:solidFill>
                  <a:srgbClr val="6B7280"/>
                </a:solidFill>
                <a:latin typeface="Calibri" pitchFamily="34" charset="0"/>
                <a:ea typeface="Calibri" pitchFamily="34" charset="-122"/>
                <a:cs typeface="Calibri" pitchFamily="34" charset="-120"/>
              </a:rPr>
              <a:t>Demo</a:t>
            </a:r>
            <a:r>
              <a:rPr lang="en-US" sz="1200" dirty="0">
                <a:solidFill>
                  <a:srgbClr val="D0D5DB"/>
                </a:solidFill>
                <a:latin typeface="Calibri" pitchFamily="34" charset="0"/>
                <a:ea typeface="Calibri" pitchFamily="34" charset="-122"/>
                <a:cs typeface="Calibri" pitchFamily="34" charset="-120"/>
              </a:rPr>
              <a:t>   ·   </a:t>
            </a:r>
            <a:r>
              <a:rPr lang="en-US" sz="1200" b="1" dirty="0">
                <a:solidFill>
                  <a:srgbClr val="1F4E79"/>
                </a:solidFill>
                <a:latin typeface="Calibri" pitchFamily="34" charset="0"/>
                <a:ea typeface="Calibri" pitchFamily="34" charset="-122"/>
                <a:cs typeface="Calibri" pitchFamily="34" charset="-120"/>
              </a:rPr>
              <a:t>Impact</a:t>
            </a:r>
            <a:endParaRPr lang="en-US" sz="1200" dirty="0"/>
          </a:p>
        </p:txBody>
      </p:sp>
      <p:sp>
        <p:nvSpPr>
          <p:cNvPr id="3" name="Text 1"/>
          <p:cNvSpPr/>
          <p:nvPr/>
        </p:nvSpPr>
        <p:spPr>
          <a:xfrm>
            <a:off x="7985455" y="274320"/>
            <a:ext cx="3657600" cy="274320"/>
          </a:xfrm>
          <a:prstGeom prst="rect">
            <a:avLst/>
          </a:prstGeom>
          <a:noFill/>
          <a:ln/>
        </p:spPr>
        <p:txBody>
          <a:bodyPr wrap="square" lIns="0" tIns="0" rIns="0" bIns="0" rtlCol="0" anchor="ctr"/>
          <a:lstStyle/>
          <a:p>
            <a:pPr marL="0" indent="0" algn="r">
              <a:buNone/>
            </a:pPr>
            <a:r>
              <a:rPr lang="en-US" sz="1200" dirty="0">
                <a:solidFill>
                  <a:srgbClr val="6B7280"/>
                </a:solidFill>
                <a:latin typeface="Calibri" pitchFamily="34" charset="0"/>
                <a:ea typeface="Calibri" pitchFamily="34" charset="-122"/>
                <a:cs typeface="Calibri" pitchFamily="34" charset="-120"/>
              </a:rPr>
              <a:t>Business viability</a:t>
            </a:r>
            <a:endParaRPr lang="en-US" sz="1200" dirty="0"/>
          </a:p>
        </p:txBody>
      </p:sp>
      <p:sp>
        <p:nvSpPr>
          <p:cNvPr id="4" name="Text 2"/>
          <p:cNvSpPr/>
          <p:nvPr/>
        </p:nvSpPr>
        <p:spPr>
          <a:xfrm>
            <a:off x="548640" y="621792"/>
            <a:ext cx="11094415" cy="914400"/>
          </a:xfrm>
          <a:prstGeom prst="rect">
            <a:avLst/>
          </a:prstGeom>
          <a:noFill/>
          <a:ln/>
        </p:spPr>
        <p:txBody>
          <a:bodyPr wrap="square" lIns="0" tIns="0" rIns="0" bIns="0" rtlCol="0" anchor="t"/>
          <a:lstStyle/>
          <a:p>
            <a:pPr marL="0" indent="0">
              <a:buNone/>
            </a:pPr>
            <a:r>
              <a:rPr lang="en-US" sz="2600" b="1" dirty="0">
                <a:solidFill>
                  <a:srgbClr val="1F4E79"/>
                </a:solidFill>
                <a:latin typeface="Calibri" pitchFamily="34" charset="0"/>
                <a:ea typeface="Calibri" pitchFamily="34" charset="-122"/>
                <a:cs typeface="Calibri" pitchFamily="34" charset="-120"/>
              </a:rPr>
              <a:t>B costs 21 % less per usable kWh than the baseline, and C stops hot charging at no hardware cost</a:t>
            </a:r>
            <a:endParaRPr lang="en-US" sz="2600" dirty="0"/>
          </a:p>
        </p:txBody>
      </p:sp>
      <p:sp>
        <p:nvSpPr>
          <p:cNvPr id="5" name="Text 3"/>
          <p:cNvSpPr/>
          <p:nvPr/>
        </p:nvSpPr>
        <p:spPr>
          <a:xfrm>
            <a:off x="548640" y="6355080"/>
            <a:ext cx="10058400" cy="274320"/>
          </a:xfrm>
          <a:prstGeom prst="rect">
            <a:avLst/>
          </a:prstGeom>
          <a:noFill/>
          <a:ln/>
        </p:spPr>
        <p:txBody>
          <a:bodyPr wrap="square" lIns="0" tIns="0" rIns="0" bIns="0" rtlCol="0" anchor="ctr"/>
          <a:lstStyle/>
          <a:p>
            <a:pPr marL="0" indent="0">
              <a:buNone/>
            </a:pPr>
            <a:r>
              <a:rPr lang="en-US" sz="1200" dirty="0">
                <a:solidFill>
                  <a:srgbClr val="6B7280"/>
                </a:solidFill>
                <a:latin typeface="Calibri" pitchFamily="34" charset="0"/>
                <a:ea typeface="Calibri" pitchFamily="34" charset="-122"/>
                <a:cs typeface="Calibri" pitchFamily="34" charset="-120"/>
              </a:rPr>
              <a:t>Source: PackForge CLI. Costs are generic class values, not quotes; cycle life is a rule-of-thumb estimate.</a:t>
            </a:r>
            <a:endParaRPr lang="en-US" sz="1200" dirty="0"/>
          </a:p>
        </p:txBody>
      </p:sp>
      <p:sp>
        <p:nvSpPr>
          <p:cNvPr id="6" name="Text 4"/>
          <p:cNvSpPr/>
          <p:nvPr/>
        </p:nvSpPr>
        <p:spPr>
          <a:xfrm>
            <a:off x="10911535" y="6355080"/>
            <a:ext cx="731520" cy="274320"/>
          </a:xfrm>
          <a:prstGeom prst="rect">
            <a:avLst/>
          </a:prstGeom>
          <a:noFill/>
          <a:ln/>
        </p:spPr>
        <p:txBody>
          <a:bodyPr wrap="square" lIns="0" tIns="0" rIns="0" bIns="0" rtlCol="0" anchor="ctr"/>
          <a:lstStyle/>
          <a:p>
            <a:pPr marL="0" indent="0" algn="r">
              <a:buNone/>
            </a:pPr>
            <a:r>
              <a:rPr lang="en-US" sz="1200" dirty="0">
                <a:solidFill>
                  <a:srgbClr val="6B7280"/>
                </a:solidFill>
                <a:latin typeface="Calibri" pitchFamily="34" charset="0"/>
                <a:ea typeface="Calibri" pitchFamily="34" charset="-122"/>
                <a:cs typeface="Calibri" pitchFamily="34" charset="-120"/>
              </a:rPr>
              <a:t>12</a:t>
            </a:r>
            <a:endParaRPr lang="en-US" sz="1200" dirty="0"/>
          </a:p>
        </p:txBody>
      </p:sp>
      <p:graphicFrame>
        <p:nvGraphicFramePr>
          <p:cNvPr id="7" name="Chart 0"/>
          <p:cNvGraphicFramePr/>
          <p:nvPr/>
        </p:nvGraphicFramePr>
        <p:xfrm>
          <a:off x="548640" y="1737360"/>
          <a:ext cx="5852160" cy="4206240"/>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 5"/>
          <p:cNvSpPr/>
          <p:nvPr/>
        </p:nvSpPr>
        <p:spPr>
          <a:xfrm>
            <a:off x="6720840" y="1874520"/>
            <a:ext cx="4919472" cy="4206240"/>
          </a:xfrm>
          <a:prstGeom prst="rect">
            <a:avLst/>
          </a:prstGeom>
          <a:noFill/>
          <a:ln/>
        </p:spPr>
        <p:txBody>
          <a:bodyPr wrap="square" lIns="0" tIns="0" rIns="0" bIns="0" rtlCol="0" anchor="t"/>
          <a:lstStyle/>
          <a:p>
            <a:pPr marL="342900" indent="-342900">
              <a:spcAft>
                <a:spcPts val="1400"/>
              </a:spcAft>
              <a:buSzPct val="100000"/>
              <a:buChar char="•"/>
            </a:pPr>
            <a:r>
              <a:rPr lang="en-US" sz="2000" dirty="0">
                <a:solidFill>
                  <a:srgbClr val="262626"/>
                </a:solidFill>
                <a:latin typeface="Calibri" pitchFamily="34" charset="0"/>
                <a:ea typeface="Calibri" pitchFamily="34" charset="-122"/>
                <a:cs typeface="Calibri" pitchFamily="34" charset="-120"/>
              </a:rPr>
              <a:t>C: a ₹0 retrofit for packs already on the road</a:t>
            </a:r>
            <a:endParaRPr lang="en-US" sz="2000" dirty="0"/>
          </a:p>
          <a:p>
            <a:pPr marL="342900" indent="-342900">
              <a:spcAft>
                <a:spcPts val="1400"/>
              </a:spcAft>
              <a:buSzPct val="100000"/>
              <a:buChar char="•"/>
            </a:pPr>
            <a:r>
              <a:rPr lang="en-US" sz="2000" dirty="0">
                <a:solidFill>
                  <a:srgbClr val="262626"/>
                </a:solidFill>
                <a:latin typeface="Calibri" pitchFamily="34" charset="0"/>
                <a:ea typeface="Calibri" pitchFamily="34" charset="-122"/>
                <a:cs typeface="Calibri" pitchFamily="34" charset="-120"/>
              </a:rPr>
              <a:t>Conflicts surface before hardware, so the rig confirms instead of explores</a:t>
            </a:r>
            <a:endParaRPr lang="en-US" sz="2000" dirty="0"/>
          </a:p>
          <a:p>
            <a:pPr marL="342900" indent="-342900">
              <a:spcAft>
                <a:spcPts val="1400"/>
              </a:spcAft>
              <a:buSzPct val="100000"/>
              <a:buChar char="•"/>
            </a:pPr>
            <a:r>
              <a:rPr lang="en-US" sz="2000" dirty="0">
                <a:solidFill>
                  <a:srgbClr val="262626"/>
                </a:solidFill>
                <a:latin typeface="Calibri" pitchFamily="34" charset="0"/>
                <a:ea typeface="Calibri" pitchFamily="34" charset="-122"/>
                <a:cs typeface="Calibri" pitchFamily="34" charset="-120"/>
              </a:rPr>
              <a:t>A new cell, option or study is a JSON file, not new code</a:t>
            </a:r>
            <a:endParaRPr lang="en-US" sz="2000" dirty="0"/>
          </a:p>
          <a:p>
            <a:pPr marL="342900" indent="-342900">
              <a:spcAft>
                <a:spcPts val="1400"/>
              </a:spcAft>
              <a:buSzPct val="100000"/>
              <a:buChar char="•"/>
            </a:pPr>
            <a:r>
              <a:rPr lang="en-US" sz="2000" dirty="0">
                <a:solidFill>
                  <a:srgbClr val="262626"/>
                </a:solidFill>
                <a:latin typeface="Calibri" pitchFamily="34" charset="0"/>
                <a:ea typeface="Calibri" pitchFamily="34" charset="-122"/>
                <a:cs typeface="Calibri" pitchFamily="34" charset="-120"/>
              </a:rPr>
              <a:t>B also lasts about 3× as long in heat (~1,290 vs ~370 cycles, estimated)</a:t>
            </a:r>
            <a:endParaRPr lang="en-US" sz="2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7772400" cy="274320"/>
          </a:xfrm>
          <a:prstGeom prst="rect">
            <a:avLst/>
          </a:prstGeom>
          <a:noFill/>
          <a:ln/>
        </p:spPr>
        <p:txBody>
          <a:bodyPr wrap="square" lIns="0" tIns="0" rIns="0" bIns="0" rtlCol="0" anchor="ctr"/>
          <a:lstStyle/>
          <a:p>
            <a:pPr marL="0" indent="0">
              <a:buNone/>
            </a:pPr>
            <a:r>
              <a:rPr lang="en-US" sz="1200" dirty="0">
                <a:solidFill>
                  <a:srgbClr val="6B7280"/>
                </a:solidFill>
                <a:latin typeface="Calibri" pitchFamily="34" charset="0"/>
                <a:ea typeface="Calibri" pitchFamily="34" charset="-122"/>
                <a:cs typeface="Calibri" pitchFamily="34" charset="-120"/>
              </a:rPr>
              <a:t>Problem</a:t>
            </a:r>
            <a:r>
              <a:rPr lang="en-US" sz="1200" dirty="0">
                <a:solidFill>
                  <a:srgbClr val="D0D5DB"/>
                </a:solidFill>
                <a:latin typeface="Calibri" pitchFamily="34" charset="0"/>
                <a:ea typeface="Calibri" pitchFamily="34" charset="-122"/>
                <a:cs typeface="Calibri" pitchFamily="34" charset="-120"/>
              </a:rPr>
              <a:t>   ·   </a:t>
            </a:r>
            <a:r>
              <a:rPr lang="en-US" sz="1200" dirty="0">
                <a:solidFill>
                  <a:srgbClr val="6B7280"/>
                </a:solidFill>
                <a:latin typeface="Calibri" pitchFamily="34" charset="0"/>
                <a:ea typeface="Calibri" pitchFamily="34" charset="-122"/>
                <a:cs typeface="Calibri" pitchFamily="34" charset="-120"/>
              </a:rPr>
              <a:t>Approach</a:t>
            </a:r>
            <a:r>
              <a:rPr lang="en-US" sz="1200" dirty="0">
                <a:solidFill>
                  <a:srgbClr val="D0D5DB"/>
                </a:solidFill>
                <a:latin typeface="Calibri" pitchFamily="34" charset="0"/>
                <a:ea typeface="Calibri" pitchFamily="34" charset="-122"/>
                <a:cs typeface="Calibri" pitchFamily="34" charset="-120"/>
              </a:rPr>
              <a:t>   ·   </a:t>
            </a:r>
            <a:r>
              <a:rPr lang="en-US" sz="1200" dirty="0">
                <a:solidFill>
                  <a:srgbClr val="6B7280"/>
                </a:solidFill>
                <a:latin typeface="Calibri" pitchFamily="34" charset="0"/>
                <a:ea typeface="Calibri" pitchFamily="34" charset="-122"/>
                <a:cs typeface="Calibri" pitchFamily="34" charset="-120"/>
              </a:rPr>
              <a:t>Evidence</a:t>
            </a:r>
            <a:r>
              <a:rPr lang="en-US" sz="1200" dirty="0">
                <a:solidFill>
                  <a:srgbClr val="D0D5DB"/>
                </a:solidFill>
                <a:latin typeface="Calibri" pitchFamily="34" charset="0"/>
                <a:ea typeface="Calibri" pitchFamily="34" charset="-122"/>
                <a:cs typeface="Calibri" pitchFamily="34" charset="-120"/>
              </a:rPr>
              <a:t>   ·   </a:t>
            </a:r>
            <a:r>
              <a:rPr lang="en-US" sz="1200" dirty="0">
                <a:solidFill>
                  <a:srgbClr val="6B7280"/>
                </a:solidFill>
                <a:latin typeface="Calibri" pitchFamily="34" charset="0"/>
                <a:ea typeface="Calibri" pitchFamily="34" charset="-122"/>
                <a:cs typeface="Calibri" pitchFamily="34" charset="-120"/>
              </a:rPr>
              <a:t>Results</a:t>
            </a:r>
            <a:r>
              <a:rPr lang="en-US" sz="1200" dirty="0">
                <a:solidFill>
                  <a:srgbClr val="D0D5DB"/>
                </a:solidFill>
                <a:latin typeface="Calibri" pitchFamily="34" charset="0"/>
                <a:ea typeface="Calibri" pitchFamily="34" charset="-122"/>
                <a:cs typeface="Calibri" pitchFamily="34" charset="-120"/>
              </a:rPr>
              <a:t>   ·   </a:t>
            </a:r>
            <a:r>
              <a:rPr lang="en-US" sz="1200" dirty="0">
                <a:solidFill>
                  <a:srgbClr val="6B7280"/>
                </a:solidFill>
                <a:latin typeface="Calibri" pitchFamily="34" charset="0"/>
                <a:ea typeface="Calibri" pitchFamily="34" charset="-122"/>
                <a:cs typeface="Calibri" pitchFamily="34" charset="-120"/>
              </a:rPr>
              <a:t>Demo</a:t>
            </a:r>
            <a:r>
              <a:rPr lang="en-US" sz="1200" dirty="0">
                <a:solidFill>
                  <a:srgbClr val="D0D5DB"/>
                </a:solidFill>
                <a:latin typeface="Calibri" pitchFamily="34" charset="0"/>
                <a:ea typeface="Calibri" pitchFamily="34" charset="-122"/>
                <a:cs typeface="Calibri" pitchFamily="34" charset="-120"/>
              </a:rPr>
              <a:t>   ·   </a:t>
            </a:r>
            <a:r>
              <a:rPr lang="en-US" sz="1200" b="1" dirty="0">
                <a:solidFill>
                  <a:srgbClr val="1F4E79"/>
                </a:solidFill>
                <a:latin typeface="Calibri" pitchFamily="34" charset="0"/>
                <a:ea typeface="Calibri" pitchFamily="34" charset="-122"/>
                <a:cs typeface="Calibri" pitchFamily="34" charset="-120"/>
              </a:rPr>
              <a:t>Impact</a:t>
            </a:r>
            <a:endParaRPr lang="en-US" sz="1200" dirty="0"/>
          </a:p>
        </p:txBody>
      </p:sp>
      <p:sp>
        <p:nvSpPr>
          <p:cNvPr id="3" name="Text 1"/>
          <p:cNvSpPr/>
          <p:nvPr/>
        </p:nvSpPr>
        <p:spPr>
          <a:xfrm>
            <a:off x="7985455" y="274320"/>
            <a:ext cx="3657600" cy="274320"/>
          </a:xfrm>
          <a:prstGeom prst="rect">
            <a:avLst/>
          </a:prstGeom>
          <a:noFill/>
          <a:ln/>
        </p:spPr>
        <p:txBody>
          <a:bodyPr wrap="square" lIns="0" tIns="0" rIns="0" bIns="0" rtlCol="0" anchor="ctr"/>
          <a:lstStyle/>
          <a:p>
            <a:pPr marL="0" indent="0" algn="r">
              <a:buNone/>
            </a:pPr>
            <a:r>
              <a:rPr lang="en-US" sz="1200" dirty="0">
                <a:solidFill>
                  <a:srgbClr val="6B7280"/>
                </a:solidFill>
                <a:latin typeface="Calibri" pitchFamily="34" charset="0"/>
                <a:ea typeface="Calibri" pitchFamily="34" charset="-122"/>
                <a:cs typeface="Calibri" pitchFamily="34" charset="-120"/>
              </a:rPr>
              <a:t>Conclusions</a:t>
            </a:r>
            <a:endParaRPr lang="en-US" sz="1200" dirty="0"/>
          </a:p>
        </p:txBody>
      </p:sp>
      <p:sp>
        <p:nvSpPr>
          <p:cNvPr id="4" name="Text 2"/>
          <p:cNvSpPr/>
          <p:nvPr/>
        </p:nvSpPr>
        <p:spPr>
          <a:xfrm>
            <a:off x="548640" y="621792"/>
            <a:ext cx="11094415" cy="914400"/>
          </a:xfrm>
          <a:prstGeom prst="rect">
            <a:avLst/>
          </a:prstGeom>
          <a:noFill/>
          <a:ln/>
        </p:spPr>
        <p:txBody>
          <a:bodyPr wrap="square" lIns="0" tIns="0" rIns="0" bIns="0" rtlCol="0" anchor="t"/>
          <a:lstStyle/>
          <a:p>
            <a:pPr marL="0" indent="0">
              <a:buNone/>
            </a:pPr>
            <a:r>
              <a:rPr lang="en-US" sz="2600" b="1" dirty="0">
                <a:solidFill>
                  <a:srgbClr val="1F4E79"/>
                </a:solidFill>
                <a:latin typeface="Calibri" pitchFamily="34" charset="0"/>
                <a:ea typeface="Calibri" pitchFamily="34" charset="-122"/>
                <a:cs typeface="Calibri" pitchFamily="34" charset="-120"/>
              </a:rPr>
              <a:t>Build B, keep A ready, ship C today; one LFP charge test decides between B and A</a:t>
            </a:r>
            <a:endParaRPr lang="en-US" sz="2600" dirty="0"/>
          </a:p>
        </p:txBody>
      </p:sp>
      <p:sp>
        <p:nvSpPr>
          <p:cNvPr id="5" name="Text 3"/>
          <p:cNvSpPr/>
          <p:nvPr/>
        </p:nvSpPr>
        <p:spPr>
          <a:xfrm>
            <a:off x="10911535" y="6355080"/>
            <a:ext cx="731520" cy="274320"/>
          </a:xfrm>
          <a:prstGeom prst="rect">
            <a:avLst/>
          </a:prstGeom>
          <a:noFill/>
          <a:ln/>
        </p:spPr>
        <p:txBody>
          <a:bodyPr wrap="square" lIns="0" tIns="0" rIns="0" bIns="0" rtlCol="0" anchor="ctr"/>
          <a:lstStyle/>
          <a:p>
            <a:pPr marL="0" indent="0" algn="r">
              <a:buNone/>
            </a:pPr>
            <a:r>
              <a:rPr lang="en-US" sz="1200" dirty="0">
                <a:solidFill>
                  <a:srgbClr val="6B7280"/>
                </a:solidFill>
                <a:latin typeface="Calibri" pitchFamily="34" charset="0"/>
                <a:ea typeface="Calibri" pitchFamily="34" charset="-122"/>
                <a:cs typeface="Calibri" pitchFamily="34" charset="-120"/>
              </a:rPr>
              <a:t>13</a:t>
            </a:r>
            <a:endParaRPr lang="en-US" sz="1200" dirty="0"/>
          </a:p>
        </p:txBody>
      </p:sp>
      <p:sp>
        <p:nvSpPr>
          <p:cNvPr id="6" name="Text 4"/>
          <p:cNvSpPr/>
          <p:nvPr/>
        </p:nvSpPr>
        <p:spPr>
          <a:xfrm>
            <a:off x="548640" y="1874520"/>
            <a:ext cx="6309360" cy="3840480"/>
          </a:xfrm>
          <a:prstGeom prst="rect">
            <a:avLst/>
          </a:prstGeom>
          <a:noFill/>
          <a:ln/>
        </p:spPr>
        <p:txBody>
          <a:bodyPr wrap="square" lIns="0" tIns="0" rIns="0" bIns="0" rtlCol="0" anchor="t"/>
          <a:lstStyle/>
          <a:p>
            <a:pPr marL="342900" indent="-342900">
              <a:spcAft>
                <a:spcPts val="1400"/>
              </a:spcAft>
              <a:buSzPct val="100000"/>
              <a:buChar char="•"/>
            </a:pPr>
            <a:r>
              <a:rPr lang="en-US" sz="2000" dirty="0">
                <a:solidFill>
                  <a:srgbClr val="262626"/>
                </a:solidFill>
                <a:latin typeface="Calibri" pitchFamily="34" charset="0"/>
                <a:ea typeface="Calibri" pitchFamily="34" charset="-122"/>
                <a:cs typeface="Calibri" pitchFamily="34" charset="-120"/>
              </a:rPr>
              <a:t>The baseline BMS misses a 3.2 K hotspot and charges cells at 47.6 °C</a:t>
            </a:r>
            <a:endParaRPr lang="en-US" sz="2000" dirty="0"/>
          </a:p>
          <a:p>
            <a:pPr marL="342900" indent="-342900">
              <a:spcAft>
                <a:spcPts val="1400"/>
              </a:spcAft>
              <a:buSzPct val="100000"/>
              <a:buChar char="•"/>
            </a:pPr>
            <a:r>
              <a:rPr lang="en-US" sz="2000" dirty="0">
                <a:solidFill>
                  <a:srgbClr val="262626"/>
                </a:solidFill>
                <a:latin typeface="Calibri" pitchFamily="34" charset="0"/>
                <a:ea typeface="Calibri" pitchFamily="34" charset="-122"/>
                <a:cs typeface="Calibri" pitchFamily="34" charset="-120"/>
              </a:rPr>
              <a:t>B (LFP) for new packs; A if mass is capped or LFP runs hotter; C as a ₹0 retrofit</a:t>
            </a:r>
            <a:endParaRPr lang="en-US" sz="2000" dirty="0"/>
          </a:p>
          <a:p>
            <a:pPr marL="342900" indent="-342900">
              <a:spcAft>
                <a:spcPts val="1400"/>
              </a:spcAft>
              <a:buSzPct val="100000"/>
              <a:buChar char="•"/>
            </a:pPr>
            <a:r>
              <a:rPr lang="en-US" sz="2000" dirty="0">
                <a:solidFill>
                  <a:srgbClr val="262626"/>
                </a:solidFill>
                <a:latin typeface="Calibri" pitchFamily="34" charset="0"/>
                <a:ea typeface="Calibri" pitchFamily="34" charset="-122"/>
                <a:cs typeface="Calibri" pitchFamily="34" charset="-120"/>
              </a:rPr>
              <a:t>Evidence: a proxy cell checked on 60 hold-out logs; the LFP cell is not yet validated</a:t>
            </a:r>
            <a:endParaRPr lang="en-US" sz="2000" dirty="0"/>
          </a:p>
        </p:txBody>
      </p:sp>
      <p:sp>
        <p:nvSpPr>
          <p:cNvPr id="7" name="Shape 5"/>
          <p:cNvSpPr/>
          <p:nvPr/>
        </p:nvSpPr>
        <p:spPr>
          <a:xfrm>
            <a:off x="7269480" y="1783080"/>
            <a:ext cx="4370832" cy="2743200"/>
          </a:xfrm>
          <a:prstGeom prst="rect">
            <a:avLst/>
          </a:prstGeom>
          <a:solidFill>
            <a:srgbClr val="DEEAF6"/>
          </a:solidFill>
          <a:ln w="12700">
            <a:solidFill>
              <a:srgbClr val="DEEAF6"/>
            </a:solidFill>
            <a:prstDash val="solid"/>
          </a:ln>
        </p:spPr>
      </p:sp>
      <p:sp>
        <p:nvSpPr>
          <p:cNvPr id="8" name="Text 6"/>
          <p:cNvSpPr/>
          <p:nvPr/>
        </p:nvSpPr>
        <p:spPr>
          <a:xfrm>
            <a:off x="7543800" y="2011680"/>
            <a:ext cx="3822192" cy="2377440"/>
          </a:xfrm>
          <a:prstGeom prst="rect">
            <a:avLst/>
          </a:prstGeom>
          <a:noFill/>
          <a:ln/>
        </p:spPr>
        <p:txBody>
          <a:bodyPr wrap="square" lIns="0" tIns="0" rIns="0" bIns="0" rtlCol="0" anchor="t"/>
          <a:lstStyle/>
          <a:p>
            <a:pPr marL="0" indent="0">
              <a:spcAft>
                <a:spcPts val="1200"/>
              </a:spcAft>
              <a:buNone/>
            </a:pPr>
            <a:r>
              <a:rPr lang="en-US" sz="2200" b="1" dirty="0">
                <a:solidFill>
                  <a:srgbClr val="1F4E79"/>
                </a:solidFill>
                <a:latin typeface="Calibri" pitchFamily="34" charset="0"/>
                <a:ea typeface="Calibri" pitchFamily="34" charset="-122"/>
                <a:cs typeface="Calibri" pitchFamily="34" charset="-120"/>
              </a:rPr>
              <a:t>Our ask</a:t>
            </a:r>
            <a:endParaRPr lang="en-US" sz="2200" dirty="0"/>
          </a:p>
          <a:p>
            <a:pPr marL="0" indent="0">
              <a:spcAft>
                <a:spcPts val="1200"/>
              </a:spcAft>
              <a:buNone/>
            </a:pPr>
            <a:r>
              <a:rPr lang="en-US" sz="2000" dirty="0">
                <a:solidFill>
                  <a:srgbClr val="262626"/>
                </a:solidFill>
                <a:latin typeface="Calibri" pitchFamily="34" charset="0"/>
                <a:ea typeface="Calibri" pitchFamily="34" charset="-122"/>
                <a:cs typeface="Calibri" pitchFamily="34" charset="-120"/>
              </a:rPr>
              <a:t>LFP cells and supervised rig time for one LFP charge test</a:t>
            </a:r>
            <a:endParaRPr lang="en-US" sz="2200" dirty="0"/>
          </a:p>
          <a:p>
            <a:pPr marL="0" indent="0">
              <a:spcAft>
                <a:spcPts val="1200"/>
              </a:spcAft>
              <a:buNone/>
            </a:pPr>
            <a:r>
              <a:rPr lang="en-US" sz="1600" dirty="0">
                <a:solidFill>
                  <a:srgbClr val="6B7280"/>
                </a:solidFill>
                <a:latin typeface="Calibri" pitchFamily="34" charset="0"/>
                <a:ea typeface="Calibri" pitchFamily="34" charset="-122"/>
                <a:cs typeface="Calibri" pitchFamily="34" charset="-120"/>
              </a:rPr>
              <a:t>≤ 2S protected cells, inline fuse, fireproof bag, hard cut-offs in firmware, never unattended</a:t>
            </a:r>
            <a:endParaRPr lang="en-US" sz="2200" dirty="0"/>
          </a:p>
        </p:txBody>
      </p:sp>
      <p:sp>
        <p:nvSpPr>
          <p:cNvPr id="9" name="Text 7"/>
          <p:cNvSpPr/>
          <p:nvPr/>
        </p:nvSpPr>
        <p:spPr>
          <a:xfrm>
            <a:off x="548640" y="5897880"/>
            <a:ext cx="11094415" cy="411480"/>
          </a:xfrm>
          <a:prstGeom prst="rect">
            <a:avLst/>
          </a:prstGeom>
          <a:noFill/>
          <a:ln/>
        </p:spPr>
        <p:txBody>
          <a:bodyPr wrap="square" lIns="0" tIns="0" rIns="0" bIns="0" rtlCol="0" anchor="ctr"/>
          <a:lstStyle/>
          <a:p>
            <a:pPr marL="0" indent="0">
              <a:buNone/>
            </a:pPr>
            <a:r>
              <a:rPr lang="en-US" sz="1400" b="1" dirty="0">
                <a:solidFill>
                  <a:srgbClr val="262626"/>
                </a:solidFill>
                <a:latin typeface="Calibri" pitchFamily="34" charset="0"/>
                <a:ea typeface="Calibri" pitchFamily="34" charset="-122"/>
                <a:cs typeface="Calibri" pitchFamily="34" charset="-120"/>
              </a:rPr>
              <a:t>Falak Anwar</a:t>
            </a:r>
            <a:r>
              <a:rPr lang="en-US" sz="1400" dirty="0">
                <a:solidFill>
                  <a:srgbClr val="262626"/>
                </a:solidFill>
                <a:latin typeface="Calibri" pitchFamily="34" charset="0"/>
                <a:ea typeface="Calibri" pitchFamily="34" charset="-122"/>
                <a:cs typeface="Calibri" pitchFamily="34" charset="-120"/>
              </a:rPr>
              <a:t> · office.falakanwar@gmail.com     </a:t>
            </a:r>
            <a:r>
              <a:rPr lang="en-US" sz="1400" b="1" dirty="0">
                <a:solidFill>
                  <a:srgbClr val="262626"/>
                </a:solidFill>
                <a:latin typeface="Calibri" pitchFamily="34" charset="0"/>
                <a:ea typeface="Calibri" pitchFamily="34" charset="-122"/>
                <a:cs typeface="Calibri" pitchFamily="34" charset="-120"/>
              </a:rPr>
              <a:t>Zaid Alam</a:t>
            </a:r>
            <a:r>
              <a:rPr lang="en-US" sz="1400" dirty="0">
                <a:solidFill>
                  <a:srgbClr val="262626"/>
                </a:solidFill>
                <a:latin typeface="Calibri" pitchFamily="34" charset="0"/>
                <a:ea typeface="Calibri" pitchFamily="34" charset="-122"/>
                <a:cs typeface="Calibri" pitchFamily="34" charset="-120"/>
              </a:rPr>
              <a:t> · zaidlc319@gmail.com     </a:t>
            </a:r>
            <a:r>
              <a:rPr lang="en-US" sz="1400" u="sng" dirty="0">
                <a:solidFill>
                  <a:srgbClr val="2E75B6"/>
                </a:solidFill>
                <a:latin typeface="Calibri" pitchFamily="34" charset="0"/>
                <a:ea typeface="Calibri" pitchFamily="34" charset="-122"/>
                <a:cs typeface="Calibri" pitchFamily="34" charset="-120"/>
                <a:hlinkClick r:id="rId3">
                  <a:extLst>
                    <a:ext uri="{A12FA001-AC4F-418D-AE19-62706E023703}">
                      <ahyp:hlinkClr xmlns:ahyp="http://schemas.microsoft.com/office/drawing/2018/hyperlinkcolor" xmlns="" val="tx"/>
                    </a:ext>
                  </a:extLst>
                </a:hlinkClick>
              </a:rPr>
              <a:t>github.com/gitFa07/battery-energy-system</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7772400" cy="274320"/>
          </a:xfrm>
          <a:prstGeom prst="rect">
            <a:avLst/>
          </a:prstGeom>
          <a:noFill/>
          <a:ln/>
        </p:spPr>
        <p:txBody>
          <a:bodyPr wrap="square" lIns="0" tIns="0" rIns="0" bIns="0" rtlCol="0" anchor="ctr"/>
          <a:lstStyle/>
          <a:p>
            <a:pPr marL="0" indent="0">
              <a:buNone/>
            </a:pPr>
            <a:r>
              <a:rPr lang="en-US" sz="1200" b="1" dirty="0">
                <a:solidFill>
                  <a:srgbClr val="1F4E79"/>
                </a:solidFill>
                <a:latin typeface="Calibri" pitchFamily="34" charset="0"/>
                <a:ea typeface="Calibri" pitchFamily="34" charset="-122"/>
                <a:cs typeface="Calibri" pitchFamily="34" charset="-120"/>
              </a:rPr>
              <a:t>Backup</a:t>
            </a:r>
            <a:endParaRPr lang="en-US" sz="1200" dirty="0"/>
          </a:p>
        </p:txBody>
      </p:sp>
      <p:sp>
        <p:nvSpPr>
          <p:cNvPr id="3" name="Text 1"/>
          <p:cNvSpPr/>
          <p:nvPr/>
        </p:nvSpPr>
        <p:spPr>
          <a:xfrm>
            <a:off x="7985455" y="274320"/>
            <a:ext cx="3657600" cy="274320"/>
          </a:xfrm>
          <a:prstGeom prst="rect">
            <a:avLst/>
          </a:prstGeom>
          <a:noFill/>
          <a:ln/>
        </p:spPr>
        <p:txBody>
          <a:bodyPr wrap="square" lIns="0" tIns="0" rIns="0" bIns="0" rtlCol="0" anchor="ctr"/>
          <a:lstStyle/>
          <a:p>
            <a:pPr marL="0" indent="0" algn="r">
              <a:buNone/>
            </a:pPr>
            <a:r>
              <a:rPr lang="en-US" sz="1200" dirty="0">
                <a:solidFill>
                  <a:srgbClr val="6B7280"/>
                </a:solidFill>
                <a:latin typeface="Calibri" pitchFamily="34" charset="0"/>
                <a:ea typeface="Calibri" pitchFamily="34" charset="-122"/>
                <a:cs typeface="Calibri" pitchFamily="34" charset="-120"/>
              </a:rPr>
              <a:t>References</a:t>
            </a:r>
            <a:endParaRPr lang="en-US" sz="1200" dirty="0"/>
          </a:p>
        </p:txBody>
      </p:sp>
      <p:sp>
        <p:nvSpPr>
          <p:cNvPr id="4" name="Text 2"/>
          <p:cNvSpPr/>
          <p:nvPr/>
        </p:nvSpPr>
        <p:spPr>
          <a:xfrm>
            <a:off x="548640" y="621792"/>
            <a:ext cx="11094415" cy="914400"/>
          </a:xfrm>
          <a:prstGeom prst="rect">
            <a:avLst/>
          </a:prstGeom>
          <a:noFill/>
          <a:ln/>
        </p:spPr>
        <p:txBody>
          <a:bodyPr wrap="square" lIns="0" tIns="0" rIns="0" bIns="0" rtlCol="0" anchor="t"/>
          <a:lstStyle/>
          <a:p>
            <a:pPr marL="0" indent="0">
              <a:buNone/>
            </a:pPr>
            <a:r>
              <a:rPr lang="en-US" sz="2600" b="1" dirty="0">
                <a:solidFill>
                  <a:srgbClr val="1F4E79"/>
                </a:solidFill>
                <a:latin typeface="Calibri" pitchFamily="34" charset="0"/>
                <a:ea typeface="Calibri" pitchFamily="34" charset="-122"/>
                <a:cs typeface="Calibri" pitchFamily="34" charset="-120"/>
              </a:rPr>
              <a:t>References</a:t>
            </a:r>
            <a:endParaRPr lang="en-US" sz="2600" dirty="0"/>
          </a:p>
        </p:txBody>
      </p:sp>
      <p:sp>
        <p:nvSpPr>
          <p:cNvPr id="5" name="Text 3"/>
          <p:cNvSpPr/>
          <p:nvPr/>
        </p:nvSpPr>
        <p:spPr>
          <a:xfrm>
            <a:off x="10911535" y="6355080"/>
            <a:ext cx="731520" cy="274320"/>
          </a:xfrm>
          <a:prstGeom prst="rect">
            <a:avLst/>
          </a:prstGeom>
          <a:noFill/>
          <a:ln/>
        </p:spPr>
        <p:txBody>
          <a:bodyPr wrap="square" lIns="0" tIns="0" rIns="0" bIns="0" rtlCol="0" anchor="ctr"/>
          <a:lstStyle/>
          <a:p>
            <a:pPr marL="0" indent="0" algn="r">
              <a:buNone/>
            </a:pPr>
            <a:r>
              <a:rPr lang="en-US" sz="1200" dirty="0">
                <a:solidFill>
                  <a:srgbClr val="6B7280"/>
                </a:solidFill>
                <a:latin typeface="Calibri" pitchFamily="34" charset="0"/>
                <a:ea typeface="Calibri" pitchFamily="34" charset="-122"/>
                <a:cs typeface="Calibri" pitchFamily="34" charset="-120"/>
              </a:rPr>
              <a:t>14</a:t>
            </a:r>
            <a:endParaRPr lang="en-US" sz="1200" dirty="0"/>
          </a:p>
        </p:txBody>
      </p:sp>
      <p:sp>
        <p:nvSpPr>
          <p:cNvPr id="6" name="Text 4"/>
          <p:cNvSpPr/>
          <p:nvPr/>
        </p:nvSpPr>
        <p:spPr>
          <a:xfrm>
            <a:off x="548640" y="1463040"/>
            <a:ext cx="11094415" cy="3931920"/>
          </a:xfrm>
          <a:prstGeom prst="rect">
            <a:avLst/>
          </a:prstGeom>
          <a:noFill/>
          <a:ln/>
        </p:spPr>
        <p:txBody>
          <a:bodyPr wrap="square" lIns="0" tIns="0" rIns="0" bIns="0" rtlCol="0" anchor="t"/>
          <a:lstStyle/>
          <a:p>
            <a:pPr marL="0" indent="0">
              <a:spcAft>
                <a:spcPts val="1400"/>
              </a:spcAft>
              <a:buNone/>
            </a:pPr>
            <a:r>
              <a:rPr lang="en-US" sz="1600" dirty="0">
                <a:solidFill>
                  <a:srgbClr val="262626"/>
                </a:solidFill>
                <a:latin typeface="Calibri" pitchFamily="34" charset="0"/>
                <a:ea typeface="Calibri" pitchFamily="34" charset="-122"/>
                <a:cs typeface="Calibri" pitchFamily="34" charset="-120"/>
              </a:rPr>
              <a:t>Yao, J., Droese, &amp; Kowal (2026). </a:t>
            </a:r>
            <a:r>
              <a:rPr lang="en-US" sz="1600" i="1" dirty="0">
                <a:solidFill>
                  <a:srgbClr val="262626"/>
                </a:solidFill>
                <a:latin typeface="Calibri" pitchFamily="34" charset="0"/>
                <a:ea typeface="Calibri" pitchFamily="34" charset="-122"/>
                <a:cs typeface="Calibri" pitchFamily="34" charset="-120"/>
              </a:rPr>
              <a:t>Lithium-Ion Battery Internal Temperature Dataset</a:t>
            </a:r>
            <a:r>
              <a:rPr lang="en-US" sz="1600" dirty="0">
                <a:solidFill>
                  <a:srgbClr val="262626"/>
                </a:solidFill>
                <a:latin typeface="Calibri" pitchFamily="34" charset="0"/>
                <a:ea typeface="Calibri" pitchFamily="34" charset="-122"/>
                <a:cs typeface="Calibri" pitchFamily="34" charset="-120"/>
              </a:rPr>
              <a:t>. Technische Universität Berlin, EET. </a:t>
            </a:r>
            <a:r>
              <a:rPr lang="en-US" sz="1600" u="sng" dirty="0">
                <a:solidFill>
                  <a:srgbClr val="2E75B6"/>
                </a:solidFill>
                <a:latin typeface="Calibri" pitchFamily="34" charset="0"/>
                <a:ea typeface="Calibri" pitchFamily="34" charset="-122"/>
                <a:cs typeface="Calibri" pitchFamily="34" charset="-120"/>
                <a:hlinkClick r:id="rId3">
                  <a:extLst>
                    <a:ext uri="{A12FA001-AC4F-418D-AE19-62706E023703}">
                      <ahyp:hlinkClr xmlns:ahyp="http://schemas.microsoft.com/office/drawing/2018/hyperlinkcolor" xmlns="" val="tx"/>
                    </a:ext>
                  </a:extLst>
                </a:hlinkClick>
              </a:rPr>
              <a:t>https://doi.org/10.14279/depositonce-25110</a:t>
            </a:r>
            <a:r>
              <a:rPr lang="en-US" sz="1600" dirty="0">
                <a:solidFill>
                  <a:srgbClr val="262626"/>
                </a:solidFill>
                <a:latin typeface="Calibri" pitchFamily="34" charset="0"/>
                <a:ea typeface="Calibri" pitchFamily="34" charset="-122"/>
                <a:cs typeface="Calibri" pitchFamily="34" charset="-120"/>
              </a:rPr>
              <a:t>. CC BY 4.0. LG INR21700 M50LT cells. Our changes: current sign flipped, columns renamed, values rounded, charges cut and resampled to 1 s.</a:t>
            </a:r>
            <a:endParaRPr lang="en-US" sz="1600" dirty="0"/>
          </a:p>
          <a:p>
            <a:pPr marL="0" indent="0">
              <a:spcAft>
                <a:spcPts val="1400"/>
              </a:spcAft>
              <a:buNone/>
            </a:pPr>
            <a:r>
              <a:rPr lang="en-US" sz="1600" dirty="0">
                <a:solidFill>
                  <a:srgbClr val="262626"/>
                </a:solidFill>
                <a:latin typeface="Calibri" pitchFamily="34" charset="0"/>
                <a:ea typeface="Calibri" pitchFamily="34" charset="-122"/>
                <a:cs typeface="Calibri" pitchFamily="34" charset="-120"/>
              </a:rPr>
              <a:t>Tata Elxsi (2026). </a:t>
            </a:r>
            <a:r>
              <a:rPr lang="en-US" sz="1600" i="1" dirty="0">
                <a:solidFill>
                  <a:srgbClr val="262626"/>
                </a:solidFill>
                <a:latin typeface="Calibri" pitchFamily="34" charset="0"/>
                <a:ea typeface="Calibri" pitchFamily="34" charset="-122"/>
                <a:cs typeface="Calibri" pitchFamily="34" charset="-120"/>
              </a:rPr>
              <a:t>TELIPORT Season 4, Case Study 2: Reusable Digital Platform for Designing Battery Energy System</a:t>
            </a:r>
            <a:r>
              <a:rPr lang="en-US" sz="1600" dirty="0">
                <a:solidFill>
                  <a:srgbClr val="262626"/>
                </a:solidFill>
                <a:latin typeface="Calibri" pitchFamily="34" charset="0"/>
                <a:ea typeface="Calibri" pitchFamily="34" charset="-122"/>
                <a:cs typeface="Calibri" pitchFamily="34" charset="-120"/>
              </a:rPr>
              <a:t>. Hackathon brief.</a:t>
            </a:r>
            <a:endParaRPr lang="en-US" sz="1600" dirty="0"/>
          </a:p>
          <a:p>
            <a:pPr marL="0" indent="0">
              <a:spcAft>
                <a:spcPts val="1400"/>
              </a:spcAft>
              <a:buNone/>
            </a:pPr>
            <a:r>
              <a:rPr lang="en-US" sz="1600" dirty="0">
                <a:solidFill>
                  <a:srgbClr val="262626"/>
                </a:solidFill>
                <a:latin typeface="Calibri" pitchFamily="34" charset="0"/>
                <a:ea typeface="Calibri" pitchFamily="34" charset="-122"/>
                <a:cs typeface="Calibri" pitchFamily="34" charset="-120"/>
              </a:rPr>
              <a:t>AIS‑156, Amendment 3, Annex 8K. Cited for the sensor count only; no design is claimed compliant.</a:t>
            </a:r>
            <a:endParaRPr lang="en-US" sz="1600" dirty="0"/>
          </a:p>
          <a:p>
            <a:pPr marL="0" indent="0">
              <a:spcAft>
                <a:spcPts val="1400"/>
              </a:spcAft>
              <a:buNone/>
            </a:pPr>
            <a:r>
              <a:rPr lang="en-US" sz="1600" dirty="0">
                <a:solidFill>
                  <a:srgbClr val="262626"/>
                </a:solidFill>
                <a:latin typeface="Calibri" pitchFamily="34" charset="0"/>
                <a:ea typeface="Calibri" pitchFamily="34" charset="-122"/>
                <a:cs typeface="Calibri" pitchFamily="34" charset="-120"/>
              </a:rPr>
              <a:t>PackForge (2026). CLI run of studies/escooter_48v; calibration record data/validation/calibration_nmc21700_5ah.json. </a:t>
            </a:r>
            <a:r>
              <a:rPr lang="en-US" sz="1600" u="sng" dirty="0">
                <a:solidFill>
                  <a:srgbClr val="2E75B6"/>
                </a:solidFill>
                <a:latin typeface="Calibri" pitchFamily="34" charset="0"/>
                <a:ea typeface="Calibri" pitchFamily="34" charset="-122"/>
                <a:cs typeface="Calibri" pitchFamily="34" charset="-120"/>
                <a:hlinkClick r:id="rId4">
                  <a:extLst>
                    <a:ext uri="{A12FA001-AC4F-418D-AE19-62706E023703}">
                      <ahyp:hlinkClr xmlns:ahyp="http://schemas.microsoft.com/office/drawing/2018/hyperlinkcolor" xmlns="" val="tx"/>
                    </a:ext>
                  </a:extLst>
                </a:hlinkClick>
              </a:rPr>
              <a:t>github.com/gitFa07/battery-energy-system</a:t>
            </a:r>
            <a:endParaRPr lang="en-US" sz="1600" dirty="0"/>
          </a:p>
        </p:txBody>
      </p:sp>
      <p:sp>
        <p:nvSpPr>
          <p:cNvPr id="7" name="Text 5"/>
          <p:cNvSpPr/>
          <p:nvPr/>
        </p:nvSpPr>
        <p:spPr>
          <a:xfrm>
            <a:off x="548640" y="5486400"/>
            <a:ext cx="11094415" cy="685800"/>
          </a:xfrm>
          <a:prstGeom prst="rect">
            <a:avLst/>
          </a:prstGeom>
          <a:noFill/>
          <a:ln/>
        </p:spPr>
        <p:txBody>
          <a:bodyPr wrap="square" lIns="0" tIns="0" rIns="0" bIns="0" rtlCol="0" anchor="t"/>
          <a:lstStyle/>
          <a:p>
            <a:pPr marL="0" indent="0">
              <a:buNone/>
            </a:pPr>
            <a:r>
              <a:rPr lang="en-US" sz="1400" dirty="0">
                <a:solidFill>
                  <a:srgbClr val="6B7280"/>
                </a:solidFill>
                <a:latin typeface="Calibri" pitchFamily="34" charset="0"/>
                <a:ea typeface="Calibri" pitchFamily="34" charset="-122"/>
                <a:cs typeface="Calibri" pitchFamily="34" charset="-120"/>
              </a:rPr>
              <a:t>NMC 21700 5 Ah and LFP cell values are generic class values, not a named datasheet. SYNTHETIC_* logs come from our own model: a method check for the fitter, never evidence.</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7772400" cy="274320"/>
          </a:xfrm>
          <a:prstGeom prst="rect">
            <a:avLst/>
          </a:prstGeom>
          <a:noFill/>
          <a:ln/>
        </p:spPr>
        <p:txBody>
          <a:bodyPr wrap="square" lIns="0" tIns="0" rIns="0" bIns="0" rtlCol="0" anchor="ctr"/>
          <a:lstStyle/>
          <a:p>
            <a:pPr marL="0" indent="0">
              <a:buNone/>
            </a:pPr>
            <a:r>
              <a:rPr lang="en-US" sz="1200" b="1" dirty="0">
                <a:solidFill>
                  <a:srgbClr val="1F4E79"/>
                </a:solidFill>
                <a:latin typeface="Calibri" pitchFamily="34" charset="0"/>
                <a:ea typeface="Calibri" pitchFamily="34" charset="-122"/>
                <a:cs typeface="Calibri" pitchFamily="34" charset="-120"/>
              </a:rPr>
              <a:t>Backup</a:t>
            </a:r>
            <a:endParaRPr lang="en-US" sz="1200" dirty="0"/>
          </a:p>
        </p:txBody>
      </p:sp>
      <p:sp>
        <p:nvSpPr>
          <p:cNvPr id="3" name="Text 1"/>
          <p:cNvSpPr/>
          <p:nvPr/>
        </p:nvSpPr>
        <p:spPr>
          <a:xfrm>
            <a:off x="7985455" y="274320"/>
            <a:ext cx="3657600" cy="274320"/>
          </a:xfrm>
          <a:prstGeom prst="rect">
            <a:avLst/>
          </a:prstGeom>
          <a:noFill/>
          <a:ln/>
        </p:spPr>
        <p:txBody>
          <a:bodyPr wrap="square" lIns="0" tIns="0" rIns="0" bIns="0" rtlCol="0" anchor="ctr"/>
          <a:lstStyle/>
          <a:p>
            <a:pPr marL="0" indent="0" algn="r">
              <a:buNone/>
            </a:pPr>
            <a:r>
              <a:rPr lang="en-US" sz="1200" dirty="0">
                <a:solidFill>
                  <a:srgbClr val="6B7280"/>
                </a:solidFill>
                <a:latin typeface="Calibri" pitchFamily="34" charset="0"/>
                <a:ea typeface="Calibri" pitchFamily="34" charset="-122"/>
                <a:cs typeface="Calibri" pitchFamily="34" charset="-120"/>
              </a:rPr>
              <a:t>Appendix A1 · Problem understanding</a:t>
            </a:r>
            <a:endParaRPr lang="en-US" sz="1200" dirty="0"/>
          </a:p>
        </p:txBody>
      </p:sp>
      <p:sp>
        <p:nvSpPr>
          <p:cNvPr id="4" name="Text 2"/>
          <p:cNvSpPr/>
          <p:nvPr/>
        </p:nvSpPr>
        <p:spPr>
          <a:xfrm>
            <a:off x="548640" y="621792"/>
            <a:ext cx="11094415" cy="914400"/>
          </a:xfrm>
          <a:prstGeom prst="rect">
            <a:avLst/>
          </a:prstGeom>
          <a:noFill/>
          <a:ln/>
        </p:spPr>
        <p:txBody>
          <a:bodyPr wrap="square" lIns="0" tIns="0" rIns="0" bIns="0" rtlCol="0" anchor="t"/>
          <a:lstStyle/>
          <a:p>
            <a:pPr marL="0" indent="0">
              <a:buNone/>
            </a:pPr>
            <a:r>
              <a:rPr lang="en-US" sz="2600" b="1" dirty="0">
                <a:solidFill>
                  <a:srgbClr val="1F4E79"/>
                </a:solidFill>
                <a:latin typeface="Calibri" pitchFamily="34" charset="0"/>
                <a:ea typeface="Calibri" pitchFamily="34" charset="-122"/>
                <a:cs typeface="Calibri" pitchFamily="34" charset="-120"/>
              </a:rPr>
              <a:t>A1 · The study sets 11 requirements; four are must-pass</a:t>
            </a:r>
            <a:endParaRPr lang="en-US" sz="2600" dirty="0"/>
          </a:p>
        </p:txBody>
      </p:sp>
      <p:sp>
        <p:nvSpPr>
          <p:cNvPr id="5" name="Text 3"/>
          <p:cNvSpPr/>
          <p:nvPr/>
        </p:nvSpPr>
        <p:spPr>
          <a:xfrm>
            <a:off x="548640" y="6355080"/>
            <a:ext cx="10058400" cy="274320"/>
          </a:xfrm>
          <a:prstGeom prst="rect">
            <a:avLst/>
          </a:prstGeom>
          <a:noFill/>
          <a:ln/>
        </p:spPr>
        <p:txBody>
          <a:bodyPr wrap="square" lIns="0" tIns="0" rIns="0" bIns="0" rtlCol="0" anchor="ctr"/>
          <a:lstStyle/>
          <a:p>
            <a:pPr marL="0" indent="0">
              <a:buNone/>
            </a:pPr>
            <a:r>
              <a:rPr lang="en-US" sz="1200" dirty="0">
                <a:solidFill>
                  <a:srgbClr val="6B7280"/>
                </a:solidFill>
                <a:latin typeface="Calibri" pitchFamily="34" charset="0"/>
                <a:ea typeface="Calibri" pitchFamily="34" charset="-122"/>
                <a:cs typeface="Calibri" pitchFamily="34" charset="-120"/>
              </a:rPr>
              <a:t>Source: studies/escooter_48v/study.json. Orange rows: where the baseline gets into trouble.</a:t>
            </a:r>
            <a:endParaRPr lang="en-US" sz="1200" dirty="0"/>
          </a:p>
        </p:txBody>
      </p:sp>
      <p:sp>
        <p:nvSpPr>
          <p:cNvPr id="6" name="Text 4"/>
          <p:cNvSpPr/>
          <p:nvPr/>
        </p:nvSpPr>
        <p:spPr>
          <a:xfrm>
            <a:off x="10911535" y="6355080"/>
            <a:ext cx="731520" cy="274320"/>
          </a:xfrm>
          <a:prstGeom prst="rect">
            <a:avLst/>
          </a:prstGeom>
          <a:noFill/>
          <a:ln/>
        </p:spPr>
        <p:txBody>
          <a:bodyPr wrap="square" lIns="0" tIns="0" rIns="0" bIns="0" rtlCol="0" anchor="ctr"/>
          <a:lstStyle/>
          <a:p>
            <a:pPr marL="0" indent="0" algn="r">
              <a:buNone/>
            </a:pPr>
            <a:r>
              <a:rPr lang="en-US" sz="1200" dirty="0">
                <a:solidFill>
                  <a:srgbClr val="6B7280"/>
                </a:solidFill>
                <a:latin typeface="Calibri" pitchFamily="34" charset="0"/>
                <a:ea typeface="Calibri" pitchFamily="34" charset="-122"/>
                <a:cs typeface="Calibri" pitchFamily="34" charset="-120"/>
              </a:rPr>
              <a:t>15</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8686800" cy="4389120"/>
        </p:xfrm>
        <a:graphic>
          <a:graphicData uri="http://schemas.openxmlformats.org/drawingml/2006/table">
            <a:tbl>
              <a:tblPr/>
              <a:tblGrid>
                <a:gridCol w="118872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tblGrid>
              <a:tr h="365760">
                <a:tc>
                  <a:txBody>
                    <a:bodyPr/>
                    <a:lstStyle/>
                    <a:p>
                      <a:pPr marL="0" indent="0">
                        <a:buNone/>
                      </a:pPr>
                      <a:r>
                        <a:rPr lang="en-US" sz="1600" b="1" dirty="0">
                          <a:solidFill>
                            <a:srgbClr val="FFFFFF"/>
                          </a:solidFill>
                          <a:latin typeface="Calibri" pitchFamily="34" charset="0"/>
                          <a:ea typeface="Calibri" pitchFamily="34" charset="-122"/>
                          <a:cs typeface="Calibri" pitchFamily="34" charset="-120"/>
                        </a:rPr>
                        <a:t>ID</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solidFill>
                      <a:srgbClr val="1F4E79"/>
                    </a:solidFill>
                  </a:tcPr>
                </a:tc>
                <a:tc>
                  <a:txBody>
                    <a:bodyPr/>
                    <a:lstStyle/>
                    <a:p>
                      <a:pPr marL="0" indent="0">
                        <a:buNone/>
                      </a:pPr>
                      <a:r>
                        <a:rPr lang="en-US" sz="1600" b="1" dirty="0">
                          <a:solidFill>
                            <a:srgbClr val="FFFFFF"/>
                          </a:solidFill>
                          <a:latin typeface="Calibri" pitchFamily="34" charset="0"/>
                          <a:ea typeface="Calibri" pitchFamily="34" charset="-122"/>
                          <a:cs typeface="Calibri" pitchFamily="34" charset="-120"/>
                        </a:rPr>
                        <a:t>Requirement</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solidFill>
                      <a:srgbClr val="1F4E79"/>
                    </a:solidFill>
                  </a:tcPr>
                </a:tc>
                <a:tc>
                  <a:txBody>
                    <a:bodyPr/>
                    <a:lstStyle/>
                    <a:p>
                      <a:pPr marL="0" indent="0">
                        <a:buNone/>
                      </a:pPr>
                      <a:r>
                        <a:rPr lang="en-US" sz="1600" b="1" dirty="0">
                          <a:solidFill>
                            <a:srgbClr val="FFFFFF"/>
                          </a:solidFill>
                          <a:latin typeface="Calibri" pitchFamily="34" charset="0"/>
                          <a:ea typeface="Calibri" pitchFamily="34" charset="-122"/>
                          <a:cs typeface="Calibri" pitchFamily="34" charset="-120"/>
                        </a:rPr>
                        <a:t>Limit</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solidFill>
                      <a:srgbClr val="1F4E79"/>
                    </a:solidFill>
                  </a:tcPr>
                </a:tc>
                <a:tc>
                  <a:txBody>
                    <a:bodyPr/>
                    <a:lstStyle/>
                    <a:p>
                      <a:pPr marL="0" indent="0">
                        <a:buNone/>
                      </a:pPr>
                      <a:r>
                        <a:rPr lang="en-US" sz="1600" b="1" dirty="0">
                          <a:solidFill>
                            <a:srgbClr val="FFFFFF"/>
                          </a:solidFill>
                          <a:latin typeface="Calibri" pitchFamily="34" charset="0"/>
                          <a:ea typeface="Calibri" pitchFamily="34" charset="-122"/>
                          <a:cs typeface="Calibri" pitchFamily="34" charset="-120"/>
                        </a:rPr>
                        <a:t>Type</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solidFill>
                      <a:srgbClr val="1F4E79"/>
                    </a:solidFill>
                  </a:tcPr>
                </a:tc>
                <a:extLst>
                  <a:ext uri="{0D108BD9-81ED-4DB2-BD59-A6C34878D82A}">
                    <a16:rowId xmlns:a16="http://schemas.microsoft.com/office/drawing/2014/main" val="10000"/>
                  </a:ext>
                </a:extLst>
              </a:tr>
              <a:tr h="365760">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REQ‑01</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Nominal voltage fits 48 V controller</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44–56 V</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must</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REQ‑02</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Usable energy, urban cycle at 40 °C</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 2,000 Wh</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must</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REQ‑03</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solidFill>
                      <a:srgbClr val="FBE3D6"/>
                    </a:solidFill>
                  </a:tcPr>
                </a:tc>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Cell temperature while charging</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solidFill>
                      <a:srgbClr val="FBE3D6"/>
                    </a:solidFill>
                  </a:tcPr>
                </a:tc>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 45 °C</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solidFill>
                      <a:srgbClr val="FBE3D6"/>
                    </a:solidFill>
                  </a:tcPr>
                </a:tc>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must</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solidFill>
                      <a:srgbClr val="FBE3D6"/>
                    </a:solidFill>
                  </a:tcPr>
                </a:tc>
                <a:extLst>
                  <a:ext uri="{0D108BD9-81ED-4DB2-BD59-A6C34878D82A}">
                    <a16:rowId xmlns:a16="http://schemas.microsoft.com/office/drawing/2014/main" val="10003"/>
                  </a:ext>
                </a:extLst>
              </a:tr>
              <a:tr h="365760">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REQ‑04</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Cell temperature while riding</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 55 °C</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must</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extLst>
                  <a:ext uri="{0D108BD9-81ED-4DB2-BD59-A6C34878D82A}">
                    <a16:rowId xmlns:a16="http://schemas.microsoft.com/office/drawing/2014/main" val="10004"/>
                  </a:ext>
                </a:extLst>
              </a:tr>
              <a:tr h="365760">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REQ‑05</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solidFill>
                      <a:srgbClr val="FBE3D6"/>
                    </a:solidFill>
                  </a:tcPr>
                </a:tc>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Charge time, plug-in → 80 %</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solidFill>
                      <a:srgbClr val="FBE3D6"/>
                    </a:solidFill>
                  </a:tcPr>
                </a:tc>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 120 min</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solidFill>
                      <a:srgbClr val="FBE3D6"/>
                    </a:solidFill>
                  </a:tcPr>
                </a:tc>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should</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solidFill>
                      <a:srgbClr val="FBE3D6"/>
                    </a:solidFill>
                  </a:tcPr>
                </a:tc>
                <a:extLst>
                  <a:ext uri="{0D108BD9-81ED-4DB2-BD59-A6C34878D82A}">
                    <a16:rowId xmlns:a16="http://schemas.microsoft.com/office/drawing/2014/main" val="10005"/>
                  </a:ext>
                </a:extLst>
              </a:tr>
              <a:tr h="365760">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REQ‑06</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Cell-to-cell temperature spread</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 5 K</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should</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extLst>
                  <a:ext uri="{0D108BD9-81ED-4DB2-BD59-A6C34878D82A}">
                    <a16:rowId xmlns:a16="http://schemas.microsoft.com/office/drawing/2014/main" val="10006"/>
                  </a:ext>
                </a:extLst>
              </a:tr>
              <a:tr h="365760">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REQ‑07</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solidFill>
                      <a:srgbClr val="FBE3D6"/>
                    </a:solidFill>
                  </a:tcPr>
                </a:tc>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Blind spot: hottest cell − BMS view</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solidFill>
                      <a:srgbClr val="FBE3D6"/>
                    </a:solidFill>
                  </a:tcPr>
                </a:tc>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 3 K</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solidFill>
                      <a:srgbClr val="FBE3D6"/>
                    </a:solidFill>
                  </a:tcPr>
                </a:tc>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should</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solidFill>
                      <a:srgbClr val="FBE3D6"/>
                    </a:solidFill>
                  </a:tcPr>
                </a:tc>
                <a:extLst>
                  <a:ext uri="{0D108BD9-81ED-4DB2-BD59-A6C34878D82A}">
                    <a16:rowId xmlns:a16="http://schemas.microsoft.com/office/drawing/2014/main" val="10007"/>
                  </a:ext>
                </a:extLst>
              </a:tr>
              <a:tr h="365760">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REQ‑08</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Pack mass</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 16 kg</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should</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extLst>
                  <a:ext uri="{0D108BD9-81ED-4DB2-BD59-A6C34878D82A}">
                    <a16:rowId xmlns:a16="http://schemas.microsoft.com/office/drawing/2014/main" val="10008"/>
                  </a:ext>
                </a:extLst>
              </a:tr>
              <a:tr h="365760">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REQ‑09</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Pack volume</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 12 L</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should</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extLst>
                  <a:ext uri="{0D108BD9-81ED-4DB2-BD59-A6C34878D82A}">
                    <a16:rowId xmlns:a16="http://schemas.microsoft.com/office/drawing/2014/main" val="10009"/>
                  </a:ext>
                </a:extLst>
              </a:tr>
              <a:tr h="365760">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REQ‑10</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Pack cost</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 ₹60,000</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should</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extLst>
                  <a:ext uri="{0D108BD9-81ED-4DB2-BD59-A6C34878D82A}">
                    <a16:rowId xmlns:a16="http://schemas.microsoft.com/office/drawing/2014/main" val="10010"/>
                  </a:ext>
                </a:extLst>
              </a:tr>
              <a:tr h="365760">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REQ‑11</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Cycle life in hot climate</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 1,000 cycles</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should</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extLst>
                  <a:ext uri="{0D108BD9-81ED-4DB2-BD59-A6C34878D82A}">
                    <a16:rowId xmlns:a16="http://schemas.microsoft.com/office/drawing/2014/main" val="10011"/>
                  </a:ext>
                </a:extLst>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7772400" cy="274320"/>
          </a:xfrm>
          <a:prstGeom prst="rect">
            <a:avLst/>
          </a:prstGeom>
          <a:noFill/>
          <a:ln/>
        </p:spPr>
        <p:txBody>
          <a:bodyPr wrap="square" lIns="0" tIns="0" rIns="0" bIns="0" rtlCol="0" anchor="ctr"/>
          <a:lstStyle/>
          <a:p>
            <a:pPr marL="0" indent="0">
              <a:buNone/>
            </a:pPr>
            <a:r>
              <a:rPr lang="en-US" sz="1200" b="1" dirty="0">
                <a:solidFill>
                  <a:srgbClr val="1F4E79"/>
                </a:solidFill>
                <a:latin typeface="Calibri" pitchFamily="34" charset="0"/>
                <a:ea typeface="Calibri" pitchFamily="34" charset="-122"/>
                <a:cs typeface="Calibri" pitchFamily="34" charset="-120"/>
              </a:rPr>
              <a:t>Backup</a:t>
            </a:r>
            <a:endParaRPr lang="en-US" sz="1200" dirty="0"/>
          </a:p>
        </p:txBody>
      </p:sp>
      <p:sp>
        <p:nvSpPr>
          <p:cNvPr id="3" name="Text 1"/>
          <p:cNvSpPr/>
          <p:nvPr/>
        </p:nvSpPr>
        <p:spPr>
          <a:xfrm>
            <a:off x="7985455" y="274320"/>
            <a:ext cx="3657600" cy="274320"/>
          </a:xfrm>
          <a:prstGeom prst="rect">
            <a:avLst/>
          </a:prstGeom>
          <a:noFill/>
          <a:ln/>
        </p:spPr>
        <p:txBody>
          <a:bodyPr wrap="square" lIns="0" tIns="0" rIns="0" bIns="0" rtlCol="0" anchor="ctr"/>
          <a:lstStyle/>
          <a:p>
            <a:pPr marL="0" indent="0" algn="r">
              <a:buNone/>
            </a:pPr>
            <a:r>
              <a:rPr lang="en-US" sz="1200" dirty="0">
                <a:solidFill>
                  <a:srgbClr val="6B7280"/>
                </a:solidFill>
                <a:latin typeface="Calibri" pitchFamily="34" charset="0"/>
                <a:ea typeface="Calibri" pitchFamily="34" charset="-122"/>
                <a:cs typeface="Calibri" pitchFamily="34" charset="-120"/>
              </a:rPr>
              <a:t>Appendix A2 · Prototype &amp; evidence</a:t>
            </a:r>
            <a:endParaRPr lang="en-US" sz="1200" dirty="0"/>
          </a:p>
        </p:txBody>
      </p:sp>
      <p:sp>
        <p:nvSpPr>
          <p:cNvPr id="4" name="Text 2"/>
          <p:cNvSpPr/>
          <p:nvPr/>
        </p:nvSpPr>
        <p:spPr>
          <a:xfrm>
            <a:off x="548640" y="621792"/>
            <a:ext cx="11094415" cy="914400"/>
          </a:xfrm>
          <a:prstGeom prst="rect">
            <a:avLst/>
          </a:prstGeom>
          <a:noFill/>
          <a:ln/>
        </p:spPr>
        <p:txBody>
          <a:bodyPr wrap="square" lIns="0" tIns="0" rIns="0" bIns="0" rtlCol="0" anchor="t"/>
          <a:lstStyle/>
          <a:p>
            <a:pPr marL="0" indent="0">
              <a:buNone/>
            </a:pPr>
            <a:r>
              <a:rPr lang="en-US" sz="2600" b="1" dirty="0">
                <a:solidFill>
                  <a:srgbClr val="1F4E79"/>
                </a:solidFill>
                <a:latin typeface="Calibri" pitchFamily="34" charset="0"/>
                <a:ea typeface="Calibri" pitchFamily="34" charset="-122"/>
                <a:cs typeface="Calibri" pitchFamily="34" charset="-120"/>
              </a:rPr>
              <a:t>A2 · Hold-out voltage error stays below 45 mV in the operating window</a:t>
            </a:r>
            <a:endParaRPr lang="en-US" sz="2600" dirty="0"/>
          </a:p>
        </p:txBody>
      </p:sp>
      <p:sp>
        <p:nvSpPr>
          <p:cNvPr id="5" name="Text 3"/>
          <p:cNvSpPr/>
          <p:nvPr/>
        </p:nvSpPr>
        <p:spPr>
          <a:xfrm>
            <a:off x="548640" y="6355080"/>
            <a:ext cx="10058400" cy="274320"/>
          </a:xfrm>
          <a:prstGeom prst="rect">
            <a:avLst/>
          </a:prstGeom>
          <a:noFill/>
          <a:ln/>
        </p:spPr>
        <p:txBody>
          <a:bodyPr wrap="square" lIns="0" tIns="0" rIns="0" bIns="0" rtlCol="0" anchor="ctr"/>
          <a:lstStyle/>
          <a:p>
            <a:pPr marL="0" indent="0">
              <a:buNone/>
            </a:pPr>
            <a:r>
              <a:rPr lang="en-US" sz="1200" dirty="0">
                <a:solidFill>
                  <a:srgbClr val="6B7280"/>
                </a:solidFill>
                <a:latin typeface="Calibri" pitchFamily="34" charset="0"/>
                <a:ea typeface="Calibri" pitchFamily="34" charset="-122"/>
                <a:cs typeface="Calibri" pitchFamily="34" charset="-120"/>
              </a:rPr>
              <a:t>Data: Yao, Droese &amp; Kowal (2026), TU Berlin, DOI 10.14279/depositonce-25110, CC BY 4.0. Record: data/validation/calibration_nmc21700_5ah.json</a:t>
            </a:r>
            <a:endParaRPr lang="en-US" sz="1200" dirty="0"/>
          </a:p>
        </p:txBody>
      </p:sp>
      <p:sp>
        <p:nvSpPr>
          <p:cNvPr id="6" name="Text 4"/>
          <p:cNvSpPr/>
          <p:nvPr/>
        </p:nvSpPr>
        <p:spPr>
          <a:xfrm>
            <a:off x="10911535" y="6355080"/>
            <a:ext cx="731520" cy="274320"/>
          </a:xfrm>
          <a:prstGeom prst="rect">
            <a:avLst/>
          </a:prstGeom>
          <a:noFill/>
          <a:ln/>
        </p:spPr>
        <p:txBody>
          <a:bodyPr wrap="square" lIns="0" tIns="0" rIns="0" bIns="0" rtlCol="0" anchor="ctr"/>
          <a:lstStyle/>
          <a:p>
            <a:pPr marL="0" indent="0" algn="r">
              <a:buNone/>
            </a:pPr>
            <a:r>
              <a:rPr lang="en-US" sz="1200" dirty="0">
                <a:solidFill>
                  <a:srgbClr val="6B7280"/>
                </a:solidFill>
                <a:latin typeface="Calibri" pitchFamily="34" charset="0"/>
                <a:ea typeface="Calibri" pitchFamily="34" charset="-122"/>
                <a:cs typeface="Calibri" pitchFamily="34" charset="-120"/>
              </a:rPr>
              <a:t>16</a:t>
            </a:r>
            <a:endParaRPr lang="en-US" sz="1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11094415" cy="1645920"/>
        </p:xfrm>
        <a:graphic>
          <a:graphicData uri="http://schemas.openxmlformats.org/drawingml/2006/table">
            <a:tbl>
              <a:tblPr/>
              <a:tblGrid>
                <a:gridCol w="21031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2651760">
                  <a:extLst>
                    <a:ext uri="{9D8B030D-6E8A-4147-A177-3AD203B41FA5}">
                      <a16:colId xmlns:a16="http://schemas.microsoft.com/office/drawing/2014/main" val="20002"/>
                    </a:ext>
                  </a:extLst>
                </a:gridCol>
                <a:gridCol w="1920240">
                  <a:extLst>
                    <a:ext uri="{9D8B030D-6E8A-4147-A177-3AD203B41FA5}">
                      <a16:colId xmlns:a16="http://schemas.microsoft.com/office/drawing/2014/main" val="20003"/>
                    </a:ext>
                  </a:extLst>
                </a:gridCol>
                <a:gridCol w="1645920">
                  <a:extLst>
                    <a:ext uri="{9D8B030D-6E8A-4147-A177-3AD203B41FA5}">
                      <a16:colId xmlns:a16="http://schemas.microsoft.com/office/drawing/2014/main" val="20004"/>
                    </a:ext>
                  </a:extLst>
                </a:gridCol>
                <a:gridCol w="1950415">
                  <a:extLst>
                    <a:ext uri="{9D8B030D-6E8A-4147-A177-3AD203B41FA5}">
                      <a16:colId xmlns:a16="http://schemas.microsoft.com/office/drawing/2014/main" val="20005"/>
                    </a:ext>
                  </a:extLst>
                </a:gridCol>
              </a:tblGrid>
              <a:tr h="731520">
                <a:tc>
                  <a:txBody>
                    <a:bodyPr/>
                    <a:lstStyle/>
                    <a:p>
                      <a:pPr marL="0" indent="0">
                        <a:buNone/>
                      </a:pPr>
                      <a:r>
                        <a:rPr lang="en-US" sz="1600" b="1" dirty="0">
                          <a:solidFill>
                            <a:srgbClr val="FFFFFF"/>
                          </a:solidFill>
                          <a:latin typeface="Calibri" pitchFamily="34" charset="0"/>
                          <a:ea typeface="Calibri" pitchFamily="34" charset="-122"/>
                          <a:cs typeface="Calibri" pitchFamily="34" charset="-120"/>
                        </a:rPr>
                        <a:t>Hold-out set (45 °C)</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solidFill>
                      <a:srgbClr val="1F4E79"/>
                    </a:solidFill>
                  </a:tcPr>
                </a:tc>
                <a:tc>
                  <a:txBody>
                    <a:bodyPr/>
                    <a:lstStyle/>
                    <a:p>
                      <a:pPr marL="0" indent="0">
                        <a:buNone/>
                      </a:pPr>
                      <a:r>
                        <a:rPr lang="en-US" sz="1600" b="1" dirty="0">
                          <a:solidFill>
                            <a:srgbClr val="FFFFFF"/>
                          </a:solidFill>
                          <a:latin typeface="Calibri" pitchFamily="34" charset="0"/>
                          <a:ea typeface="Calibri" pitchFamily="34" charset="-122"/>
                          <a:cs typeface="Calibri" pitchFamily="34" charset="-120"/>
                        </a:rPr>
                        <a:t>Logs</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solidFill>
                      <a:srgbClr val="1F4E79"/>
                    </a:solidFill>
                  </a:tcPr>
                </a:tc>
                <a:tc>
                  <a:txBody>
                    <a:bodyPr/>
                    <a:lstStyle/>
                    <a:p>
                      <a:pPr marL="0" indent="0">
                        <a:buNone/>
                      </a:pPr>
                      <a:r>
                        <a:rPr lang="en-US" sz="1600" b="1" dirty="0">
                          <a:solidFill>
                            <a:srgbClr val="FFFFFF"/>
                          </a:solidFill>
                          <a:latin typeface="Calibri" pitchFamily="34" charset="0"/>
                          <a:ea typeface="Calibri" pitchFamily="34" charset="-122"/>
                          <a:cs typeface="Calibri" pitchFamily="34" charset="-120"/>
                        </a:rPr>
                        <a:t>V RMSE, SOC ≥ 10 % (median / max)</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solidFill>
                      <a:srgbClr val="1F4E79"/>
                    </a:solidFill>
                  </a:tcPr>
                </a:tc>
                <a:tc>
                  <a:txBody>
                    <a:bodyPr/>
                    <a:lstStyle/>
                    <a:p>
                      <a:pPr marL="0" indent="0">
                        <a:buNone/>
                      </a:pPr>
                      <a:r>
                        <a:rPr lang="en-US" sz="1600" b="1" dirty="0">
                          <a:solidFill>
                            <a:srgbClr val="FFFFFF"/>
                          </a:solidFill>
                          <a:latin typeface="Calibri" pitchFamily="34" charset="0"/>
                          <a:ea typeface="Calibri" pitchFamily="34" charset="-122"/>
                          <a:cs typeface="Calibri" pitchFamily="34" charset="-120"/>
                        </a:rPr>
                        <a:t>V RMSE, full range</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solidFill>
                      <a:srgbClr val="1F4E79"/>
                    </a:solidFill>
                  </a:tcPr>
                </a:tc>
                <a:tc>
                  <a:txBody>
                    <a:bodyPr/>
                    <a:lstStyle/>
                    <a:p>
                      <a:pPr marL="0" indent="0">
                        <a:buNone/>
                      </a:pPr>
                      <a:r>
                        <a:rPr lang="en-US" sz="1600" b="1" dirty="0">
                          <a:solidFill>
                            <a:srgbClr val="FFFFFF"/>
                          </a:solidFill>
                          <a:latin typeface="Calibri" pitchFamily="34" charset="0"/>
                          <a:ea typeface="Calibri" pitchFamily="34" charset="-122"/>
                          <a:cs typeface="Calibri" pitchFamily="34" charset="-120"/>
                        </a:rPr>
                        <a:t>T RMSE (median)</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solidFill>
                      <a:srgbClr val="1F4E79"/>
                    </a:solidFill>
                  </a:tcPr>
                </a:tc>
                <a:tc>
                  <a:txBody>
                    <a:bodyPr/>
                    <a:lstStyle/>
                    <a:p>
                      <a:pPr marL="0" indent="0">
                        <a:buNone/>
                      </a:pPr>
                      <a:r>
                        <a:rPr lang="en-US" sz="1600" b="1" dirty="0">
                          <a:solidFill>
                            <a:srgbClr val="FFFFFF"/>
                          </a:solidFill>
                          <a:latin typeface="Calibri" pitchFamily="34" charset="0"/>
                          <a:ea typeface="Calibri" pitchFamily="34" charset="-122"/>
                          <a:cs typeface="Calibri" pitchFamily="34" charset="-120"/>
                        </a:rPr>
                        <a:t>T rise, measured / model</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solidFill>
                      <a:srgbClr val="1F4E79"/>
                    </a:solidFill>
                  </a:tcPr>
                </a:tc>
                <a:extLst>
                  <a:ext uri="{0D108BD9-81ED-4DB2-BD59-A6C34878D82A}">
                    <a16:rowId xmlns:a16="http://schemas.microsoft.com/office/drawing/2014/main" val="10000"/>
                  </a:ext>
                </a:extLst>
              </a:tr>
              <a:tr h="457200">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Drive cycles</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30</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18 / 43 mV</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38 / 122 mV</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0.23 K</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2.0 / 1.0 K</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extLst>
                  <a:ext uri="{0D108BD9-81ED-4DB2-BD59-A6C34878D82A}">
                    <a16:rowId xmlns:a16="http://schemas.microsoft.com/office/drawing/2014/main" val="10001"/>
                  </a:ext>
                </a:extLst>
              </a:tr>
              <a:tr h="457200">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1C charges</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30</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17 / 22 mV</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22 / 25 mV</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0.55 K</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3.4 / 1.6 K</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8" name="Text 5"/>
          <p:cNvSpPr/>
          <p:nvPr/>
        </p:nvSpPr>
        <p:spPr>
          <a:xfrm>
            <a:off x="548640" y="3566160"/>
            <a:ext cx="11094415" cy="2560320"/>
          </a:xfrm>
          <a:prstGeom prst="rect">
            <a:avLst/>
          </a:prstGeom>
          <a:noFill/>
          <a:ln/>
        </p:spPr>
        <p:txBody>
          <a:bodyPr wrap="square" lIns="0" tIns="0" rIns="0" bIns="0" rtlCol="0" anchor="t"/>
          <a:lstStyle/>
          <a:p>
            <a:pPr marL="342900" indent="-342900">
              <a:spcAft>
                <a:spcPts val="1400"/>
              </a:spcAft>
              <a:buSzPct val="100000"/>
              <a:buChar char="•"/>
            </a:pPr>
            <a:r>
              <a:rPr lang="en-US" sz="1800" dirty="0">
                <a:solidFill>
                  <a:srgbClr val="262626"/>
                </a:solidFill>
                <a:latin typeface="Calibri" pitchFamily="34" charset="0"/>
                <a:ea typeface="Calibri" pitchFamily="34" charset="-122"/>
                <a:cs typeface="Calibri" pitchFamily="34" charset="-120"/>
              </a:rPr>
              <a:t>Fit on cell AM23NMC00103 at 25 and 35 °C; 3 cells × (10 drives + 10 charges) at 45 °C held out</a:t>
            </a:r>
            <a:endParaRPr lang="en-US" sz="1800" dirty="0"/>
          </a:p>
          <a:p>
            <a:pPr marL="342900" indent="-342900">
              <a:spcAft>
                <a:spcPts val="1400"/>
              </a:spcAft>
              <a:buSzPct val="100000"/>
              <a:buChar char="•"/>
            </a:pPr>
            <a:r>
              <a:rPr lang="en-US" sz="1800" dirty="0">
                <a:solidFill>
                  <a:srgbClr val="262626"/>
                </a:solidFill>
                <a:latin typeface="Calibri" pitchFamily="34" charset="0"/>
                <a:ea typeface="Calibri" pitchFamily="34" charset="-122"/>
                <a:cs typeface="Calibri" pitchFamily="34" charset="-120"/>
              </a:rPr>
              <a:t>Below 10 % SOC the voltage error grows to about 0.1–0.9 V near cut-off</a:t>
            </a:r>
            <a:endParaRPr lang="en-US" sz="1800" dirty="0"/>
          </a:p>
          <a:p>
            <a:pPr marL="342900" indent="-342900">
              <a:spcAft>
                <a:spcPts val="1400"/>
              </a:spcAft>
              <a:buSzPct val="100000"/>
              <a:buChar char="•"/>
            </a:pPr>
            <a:r>
              <a:rPr lang="en-US" sz="1800" dirty="0">
                <a:solidFill>
                  <a:srgbClr val="262626"/>
                </a:solidFill>
                <a:latin typeface="Calibri" pitchFamily="34" charset="0"/>
                <a:ea typeface="Calibri" pitchFamily="34" charset="-122"/>
                <a:cs typeface="Calibri" pitchFamily="34" charset="-120"/>
              </a:rPr>
              <a:t>Under-predicted heating: no SOC-dependent resistance or entropic heat in the model</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7772400" cy="274320"/>
          </a:xfrm>
          <a:prstGeom prst="rect">
            <a:avLst/>
          </a:prstGeom>
          <a:noFill/>
          <a:ln/>
        </p:spPr>
        <p:txBody>
          <a:bodyPr wrap="square" lIns="0" tIns="0" rIns="0" bIns="0" rtlCol="0" anchor="ctr"/>
          <a:lstStyle/>
          <a:p>
            <a:pPr marL="0" indent="0">
              <a:buNone/>
            </a:pPr>
            <a:r>
              <a:rPr lang="en-US" sz="1200" b="1" dirty="0">
                <a:solidFill>
                  <a:srgbClr val="1F4E79"/>
                </a:solidFill>
                <a:latin typeface="Calibri" pitchFamily="34" charset="0"/>
                <a:ea typeface="Calibri" pitchFamily="34" charset="-122"/>
                <a:cs typeface="Calibri" pitchFamily="34" charset="-120"/>
              </a:rPr>
              <a:t>Backup</a:t>
            </a:r>
            <a:endParaRPr lang="en-US" sz="1200" dirty="0"/>
          </a:p>
        </p:txBody>
      </p:sp>
      <p:sp>
        <p:nvSpPr>
          <p:cNvPr id="3" name="Text 1"/>
          <p:cNvSpPr/>
          <p:nvPr/>
        </p:nvSpPr>
        <p:spPr>
          <a:xfrm>
            <a:off x="7985455" y="274320"/>
            <a:ext cx="3657600" cy="274320"/>
          </a:xfrm>
          <a:prstGeom prst="rect">
            <a:avLst/>
          </a:prstGeom>
          <a:noFill/>
          <a:ln/>
        </p:spPr>
        <p:txBody>
          <a:bodyPr wrap="square" lIns="0" tIns="0" rIns="0" bIns="0" rtlCol="0" anchor="ctr"/>
          <a:lstStyle/>
          <a:p>
            <a:pPr marL="0" indent="0" algn="r">
              <a:buNone/>
            </a:pPr>
            <a:r>
              <a:rPr lang="en-US" sz="1200" dirty="0">
                <a:solidFill>
                  <a:srgbClr val="6B7280"/>
                </a:solidFill>
                <a:latin typeface="Calibri" pitchFamily="34" charset="0"/>
                <a:ea typeface="Calibri" pitchFamily="34" charset="-122"/>
                <a:cs typeface="Calibri" pitchFamily="34" charset="-120"/>
              </a:rPr>
              <a:t>Appendix A3 · Prototype &amp; evidence</a:t>
            </a:r>
            <a:endParaRPr lang="en-US" sz="1200" dirty="0"/>
          </a:p>
        </p:txBody>
      </p:sp>
      <p:sp>
        <p:nvSpPr>
          <p:cNvPr id="4" name="Text 2"/>
          <p:cNvSpPr/>
          <p:nvPr/>
        </p:nvSpPr>
        <p:spPr>
          <a:xfrm>
            <a:off x="548640" y="621792"/>
            <a:ext cx="11094415" cy="914400"/>
          </a:xfrm>
          <a:prstGeom prst="rect">
            <a:avLst/>
          </a:prstGeom>
          <a:noFill/>
          <a:ln/>
        </p:spPr>
        <p:txBody>
          <a:bodyPr wrap="square" lIns="0" tIns="0" rIns="0" bIns="0" rtlCol="0" anchor="t"/>
          <a:lstStyle/>
          <a:p>
            <a:pPr marL="0" indent="0">
              <a:buNone/>
            </a:pPr>
            <a:r>
              <a:rPr lang="en-US" sz="2600" b="1" dirty="0">
                <a:solidFill>
                  <a:srgbClr val="1F4E79"/>
                </a:solidFill>
                <a:latin typeface="Calibri" pitchFamily="34" charset="0"/>
                <a:ea typeface="Calibri" pitchFamily="34" charset="-122"/>
                <a:cs typeface="Calibri" pitchFamily="34" charset="-120"/>
              </a:rPr>
              <a:t>A3 · Full KPI table: the baseline is the only design disqualified</a:t>
            </a:r>
            <a:endParaRPr lang="en-US" sz="2600" dirty="0"/>
          </a:p>
        </p:txBody>
      </p:sp>
      <p:sp>
        <p:nvSpPr>
          <p:cNvPr id="5" name="Text 3"/>
          <p:cNvSpPr/>
          <p:nvPr/>
        </p:nvSpPr>
        <p:spPr>
          <a:xfrm>
            <a:off x="548640" y="6355080"/>
            <a:ext cx="10058400" cy="274320"/>
          </a:xfrm>
          <a:prstGeom prst="rect">
            <a:avLst/>
          </a:prstGeom>
          <a:noFill/>
          <a:ln/>
        </p:spPr>
        <p:txBody>
          <a:bodyPr wrap="square" lIns="0" tIns="0" rIns="0" bIns="0" rtlCol="0" anchor="ctr"/>
          <a:lstStyle/>
          <a:p>
            <a:pPr marL="0" indent="0">
              <a:buNone/>
            </a:pPr>
            <a:r>
              <a:rPr lang="en-US" sz="1200" dirty="0">
                <a:solidFill>
                  <a:srgbClr val="6B7280"/>
                </a:solidFill>
                <a:latin typeface="Calibri" pitchFamily="34" charset="0"/>
                <a:ea typeface="Calibri" pitchFamily="34" charset="-122"/>
                <a:cs typeface="Calibri" pitchFamily="34" charset="-120"/>
              </a:rPr>
              <a:t>Source: python -m packforge studies/escooter_48v, calibrated NMC cell. B's LFP cell is not validated.</a:t>
            </a:r>
            <a:endParaRPr lang="en-US" sz="1200" dirty="0"/>
          </a:p>
        </p:txBody>
      </p:sp>
      <p:sp>
        <p:nvSpPr>
          <p:cNvPr id="6" name="Text 4"/>
          <p:cNvSpPr/>
          <p:nvPr/>
        </p:nvSpPr>
        <p:spPr>
          <a:xfrm>
            <a:off x="10911535" y="6355080"/>
            <a:ext cx="731520" cy="274320"/>
          </a:xfrm>
          <a:prstGeom prst="rect">
            <a:avLst/>
          </a:prstGeom>
          <a:noFill/>
          <a:ln/>
        </p:spPr>
        <p:txBody>
          <a:bodyPr wrap="square" lIns="0" tIns="0" rIns="0" bIns="0" rtlCol="0" anchor="ctr"/>
          <a:lstStyle/>
          <a:p>
            <a:pPr marL="0" indent="0" algn="r">
              <a:buNone/>
            </a:pPr>
            <a:r>
              <a:rPr lang="en-US" sz="1200" dirty="0">
                <a:solidFill>
                  <a:srgbClr val="6B7280"/>
                </a:solidFill>
                <a:latin typeface="Calibri" pitchFamily="34" charset="0"/>
                <a:ea typeface="Calibri" pitchFamily="34" charset="-122"/>
                <a:cs typeface="Calibri" pitchFamily="34" charset="-120"/>
              </a:rPr>
              <a:t>17</a:t>
            </a:r>
            <a:endParaRPr lang="en-US" sz="1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9144000" cy="4114800"/>
        </p:xfrm>
        <a:graphic>
          <a:graphicData uri="http://schemas.openxmlformats.org/drawingml/2006/table">
            <a:tbl>
              <a:tblPr/>
              <a:tblGrid>
                <a:gridCol w="329184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463040">
                  <a:extLst>
                    <a:ext uri="{9D8B030D-6E8A-4147-A177-3AD203B41FA5}">
                      <a16:colId xmlns:a16="http://schemas.microsoft.com/office/drawing/2014/main" val="20004"/>
                    </a:ext>
                  </a:extLst>
                </a:gridCol>
              </a:tblGrid>
              <a:tr h="411480">
                <a:tc>
                  <a:txBody>
                    <a:bodyPr/>
                    <a:lstStyle/>
                    <a:p>
                      <a:pPr marL="0" indent="0">
                        <a:buNone/>
                      </a:pPr>
                      <a:r>
                        <a:rPr lang="en-US" sz="1600" b="1" dirty="0">
                          <a:solidFill>
                            <a:srgbClr val="FFFFFF"/>
                          </a:solidFill>
                          <a:latin typeface="Calibri" pitchFamily="34" charset="0"/>
                          <a:ea typeface="Calibri" pitchFamily="34" charset="-122"/>
                          <a:cs typeface="Calibri" pitchFamily="34" charset="-120"/>
                        </a:rPr>
                        <a:t>Metric</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solidFill>
                      <a:srgbClr val="1F4E79"/>
                    </a:solidFill>
                  </a:tcPr>
                </a:tc>
                <a:tc>
                  <a:txBody>
                    <a:bodyPr/>
                    <a:lstStyle/>
                    <a:p>
                      <a:pPr marL="0" indent="0" algn="ctr">
                        <a:buNone/>
                      </a:pPr>
                      <a:r>
                        <a:rPr lang="en-US" sz="1600" b="1" dirty="0">
                          <a:solidFill>
                            <a:srgbClr val="FFFFFF"/>
                          </a:solidFill>
                          <a:latin typeface="Calibri" pitchFamily="34" charset="0"/>
                          <a:ea typeface="Calibri" pitchFamily="34" charset="-122"/>
                          <a:cs typeface="Calibri" pitchFamily="34" charset="-120"/>
                        </a:rPr>
                        <a:t>Baseline</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solidFill>
                      <a:srgbClr val="1F4E79"/>
                    </a:solidFill>
                  </a:tcPr>
                </a:tc>
                <a:tc>
                  <a:txBody>
                    <a:bodyPr/>
                    <a:lstStyle/>
                    <a:p>
                      <a:pPr marL="0" indent="0" algn="ctr">
                        <a:buNone/>
                      </a:pPr>
                      <a:r>
                        <a:rPr lang="en-US" sz="1600" b="1" dirty="0">
                          <a:solidFill>
                            <a:srgbClr val="FFFFFF"/>
                          </a:solidFill>
                          <a:latin typeface="Calibri" pitchFamily="34" charset="0"/>
                          <a:ea typeface="Calibri" pitchFamily="34" charset="-122"/>
                          <a:cs typeface="Calibri" pitchFamily="34" charset="-120"/>
                        </a:rPr>
                        <a:t>A</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solidFill>
                      <a:srgbClr val="1F4E79"/>
                    </a:solidFill>
                  </a:tcPr>
                </a:tc>
                <a:tc>
                  <a:txBody>
                    <a:bodyPr/>
                    <a:lstStyle/>
                    <a:p>
                      <a:pPr marL="0" indent="0" algn="ctr">
                        <a:buNone/>
                      </a:pPr>
                      <a:r>
                        <a:rPr lang="en-US" sz="1600" b="1" dirty="0">
                          <a:solidFill>
                            <a:srgbClr val="FFFFFF"/>
                          </a:solidFill>
                          <a:latin typeface="Calibri" pitchFamily="34" charset="0"/>
                          <a:ea typeface="Calibri" pitchFamily="34" charset="-122"/>
                          <a:cs typeface="Calibri" pitchFamily="34" charset="-120"/>
                        </a:rPr>
                        <a:t>B</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solidFill>
                      <a:srgbClr val="1F4E79"/>
                    </a:solidFill>
                  </a:tcPr>
                </a:tc>
                <a:tc>
                  <a:txBody>
                    <a:bodyPr/>
                    <a:lstStyle/>
                    <a:p>
                      <a:pPr marL="0" indent="0" algn="ctr">
                        <a:buNone/>
                      </a:pPr>
                      <a:r>
                        <a:rPr lang="en-US" sz="1600" b="1" dirty="0">
                          <a:solidFill>
                            <a:srgbClr val="FFFFFF"/>
                          </a:solidFill>
                          <a:latin typeface="Calibri" pitchFamily="34" charset="0"/>
                          <a:ea typeface="Calibri" pitchFamily="34" charset="-122"/>
                          <a:cs typeface="Calibri" pitchFamily="34" charset="-120"/>
                        </a:rPr>
                        <a:t>C</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solidFill>
                      <a:srgbClr val="1F4E79"/>
                    </a:solidFill>
                  </a:tcPr>
                </a:tc>
                <a:extLst>
                  <a:ext uri="{0D108BD9-81ED-4DB2-BD59-A6C34878D82A}">
                    <a16:rowId xmlns:a16="http://schemas.microsoft.com/office/drawing/2014/main" val="10000"/>
                  </a:ext>
                </a:extLst>
              </a:tr>
              <a:tr h="411480">
                <a:tc>
                  <a:txBody>
                    <a:bodyPr/>
                    <a:lstStyle/>
                    <a:p>
                      <a:pPr marL="0" indent="0">
                        <a:buNone/>
                      </a:pPr>
                      <a:r>
                        <a:rPr lang="en-US" sz="1600" b="1" dirty="0">
                          <a:solidFill>
                            <a:srgbClr val="262626"/>
                          </a:solidFill>
                          <a:latin typeface="Calibri" pitchFamily="34" charset="0"/>
                          <a:ea typeface="Calibri" pitchFamily="34" charset="-122"/>
                          <a:cs typeface="Calibri" pitchFamily="34" charset="-120"/>
                        </a:rPr>
                        <a:t>Charge time, plug-in → 80 %</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lgn="ctr">
                        <a:buNone/>
                      </a:pPr>
                      <a:r>
                        <a:rPr lang="en-US" sz="1600" dirty="0">
                          <a:solidFill>
                            <a:srgbClr val="262626"/>
                          </a:solidFill>
                          <a:latin typeface="Calibri" pitchFamily="34" charset="0"/>
                          <a:ea typeface="Calibri" pitchFamily="34" charset="-122"/>
                          <a:cs typeface="Calibri" pitchFamily="34" charset="-120"/>
                        </a:rPr>
                        <a:t>244 min</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lgn="ctr">
                        <a:buNone/>
                      </a:pPr>
                      <a:r>
                        <a:rPr lang="en-US" sz="1600" dirty="0">
                          <a:solidFill>
                            <a:srgbClr val="262626"/>
                          </a:solidFill>
                          <a:latin typeface="Calibri" pitchFamily="34" charset="0"/>
                          <a:ea typeface="Calibri" pitchFamily="34" charset="-122"/>
                          <a:cs typeface="Calibri" pitchFamily="34" charset="-120"/>
                        </a:rPr>
                        <a:t>92 min</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lgn="ctr">
                        <a:buNone/>
                      </a:pPr>
                      <a:r>
                        <a:rPr lang="en-US" sz="1600" dirty="0">
                          <a:solidFill>
                            <a:srgbClr val="262626"/>
                          </a:solidFill>
                          <a:latin typeface="Calibri" pitchFamily="34" charset="0"/>
                          <a:ea typeface="Calibri" pitchFamily="34" charset="-122"/>
                          <a:cs typeface="Calibri" pitchFamily="34" charset="-120"/>
                        </a:rPr>
                        <a:t>97 min</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lgn="ctr">
                        <a:buNone/>
                      </a:pPr>
                      <a:r>
                        <a:rPr lang="en-US" sz="1600" dirty="0">
                          <a:solidFill>
                            <a:srgbClr val="262626"/>
                          </a:solidFill>
                          <a:latin typeface="Calibri" pitchFamily="34" charset="0"/>
                          <a:ea typeface="Calibri" pitchFamily="34" charset="-122"/>
                          <a:cs typeface="Calibri" pitchFamily="34" charset="-120"/>
                        </a:rPr>
                        <a:t>277 min</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extLst>
                  <a:ext uri="{0D108BD9-81ED-4DB2-BD59-A6C34878D82A}">
                    <a16:rowId xmlns:a16="http://schemas.microsoft.com/office/drawing/2014/main" val="10001"/>
                  </a:ext>
                </a:extLst>
              </a:tr>
              <a:tr h="411480">
                <a:tc>
                  <a:txBody>
                    <a:bodyPr/>
                    <a:lstStyle/>
                    <a:p>
                      <a:pPr marL="0" indent="0">
                        <a:buNone/>
                      </a:pPr>
                      <a:r>
                        <a:rPr lang="en-US" sz="1600" b="1" dirty="0">
                          <a:solidFill>
                            <a:srgbClr val="262626"/>
                          </a:solidFill>
                          <a:latin typeface="Calibri" pitchFamily="34" charset="0"/>
                          <a:ea typeface="Calibri" pitchFamily="34" charset="-122"/>
                          <a:cs typeface="Calibri" pitchFamily="34" charset="-120"/>
                        </a:rPr>
                        <a:t>Thermal hold</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lgn="ctr">
                        <a:buNone/>
                      </a:pPr>
                      <a:r>
                        <a:rPr lang="en-US" sz="1600" dirty="0">
                          <a:solidFill>
                            <a:srgbClr val="262626"/>
                          </a:solidFill>
                          <a:latin typeface="Calibri" pitchFamily="34" charset="0"/>
                          <a:ea typeface="Calibri" pitchFamily="34" charset="-122"/>
                          <a:cs typeface="Calibri" pitchFamily="34" charset="-120"/>
                        </a:rPr>
                        <a:t>48 min</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lgn="ctr">
                        <a:buNone/>
                      </a:pPr>
                      <a:r>
                        <a:rPr lang="en-US" sz="1600" dirty="0">
                          <a:solidFill>
                            <a:srgbClr val="262626"/>
                          </a:solidFill>
                          <a:latin typeface="Calibri" pitchFamily="34" charset="0"/>
                          <a:ea typeface="Calibri" pitchFamily="34" charset="-122"/>
                          <a:cs typeface="Calibri" pitchFamily="34" charset="-120"/>
                        </a:rPr>
                        <a:t>0 min</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lgn="ctr">
                        <a:buNone/>
                      </a:pPr>
                      <a:r>
                        <a:rPr lang="en-US" sz="1600" dirty="0">
                          <a:solidFill>
                            <a:srgbClr val="262626"/>
                          </a:solidFill>
                          <a:latin typeface="Calibri" pitchFamily="34" charset="0"/>
                          <a:ea typeface="Calibri" pitchFamily="34" charset="-122"/>
                          <a:cs typeface="Calibri" pitchFamily="34" charset="-120"/>
                        </a:rPr>
                        <a:t>0 min</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lgn="ctr">
                        <a:buNone/>
                      </a:pPr>
                      <a:r>
                        <a:rPr lang="en-US" sz="1600" dirty="0">
                          <a:solidFill>
                            <a:srgbClr val="262626"/>
                          </a:solidFill>
                          <a:latin typeface="Calibri" pitchFamily="34" charset="0"/>
                          <a:ea typeface="Calibri" pitchFamily="34" charset="-122"/>
                          <a:cs typeface="Calibri" pitchFamily="34" charset="-120"/>
                        </a:rPr>
                        <a:t>90 min</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extLst>
                  <a:ext uri="{0D108BD9-81ED-4DB2-BD59-A6C34878D82A}">
                    <a16:rowId xmlns:a16="http://schemas.microsoft.com/office/drawing/2014/main" val="10002"/>
                  </a:ext>
                </a:extLst>
              </a:tr>
              <a:tr h="411480">
                <a:tc>
                  <a:txBody>
                    <a:bodyPr/>
                    <a:lstStyle/>
                    <a:p>
                      <a:pPr marL="0" indent="0">
                        <a:buNone/>
                      </a:pPr>
                      <a:r>
                        <a:rPr lang="en-US" sz="1600" b="1" dirty="0">
                          <a:solidFill>
                            <a:srgbClr val="262626"/>
                          </a:solidFill>
                          <a:latin typeface="Calibri" pitchFamily="34" charset="0"/>
                          <a:ea typeface="Calibri" pitchFamily="34" charset="-122"/>
                          <a:cs typeface="Calibri" pitchFamily="34" charset="-120"/>
                        </a:rPr>
                        <a:t>Peak T, charging</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lgn="ctr">
                        <a:buNone/>
                      </a:pPr>
                      <a:r>
                        <a:rPr lang="en-US" sz="1600" b="1" dirty="0">
                          <a:solidFill>
                            <a:srgbClr val="C2410C"/>
                          </a:solidFill>
                          <a:latin typeface="Calibri" pitchFamily="34" charset="0"/>
                          <a:ea typeface="Calibri" pitchFamily="34" charset="-122"/>
                          <a:cs typeface="Calibri" pitchFamily="34" charset="-120"/>
                        </a:rPr>
                        <a:t>47.6 °C fail</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lgn="ctr">
                        <a:buNone/>
                      </a:pPr>
                      <a:r>
                        <a:rPr lang="en-US" sz="1600" dirty="0">
                          <a:solidFill>
                            <a:srgbClr val="262626"/>
                          </a:solidFill>
                          <a:latin typeface="Calibri" pitchFamily="34" charset="0"/>
                          <a:ea typeface="Calibri" pitchFamily="34" charset="-122"/>
                          <a:cs typeface="Calibri" pitchFamily="34" charset="-120"/>
                        </a:rPr>
                        <a:t>44.0 °C</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lgn="ctr">
                        <a:buNone/>
                      </a:pPr>
                      <a:r>
                        <a:rPr lang="en-US" sz="1600" dirty="0">
                          <a:solidFill>
                            <a:srgbClr val="262626"/>
                          </a:solidFill>
                          <a:latin typeface="Calibri" pitchFamily="34" charset="0"/>
                          <a:ea typeface="Calibri" pitchFamily="34" charset="-122"/>
                          <a:cs typeface="Calibri" pitchFamily="34" charset="-120"/>
                        </a:rPr>
                        <a:t>43.7 °C</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lgn="ctr">
                        <a:buNone/>
                      </a:pPr>
                      <a:r>
                        <a:rPr lang="en-US" sz="1600" dirty="0">
                          <a:solidFill>
                            <a:srgbClr val="262626"/>
                          </a:solidFill>
                          <a:latin typeface="Calibri" pitchFamily="34" charset="0"/>
                          <a:ea typeface="Calibri" pitchFamily="34" charset="-122"/>
                          <a:cs typeface="Calibri" pitchFamily="34" charset="-120"/>
                        </a:rPr>
                        <a:t>44.5 °C</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extLst>
                  <a:ext uri="{0D108BD9-81ED-4DB2-BD59-A6C34878D82A}">
                    <a16:rowId xmlns:a16="http://schemas.microsoft.com/office/drawing/2014/main" val="10003"/>
                  </a:ext>
                </a:extLst>
              </a:tr>
              <a:tr h="411480">
                <a:tc>
                  <a:txBody>
                    <a:bodyPr/>
                    <a:lstStyle/>
                    <a:p>
                      <a:pPr marL="0" indent="0">
                        <a:buNone/>
                      </a:pPr>
                      <a:r>
                        <a:rPr lang="en-US" sz="1600" b="1" dirty="0">
                          <a:solidFill>
                            <a:srgbClr val="262626"/>
                          </a:solidFill>
                          <a:latin typeface="Calibri" pitchFamily="34" charset="0"/>
                          <a:ea typeface="Calibri" pitchFamily="34" charset="-122"/>
                          <a:cs typeface="Calibri" pitchFamily="34" charset="-120"/>
                        </a:rPr>
                        <a:t>Peak T, riding</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lgn="ctr">
                        <a:buNone/>
                      </a:pPr>
                      <a:r>
                        <a:rPr lang="en-US" sz="1600" dirty="0">
                          <a:solidFill>
                            <a:srgbClr val="262626"/>
                          </a:solidFill>
                          <a:latin typeface="Calibri" pitchFamily="34" charset="0"/>
                          <a:ea typeface="Calibri" pitchFamily="34" charset="-122"/>
                          <a:cs typeface="Calibri" pitchFamily="34" charset="-120"/>
                        </a:rPr>
                        <a:t>53.4 °C</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lgn="ctr">
                        <a:buNone/>
                      </a:pPr>
                      <a:r>
                        <a:rPr lang="en-US" sz="1600" dirty="0">
                          <a:solidFill>
                            <a:srgbClr val="262626"/>
                          </a:solidFill>
                          <a:latin typeface="Calibri" pitchFamily="34" charset="0"/>
                          <a:ea typeface="Calibri" pitchFamily="34" charset="-122"/>
                          <a:cs typeface="Calibri" pitchFamily="34" charset="-120"/>
                        </a:rPr>
                        <a:t>44.1 °C</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lgn="ctr">
                        <a:buNone/>
                      </a:pPr>
                      <a:r>
                        <a:rPr lang="en-US" sz="1600" dirty="0">
                          <a:solidFill>
                            <a:srgbClr val="262626"/>
                          </a:solidFill>
                          <a:latin typeface="Calibri" pitchFamily="34" charset="0"/>
                          <a:ea typeface="Calibri" pitchFamily="34" charset="-122"/>
                          <a:cs typeface="Calibri" pitchFamily="34" charset="-120"/>
                        </a:rPr>
                        <a:t>43.1 °C</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lgn="ctr">
                        <a:buNone/>
                      </a:pPr>
                      <a:r>
                        <a:rPr lang="en-US" sz="1600" dirty="0">
                          <a:solidFill>
                            <a:srgbClr val="262626"/>
                          </a:solidFill>
                          <a:latin typeface="Calibri" pitchFamily="34" charset="0"/>
                          <a:ea typeface="Calibri" pitchFamily="34" charset="-122"/>
                          <a:cs typeface="Calibri" pitchFamily="34" charset="-120"/>
                        </a:rPr>
                        <a:t>53.4 °C</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extLst>
                  <a:ext uri="{0D108BD9-81ED-4DB2-BD59-A6C34878D82A}">
                    <a16:rowId xmlns:a16="http://schemas.microsoft.com/office/drawing/2014/main" val="10004"/>
                  </a:ext>
                </a:extLst>
              </a:tr>
              <a:tr h="411480">
                <a:tc>
                  <a:txBody>
                    <a:bodyPr/>
                    <a:lstStyle/>
                    <a:p>
                      <a:pPr marL="0" indent="0">
                        <a:buNone/>
                      </a:pPr>
                      <a:r>
                        <a:rPr lang="en-US" sz="1600" b="1" dirty="0">
                          <a:solidFill>
                            <a:srgbClr val="262626"/>
                          </a:solidFill>
                          <a:latin typeface="Calibri" pitchFamily="34" charset="0"/>
                          <a:ea typeface="Calibri" pitchFamily="34" charset="-122"/>
                          <a:cs typeface="Calibri" pitchFamily="34" charset="-120"/>
                        </a:rPr>
                        <a:t>Blind spot</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lgn="ctr">
                        <a:buNone/>
                      </a:pPr>
                      <a:r>
                        <a:rPr lang="en-US" sz="1600" b="1" dirty="0">
                          <a:solidFill>
                            <a:srgbClr val="C2410C"/>
                          </a:solidFill>
                          <a:latin typeface="Calibri" pitchFamily="34" charset="0"/>
                          <a:ea typeface="Calibri" pitchFamily="34" charset="-122"/>
                          <a:cs typeface="Calibri" pitchFamily="34" charset="-120"/>
                        </a:rPr>
                        <a:t>3.2 K warn</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lgn="ctr">
                        <a:buNone/>
                      </a:pPr>
                      <a:r>
                        <a:rPr lang="en-US" sz="1600" dirty="0">
                          <a:solidFill>
                            <a:srgbClr val="262626"/>
                          </a:solidFill>
                          <a:latin typeface="Calibri" pitchFamily="34" charset="0"/>
                          <a:ea typeface="Calibri" pitchFamily="34" charset="-122"/>
                          <a:cs typeface="Calibri" pitchFamily="34" charset="-120"/>
                        </a:rPr>
                        <a:t>0.0 K</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lgn="ctr">
                        <a:buNone/>
                      </a:pPr>
                      <a:r>
                        <a:rPr lang="en-US" sz="1600" dirty="0">
                          <a:solidFill>
                            <a:srgbClr val="262626"/>
                          </a:solidFill>
                          <a:latin typeface="Calibri" pitchFamily="34" charset="0"/>
                          <a:ea typeface="Calibri" pitchFamily="34" charset="-122"/>
                          <a:cs typeface="Calibri" pitchFamily="34" charset="-120"/>
                        </a:rPr>
                        <a:t>0.1 K</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lgn="ctr">
                        <a:buNone/>
                      </a:pPr>
                      <a:r>
                        <a:rPr lang="en-US" sz="1600" dirty="0">
                          <a:solidFill>
                            <a:srgbClr val="262626"/>
                          </a:solidFill>
                          <a:latin typeface="Calibri" pitchFamily="34" charset="0"/>
                          <a:ea typeface="Calibri" pitchFamily="34" charset="-122"/>
                          <a:cs typeface="Calibri" pitchFamily="34" charset="-120"/>
                        </a:rPr>
                        <a:t>0.2 K</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extLst>
                  <a:ext uri="{0D108BD9-81ED-4DB2-BD59-A6C34878D82A}">
                    <a16:rowId xmlns:a16="http://schemas.microsoft.com/office/drawing/2014/main" val="10005"/>
                  </a:ext>
                </a:extLst>
              </a:tr>
              <a:tr h="411480">
                <a:tc>
                  <a:txBody>
                    <a:bodyPr/>
                    <a:lstStyle/>
                    <a:p>
                      <a:pPr marL="0" indent="0">
                        <a:buNone/>
                      </a:pPr>
                      <a:r>
                        <a:rPr lang="en-US" sz="1600" b="1" dirty="0">
                          <a:solidFill>
                            <a:srgbClr val="262626"/>
                          </a:solidFill>
                          <a:latin typeface="Calibri" pitchFamily="34" charset="0"/>
                          <a:ea typeface="Calibri" pitchFamily="34" charset="-122"/>
                          <a:cs typeface="Calibri" pitchFamily="34" charset="-120"/>
                        </a:rPr>
                        <a:t>Pack mass</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lgn="ctr">
                        <a:buNone/>
                      </a:pPr>
                      <a:r>
                        <a:rPr lang="en-US" sz="1600" dirty="0">
                          <a:solidFill>
                            <a:srgbClr val="262626"/>
                          </a:solidFill>
                          <a:latin typeface="Calibri" pitchFamily="34" charset="0"/>
                          <a:ea typeface="Calibri" pitchFamily="34" charset="-122"/>
                          <a:cs typeface="Calibri" pitchFamily="34" charset="-120"/>
                        </a:rPr>
                        <a:t>12.3 kg</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lgn="ctr">
                        <a:buNone/>
                      </a:pPr>
                      <a:r>
                        <a:rPr lang="en-US" sz="1600" dirty="0">
                          <a:solidFill>
                            <a:srgbClr val="262626"/>
                          </a:solidFill>
                          <a:latin typeface="Calibri" pitchFamily="34" charset="0"/>
                          <a:ea typeface="Calibri" pitchFamily="34" charset="-122"/>
                          <a:cs typeface="Calibri" pitchFamily="34" charset="-120"/>
                        </a:rPr>
                        <a:t>13.5 kg</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lgn="ctr">
                        <a:buNone/>
                      </a:pPr>
                      <a:r>
                        <a:rPr lang="en-US" sz="1600" b="1" dirty="0">
                          <a:solidFill>
                            <a:srgbClr val="C2410C"/>
                          </a:solidFill>
                          <a:latin typeface="Calibri" pitchFamily="34" charset="0"/>
                          <a:ea typeface="Calibri" pitchFamily="34" charset="-122"/>
                          <a:cs typeface="Calibri" pitchFamily="34" charset="-120"/>
                        </a:rPr>
                        <a:t>22.7 kg warn</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lgn="ctr">
                        <a:buNone/>
                      </a:pPr>
                      <a:r>
                        <a:rPr lang="en-US" sz="1600" dirty="0">
                          <a:solidFill>
                            <a:srgbClr val="262626"/>
                          </a:solidFill>
                          <a:latin typeface="Calibri" pitchFamily="34" charset="0"/>
                          <a:ea typeface="Calibri" pitchFamily="34" charset="-122"/>
                          <a:cs typeface="Calibri" pitchFamily="34" charset="-120"/>
                        </a:rPr>
                        <a:t>12.3 kg</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extLst>
                  <a:ext uri="{0D108BD9-81ED-4DB2-BD59-A6C34878D82A}">
                    <a16:rowId xmlns:a16="http://schemas.microsoft.com/office/drawing/2014/main" val="10006"/>
                  </a:ext>
                </a:extLst>
              </a:tr>
              <a:tr h="411480">
                <a:tc>
                  <a:txBody>
                    <a:bodyPr/>
                    <a:lstStyle/>
                    <a:p>
                      <a:pPr marL="0" indent="0">
                        <a:buNone/>
                      </a:pPr>
                      <a:r>
                        <a:rPr lang="en-US" sz="1600" b="1" dirty="0">
                          <a:solidFill>
                            <a:srgbClr val="262626"/>
                          </a:solidFill>
                          <a:latin typeface="Calibri" pitchFamily="34" charset="0"/>
                          <a:ea typeface="Calibri" pitchFamily="34" charset="-122"/>
                          <a:cs typeface="Calibri" pitchFamily="34" charset="-120"/>
                        </a:rPr>
                        <a:t>₹ per usable kWh</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lgn="ctr">
                        <a:buNone/>
                      </a:pPr>
                      <a:r>
                        <a:rPr lang="en-US" sz="1600" dirty="0">
                          <a:solidFill>
                            <a:srgbClr val="262626"/>
                          </a:solidFill>
                          <a:latin typeface="Calibri" pitchFamily="34" charset="0"/>
                          <a:ea typeface="Calibri" pitchFamily="34" charset="-122"/>
                          <a:cs typeface="Calibri" pitchFamily="34" charset="-120"/>
                        </a:rPr>
                        <a:t>23.1 k</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lgn="ctr">
                        <a:buNone/>
                      </a:pPr>
                      <a:r>
                        <a:rPr lang="en-US" sz="1600" dirty="0">
                          <a:solidFill>
                            <a:srgbClr val="262626"/>
                          </a:solidFill>
                          <a:latin typeface="Calibri" pitchFamily="34" charset="0"/>
                          <a:ea typeface="Calibri" pitchFamily="34" charset="-122"/>
                          <a:cs typeface="Calibri" pitchFamily="34" charset="-120"/>
                        </a:rPr>
                        <a:t>24.8 k</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lgn="ctr">
                        <a:buNone/>
                      </a:pPr>
                      <a:r>
                        <a:rPr lang="en-US" sz="1600" dirty="0">
                          <a:solidFill>
                            <a:srgbClr val="262626"/>
                          </a:solidFill>
                          <a:latin typeface="Calibri" pitchFamily="34" charset="0"/>
                          <a:ea typeface="Calibri" pitchFamily="34" charset="-122"/>
                          <a:cs typeface="Calibri" pitchFamily="34" charset="-120"/>
                        </a:rPr>
                        <a:t>18.2 k</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lgn="ctr">
                        <a:buNone/>
                      </a:pPr>
                      <a:r>
                        <a:rPr lang="en-US" sz="1600" dirty="0">
                          <a:solidFill>
                            <a:srgbClr val="262626"/>
                          </a:solidFill>
                          <a:latin typeface="Calibri" pitchFamily="34" charset="0"/>
                          <a:ea typeface="Calibri" pitchFamily="34" charset="-122"/>
                          <a:cs typeface="Calibri" pitchFamily="34" charset="-120"/>
                        </a:rPr>
                        <a:t>23.1 k</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extLst>
                  <a:ext uri="{0D108BD9-81ED-4DB2-BD59-A6C34878D82A}">
                    <a16:rowId xmlns:a16="http://schemas.microsoft.com/office/drawing/2014/main" val="10007"/>
                  </a:ext>
                </a:extLst>
              </a:tr>
              <a:tr h="411480">
                <a:tc>
                  <a:txBody>
                    <a:bodyPr/>
                    <a:lstStyle/>
                    <a:p>
                      <a:pPr marL="0" indent="0">
                        <a:buNone/>
                      </a:pPr>
                      <a:r>
                        <a:rPr lang="en-US" sz="1600" b="1" dirty="0">
                          <a:solidFill>
                            <a:srgbClr val="262626"/>
                          </a:solidFill>
                          <a:latin typeface="Calibri" pitchFamily="34" charset="0"/>
                          <a:ea typeface="Calibri" pitchFamily="34" charset="-122"/>
                          <a:cs typeface="Calibri" pitchFamily="34" charset="-120"/>
                        </a:rPr>
                        <a:t>Cycle life (estimate)</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lgn="ctr">
                        <a:buNone/>
                      </a:pPr>
                      <a:r>
                        <a:rPr lang="en-US" sz="1600" dirty="0">
                          <a:solidFill>
                            <a:srgbClr val="262626"/>
                          </a:solidFill>
                          <a:latin typeface="Calibri" pitchFamily="34" charset="0"/>
                          <a:ea typeface="Calibri" pitchFamily="34" charset="-122"/>
                          <a:cs typeface="Calibri" pitchFamily="34" charset="-120"/>
                        </a:rPr>
                        <a:t>~370</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lgn="ctr">
                        <a:buNone/>
                      </a:pPr>
                      <a:r>
                        <a:rPr lang="en-US" sz="1600" dirty="0">
                          <a:solidFill>
                            <a:srgbClr val="262626"/>
                          </a:solidFill>
                          <a:latin typeface="Calibri" pitchFamily="34" charset="0"/>
                          <a:ea typeface="Calibri" pitchFamily="34" charset="-122"/>
                          <a:cs typeface="Calibri" pitchFamily="34" charset="-120"/>
                        </a:rPr>
                        <a:t>~405</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lgn="ctr">
                        <a:buNone/>
                      </a:pPr>
                      <a:r>
                        <a:rPr lang="en-US" sz="1600" dirty="0">
                          <a:solidFill>
                            <a:srgbClr val="262626"/>
                          </a:solidFill>
                          <a:latin typeface="Calibri" pitchFamily="34" charset="0"/>
                          <a:ea typeface="Calibri" pitchFamily="34" charset="-122"/>
                          <a:cs typeface="Calibri" pitchFamily="34" charset="-120"/>
                        </a:rPr>
                        <a:t>~1,290</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lgn="ctr">
                        <a:buNone/>
                      </a:pPr>
                      <a:r>
                        <a:rPr lang="en-US" sz="1600" dirty="0">
                          <a:solidFill>
                            <a:srgbClr val="262626"/>
                          </a:solidFill>
                          <a:latin typeface="Calibri" pitchFamily="34" charset="0"/>
                          <a:ea typeface="Calibri" pitchFamily="34" charset="-122"/>
                          <a:cs typeface="Calibri" pitchFamily="34" charset="-120"/>
                        </a:rPr>
                        <a:t>~370</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extLst>
                  <a:ext uri="{0D108BD9-81ED-4DB2-BD59-A6C34878D82A}">
                    <a16:rowId xmlns:a16="http://schemas.microsoft.com/office/drawing/2014/main" val="10008"/>
                  </a:ext>
                </a:extLst>
              </a:tr>
              <a:tr h="411480">
                <a:tc>
                  <a:txBody>
                    <a:bodyPr/>
                    <a:lstStyle/>
                    <a:p>
                      <a:pPr marL="0" indent="0">
                        <a:buNone/>
                      </a:pPr>
                      <a:r>
                        <a:rPr lang="en-US" sz="1600" b="1" dirty="0">
                          <a:solidFill>
                            <a:srgbClr val="262626"/>
                          </a:solidFill>
                          <a:latin typeface="Calibri" pitchFamily="34" charset="0"/>
                          <a:ea typeface="Calibri" pitchFamily="34" charset="-122"/>
                          <a:cs typeface="Calibri" pitchFamily="34" charset="-120"/>
                        </a:rPr>
                        <a:t>Ranking</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lgn="ctr">
                        <a:buNone/>
                      </a:pPr>
                      <a:r>
                        <a:rPr lang="en-US" sz="1600" dirty="0">
                          <a:solidFill>
                            <a:srgbClr val="262626"/>
                          </a:solidFill>
                          <a:latin typeface="Calibri" pitchFamily="34" charset="0"/>
                          <a:ea typeface="Calibri" pitchFamily="34" charset="-122"/>
                          <a:cs typeface="Calibri" pitchFamily="34" charset="-120"/>
                        </a:rPr>
                        <a:t>disqualified</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lgn="ctr">
                        <a:buNone/>
                      </a:pPr>
                      <a:r>
                        <a:rPr lang="en-US" sz="1600" dirty="0">
                          <a:solidFill>
                            <a:srgbClr val="262626"/>
                          </a:solidFill>
                          <a:latin typeface="Calibri" pitchFamily="34" charset="0"/>
                          <a:ea typeface="Calibri" pitchFamily="34" charset="-122"/>
                          <a:cs typeface="Calibri" pitchFamily="34" charset="-120"/>
                        </a:rPr>
                        <a:t>2nd</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lgn="ctr">
                        <a:buNone/>
                      </a:pPr>
                      <a:r>
                        <a:rPr lang="en-US" sz="1600" b="1" dirty="0">
                          <a:solidFill>
                            <a:srgbClr val="2E75B6"/>
                          </a:solidFill>
                          <a:latin typeface="Calibri" pitchFamily="34" charset="0"/>
                          <a:ea typeface="Calibri" pitchFamily="34" charset="-122"/>
                          <a:cs typeface="Calibri" pitchFamily="34" charset="-120"/>
                        </a:rPr>
                        <a:t>1st</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lgn="ctr">
                        <a:buNone/>
                      </a:pPr>
                      <a:r>
                        <a:rPr lang="en-US" sz="1600" dirty="0">
                          <a:solidFill>
                            <a:srgbClr val="262626"/>
                          </a:solidFill>
                          <a:latin typeface="Calibri" pitchFamily="34" charset="0"/>
                          <a:ea typeface="Calibri" pitchFamily="34" charset="-122"/>
                          <a:cs typeface="Calibri" pitchFamily="34" charset="-120"/>
                        </a:rPr>
                        <a:t>3rd</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extLst>
                  <a:ext uri="{0D108BD9-81ED-4DB2-BD59-A6C34878D82A}">
                    <a16:rowId xmlns:a16="http://schemas.microsoft.com/office/drawing/2014/main" val="10009"/>
                  </a:ext>
                </a:extLst>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7772400" cy="274320"/>
          </a:xfrm>
          <a:prstGeom prst="rect">
            <a:avLst/>
          </a:prstGeom>
          <a:noFill/>
          <a:ln/>
        </p:spPr>
        <p:txBody>
          <a:bodyPr wrap="square" lIns="0" tIns="0" rIns="0" bIns="0" rtlCol="0" anchor="ctr"/>
          <a:lstStyle/>
          <a:p>
            <a:pPr marL="0" indent="0">
              <a:buNone/>
            </a:pPr>
            <a:r>
              <a:rPr lang="en-US" sz="1200" b="1" dirty="0">
                <a:solidFill>
                  <a:srgbClr val="1F4E79"/>
                </a:solidFill>
                <a:latin typeface="Calibri" pitchFamily="34" charset="0"/>
                <a:ea typeface="Calibri" pitchFamily="34" charset="-122"/>
                <a:cs typeface="Calibri" pitchFamily="34" charset="-120"/>
              </a:rPr>
              <a:t>Backup</a:t>
            </a:r>
            <a:endParaRPr lang="en-US" sz="1200" dirty="0"/>
          </a:p>
        </p:txBody>
      </p:sp>
      <p:sp>
        <p:nvSpPr>
          <p:cNvPr id="3" name="Text 1"/>
          <p:cNvSpPr/>
          <p:nvPr/>
        </p:nvSpPr>
        <p:spPr>
          <a:xfrm>
            <a:off x="7985455" y="274320"/>
            <a:ext cx="3657600" cy="274320"/>
          </a:xfrm>
          <a:prstGeom prst="rect">
            <a:avLst/>
          </a:prstGeom>
          <a:noFill/>
          <a:ln/>
        </p:spPr>
        <p:txBody>
          <a:bodyPr wrap="square" lIns="0" tIns="0" rIns="0" bIns="0" rtlCol="0" anchor="ctr"/>
          <a:lstStyle/>
          <a:p>
            <a:pPr marL="0" indent="0" algn="r">
              <a:buNone/>
            </a:pPr>
            <a:r>
              <a:rPr lang="en-US" sz="1200" dirty="0">
                <a:solidFill>
                  <a:srgbClr val="6B7280"/>
                </a:solidFill>
                <a:latin typeface="Calibri" pitchFamily="34" charset="0"/>
                <a:ea typeface="Calibri" pitchFamily="34" charset="-122"/>
                <a:cs typeface="Calibri" pitchFamily="34" charset="-120"/>
              </a:rPr>
              <a:t>Appendix A4 · Desirability</a:t>
            </a:r>
            <a:endParaRPr lang="en-US" sz="1200" dirty="0"/>
          </a:p>
        </p:txBody>
      </p:sp>
      <p:sp>
        <p:nvSpPr>
          <p:cNvPr id="4" name="Text 2"/>
          <p:cNvSpPr/>
          <p:nvPr/>
        </p:nvSpPr>
        <p:spPr>
          <a:xfrm>
            <a:off x="548640" y="621792"/>
            <a:ext cx="11094415" cy="914400"/>
          </a:xfrm>
          <a:prstGeom prst="rect">
            <a:avLst/>
          </a:prstGeom>
          <a:noFill/>
          <a:ln/>
        </p:spPr>
        <p:txBody>
          <a:bodyPr wrap="square" lIns="0" tIns="0" rIns="0" bIns="0" rtlCol="0" anchor="t"/>
          <a:lstStyle/>
          <a:p>
            <a:pPr marL="0" indent="0">
              <a:buNone/>
            </a:pPr>
            <a:r>
              <a:rPr lang="en-US" sz="2600" b="1" dirty="0">
                <a:solidFill>
                  <a:srgbClr val="1F4E79"/>
                </a:solidFill>
                <a:latin typeface="Calibri" pitchFamily="34" charset="0"/>
                <a:ea typeface="Calibri" pitchFamily="34" charset="-122"/>
                <a:cs typeface="Calibri" pitchFamily="34" charset="-120"/>
              </a:rPr>
              <a:t>A4 · Students and pack engineers lose time to copied parameters and late conflicts</a:t>
            </a:r>
            <a:endParaRPr lang="en-US" sz="2600" dirty="0"/>
          </a:p>
        </p:txBody>
      </p:sp>
      <p:sp>
        <p:nvSpPr>
          <p:cNvPr id="5" name="Text 3"/>
          <p:cNvSpPr/>
          <p:nvPr/>
        </p:nvSpPr>
        <p:spPr>
          <a:xfrm>
            <a:off x="548640" y="6355080"/>
            <a:ext cx="10058400" cy="274320"/>
          </a:xfrm>
          <a:prstGeom prst="rect">
            <a:avLst/>
          </a:prstGeom>
          <a:noFill/>
          <a:ln/>
        </p:spPr>
        <p:txBody>
          <a:bodyPr wrap="square" lIns="0" tIns="0" rIns="0" bIns="0" rtlCol="0" anchor="ctr"/>
          <a:lstStyle/>
          <a:p>
            <a:pPr marL="0" indent="0">
              <a:buNone/>
            </a:pPr>
            <a:r>
              <a:rPr lang="en-US" sz="1200" dirty="0">
                <a:solidFill>
                  <a:srgbClr val="6B7280"/>
                </a:solidFill>
                <a:latin typeface="Calibri" pitchFamily="34" charset="0"/>
                <a:ea typeface="Calibri" pitchFamily="34" charset="-122"/>
                <a:cs typeface="Calibri" pitchFamily="34" charset="-120"/>
              </a:rPr>
              <a:t>PackForge: users and pain points</a:t>
            </a:r>
            <a:endParaRPr lang="en-US" sz="1200" dirty="0"/>
          </a:p>
        </p:txBody>
      </p:sp>
      <p:sp>
        <p:nvSpPr>
          <p:cNvPr id="6" name="Text 4"/>
          <p:cNvSpPr/>
          <p:nvPr/>
        </p:nvSpPr>
        <p:spPr>
          <a:xfrm>
            <a:off x="10911535" y="6355080"/>
            <a:ext cx="731520" cy="274320"/>
          </a:xfrm>
          <a:prstGeom prst="rect">
            <a:avLst/>
          </a:prstGeom>
          <a:noFill/>
          <a:ln/>
        </p:spPr>
        <p:txBody>
          <a:bodyPr wrap="square" lIns="0" tIns="0" rIns="0" bIns="0" rtlCol="0" anchor="ctr"/>
          <a:lstStyle/>
          <a:p>
            <a:pPr marL="0" indent="0" algn="r">
              <a:buNone/>
            </a:pPr>
            <a:r>
              <a:rPr lang="en-US" sz="1200" dirty="0">
                <a:solidFill>
                  <a:srgbClr val="6B7280"/>
                </a:solidFill>
                <a:latin typeface="Calibri" pitchFamily="34" charset="0"/>
                <a:ea typeface="Calibri" pitchFamily="34" charset="-122"/>
                <a:cs typeface="Calibri" pitchFamily="34" charset="-120"/>
              </a:rPr>
              <a:t>18</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11094415" cy="2788920"/>
        </p:xfrm>
        <a:graphic>
          <a:graphicData uri="http://schemas.openxmlformats.org/drawingml/2006/table">
            <a:tbl>
              <a:tblPr/>
              <a:tblGrid>
                <a:gridCol w="2377440">
                  <a:extLst>
                    <a:ext uri="{9D8B030D-6E8A-4147-A177-3AD203B41FA5}">
                      <a16:colId xmlns:a16="http://schemas.microsoft.com/office/drawing/2014/main" val="20000"/>
                    </a:ext>
                  </a:extLst>
                </a:gridCol>
                <a:gridCol w="4663440">
                  <a:extLst>
                    <a:ext uri="{9D8B030D-6E8A-4147-A177-3AD203B41FA5}">
                      <a16:colId xmlns:a16="http://schemas.microsoft.com/office/drawing/2014/main" val="20001"/>
                    </a:ext>
                  </a:extLst>
                </a:gridCol>
                <a:gridCol w="4053535">
                  <a:extLst>
                    <a:ext uri="{9D8B030D-6E8A-4147-A177-3AD203B41FA5}">
                      <a16:colId xmlns:a16="http://schemas.microsoft.com/office/drawing/2014/main" val="20002"/>
                    </a:ext>
                  </a:extLst>
                </a:gridCol>
              </a:tblGrid>
              <a:tr h="457200">
                <a:tc>
                  <a:txBody>
                    <a:bodyPr/>
                    <a:lstStyle/>
                    <a:p>
                      <a:pPr marL="0" indent="0">
                        <a:buNone/>
                      </a:pPr>
                      <a:r>
                        <a:rPr lang="en-US" sz="1600" b="1" dirty="0">
                          <a:solidFill>
                            <a:srgbClr val="FFFFFF"/>
                          </a:solidFill>
                          <a:latin typeface="Calibri" pitchFamily="34" charset="0"/>
                          <a:ea typeface="Calibri" pitchFamily="34" charset="-122"/>
                          <a:cs typeface="Calibri" pitchFamily="34" charset="-120"/>
                        </a:rPr>
                        <a:t>Pain point</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solidFill>
                      <a:srgbClr val="1F4E79"/>
                    </a:solidFill>
                  </a:tcPr>
                </a:tc>
                <a:tc>
                  <a:txBody>
                    <a:bodyPr/>
                    <a:lstStyle/>
                    <a:p>
                      <a:pPr marL="0" indent="0">
                        <a:buNone/>
                      </a:pPr>
                      <a:r>
                        <a:rPr lang="en-US" sz="1600" b="1" dirty="0">
                          <a:solidFill>
                            <a:srgbClr val="FFFFFF"/>
                          </a:solidFill>
                          <a:latin typeface="Calibri" pitchFamily="34" charset="0"/>
                          <a:ea typeface="Calibri" pitchFamily="34" charset="-122"/>
                          <a:cs typeface="Calibri" pitchFamily="34" charset="-120"/>
                        </a:rPr>
                        <a:t>Today</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solidFill>
                      <a:srgbClr val="1F4E79"/>
                    </a:solidFill>
                  </a:tcPr>
                </a:tc>
                <a:tc>
                  <a:txBody>
                    <a:bodyPr/>
                    <a:lstStyle/>
                    <a:p>
                      <a:pPr marL="0" indent="0">
                        <a:buNone/>
                      </a:pPr>
                      <a:r>
                        <a:rPr lang="en-US" sz="1600" b="1" dirty="0">
                          <a:solidFill>
                            <a:srgbClr val="FFFFFF"/>
                          </a:solidFill>
                          <a:latin typeface="Calibri" pitchFamily="34" charset="0"/>
                          <a:ea typeface="Calibri" pitchFamily="34" charset="-122"/>
                          <a:cs typeface="Calibri" pitchFamily="34" charset="-120"/>
                        </a:rPr>
                        <a:t>With PackForge</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solidFill>
                      <a:srgbClr val="1F4E79"/>
                    </a:solidFill>
                  </a:tcPr>
                </a:tc>
                <a:extLst>
                  <a:ext uri="{0D108BD9-81ED-4DB2-BD59-A6C34878D82A}">
                    <a16:rowId xmlns:a16="http://schemas.microsoft.com/office/drawing/2014/main" val="10000"/>
                  </a:ext>
                </a:extLst>
              </a:tr>
              <a:tr h="777240">
                <a:tc>
                  <a:txBody>
                    <a:bodyPr/>
                    <a:lstStyle/>
                    <a:p>
                      <a:pPr marL="0" indent="0">
                        <a:buNone/>
                      </a:pPr>
                      <a:r>
                        <a:rPr lang="en-US" sz="1600" b="1" dirty="0">
                          <a:solidFill>
                            <a:srgbClr val="262626"/>
                          </a:solidFill>
                          <a:latin typeface="Calibri" pitchFamily="34" charset="0"/>
                          <a:ea typeface="Calibri" pitchFamily="34" charset="-122"/>
                          <a:cs typeface="Calibri" pitchFamily="34" charset="-120"/>
                        </a:rPr>
                        <a:t>Siloed data</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Electrical, thermal and BMS models with copied parameters</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One design file shared by every model</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extLst>
                  <a:ext uri="{0D108BD9-81ED-4DB2-BD59-A6C34878D82A}">
                    <a16:rowId xmlns:a16="http://schemas.microsoft.com/office/drawing/2014/main" val="10001"/>
                  </a:ext>
                </a:extLst>
              </a:tr>
              <a:tr h="777240">
                <a:tc>
                  <a:txBody>
                    <a:bodyPr/>
                    <a:lstStyle/>
                    <a:p>
                      <a:pPr marL="0" indent="0">
                        <a:buNone/>
                      </a:pPr>
                      <a:r>
                        <a:rPr lang="en-US" sz="1600" b="1" dirty="0">
                          <a:solidFill>
                            <a:srgbClr val="262626"/>
                          </a:solidFill>
                          <a:latin typeface="Calibri" pitchFamily="34" charset="0"/>
                          <a:ea typeface="Calibri" pitchFamily="34" charset="-122"/>
                          <a:cs typeface="Calibri" pitchFamily="34" charset="-120"/>
                        </a:rPr>
                        <a:t>Late conflicts</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A blind spot like the baseline's shows up on the first hot prototype</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It shows up in the model, with its cause chain</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extLst>
                  <a:ext uri="{0D108BD9-81ED-4DB2-BD59-A6C34878D82A}">
                    <a16:rowId xmlns:a16="http://schemas.microsoft.com/office/drawing/2014/main" val="10002"/>
                  </a:ext>
                </a:extLst>
              </a:tr>
              <a:tr h="777240">
                <a:tc>
                  <a:txBody>
                    <a:bodyPr/>
                    <a:lstStyle/>
                    <a:p>
                      <a:pPr marL="0" indent="0">
                        <a:buNone/>
                      </a:pPr>
                      <a:r>
                        <a:rPr lang="en-US" sz="1600" b="1" dirty="0">
                          <a:solidFill>
                            <a:srgbClr val="262626"/>
                          </a:solidFill>
                          <a:latin typeface="Calibri" pitchFamily="34" charset="0"/>
                          <a:ea typeface="Calibri" pitchFamily="34" charset="-122"/>
                          <a:cs typeface="Calibri" pitchFamily="34" charset="-120"/>
                        </a:rPr>
                        <a:t>Hot-climate safety</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E-2W packs in India charge in 40 °C heat, often right after a ride</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That is the design case</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8" name="Text 5"/>
          <p:cNvSpPr/>
          <p:nvPr/>
        </p:nvSpPr>
        <p:spPr>
          <a:xfrm>
            <a:off x="548640" y="4937760"/>
            <a:ext cx="11094415" cy="1280160"/>
          </a:xfrm>
          <a:prstGeom prst="rect">
            <a:avLst/>
          </a:prstGeom>
          <a:noFill/>
          <a:ln/>
        </p:spPr>
        <p:txBody>
          <a:bodyPr wrap="square" lIns="0" tIns="0" rIns="0" bIns="0" rtlCol="0" anchor="t"/>
          <a:lstStyle/>
          <a:p>
            <a:pPr marL="342900" indent="-342900">
              <a:spcAft>
                <a:spcPts val="1400"/>
              </a:spcAft>
              <a:buSzPct val="100000"/>
              <a:buChar char="•"/>
            </a:pPr>
            <a:r>
              <a:rPr lang="en-US" sz="1800" dirty="0">
                <a:solidFill>
                  <a:srgbClr val="262626"/>
                </a:solidFill>
                <a:latin typeface="Calibri" pitchFamily="34" charset="0"/>
                <a:ea typeface="Calibri" pitchFamily="34" charset="-122"/>
                <a:cs typeface="Calibri" pitchFamily="34" charset="-120"/>
              </a:rPr>
              <a:t>Students and new engineers: see why a design fails, with the cause chain across cell, thermal and BMS</a:t>
            </a:r>
            <a:endParaRPr lang="en-US" sz="1800" dirty="0"/>
          </a:p>
          <a:p>
            <a:pPr marL="342900" indent="-342900">
              <a:spcAft>
                <a:spcPts val="1400"/>
              </a:spcAft>
              <a:buSzPct val="100000"/>
              <a:buChar char="•"/>
            </a:pPr>
            <a:r>
              <a:rPr lang="en-US" sz="1800" dirty="0">
                <a:solidFill>
                  <a:srgbClr val="262626"/>
                </a:solidFill>
                <a:latin typeface="Calibri" pitchFamily="34" charset="0"/>
                <a:ea typeface="Calibri" pitchFamily="34" charset="-122"/>
                <a:cs typeface="Calibri" pitchFamily="34" charset="-120"/>
              </a:rPr>
              <a:t>Pack engineers: screen options before hardware on the same requirements and scenarios</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7772400" cy="274320"/>
          </a:xfrm>
          <a:prstGeom prst="rect">
            <a:avLst/>
          </a:prstGeom>
          <a:noFill/>
          <a:ln/>
        </p:spPr>
        <p:txBody>
          <a:bodyPr wrap="square" lIns="0" tIns="0" rIns="0" bIns="0" rtlCol="0" anchor="ctr"/>
          <a:lstStyle/>
          <a:p>
            <a:pPr marL="0" indent="0">
              <a:buNone/>
            </a:pPr>
            <a:r>
              <a:rPr lang="en-US" sz="1200" b="1" dirty="0">
                <a:solidFill>
                  <a:srgbClr val="1F4E79"/>
                </a:solidFill>
                <a:latin typeface="Calibri" pitchFamily="34" charset="0"/>
                <a:ea typeface="Calibri" pitchFamily="34" charset="-122"/>
                <a:cs typeface="Calibri" pitchFamily="34" charset="-120"/>
              </a:rPr>
              <a:t>Backup</a:t>
            </a:r>
            <a:endParaRPr lang="en-US" sz="1200" dirty="0"/>
          </a:p>
        </p:txBody>
      </p:sp>
      <p:sp>
        <p:nvSpPr>
          <p:cNvPr id="3" name="Text 1"/>
          <p:cNvSpPr/>
          <p:nvPr/>
        </p:nvSpPr>
        <p:spPr>
          <a:xfrm>
            <a:off x="7985455" y="274320"/>
            <a:ext cx="3657600" cy="274320"/>
          </a:xfrm>
          <a:prstGeom prst="rect">
            <a:avLst/>
          </a:prstGeom>
          <a:noFill/>
          <a:ln/>
        </p:spPr>
        <p:txBody>
          <a:bodyPr wrap="square" lIns="0" tIns="0" rIns="0" bIns="0" rtlCol="0" anchor="ctr"/>
          <a:lstStyle/>
          <a:p>
            <a:pPr marL="0" indent="0" algn="r">
              <a:buNone/>
            </a:pPr>
            <a:r>
              <a:rPr lang="en-US" sz="1200" dirty="0">
                <a:solidFill>
                  <a:srgbClr val="6B7280"/>
                </a:solidFill>
                <a:latin typeface="Calibri" pitchFamily="34" charset="0"/>
                <a:ea typeface="Calibri" pitchFamily="34" charset="-122"/>
                <a:cs typeface="Calibri" pitchFamily="34" charset="-120"/>
              </a:rPr>
              <a:t>Appendix A5 · Engineering quality</a:t>
            </a:r>
            <a:endParaRPr lang="en-US" sz="1200" dirty="0"/>
          </a:p>
        </p:txBody>
      </p:sp>
      <p:sp>
        <p:nvSpPr>
          <p:cNvPr id="4" name="Text 2"/>
          <p:cNvSpPr/>
          <p:nvPr/>
        </p:nvSpPr>
        <p:spPr>
          <a:xfrm>
            <a:off x="548640" y="621792"/>
            <a:ext cx="11094415" cy="914400"/>
          </a:xfrm>
          <a:prstGeom prst="rect">
            <a:avLst/>
          </a:prstGeom>
          <a:noFill/>
          <a:ln/>
        </p:spPr>
        <p:txBody>
          <a:bodyPr wrap="square" lIns="0" tIns="0" rIns="0" bIns="0" rtlCol="0" anchor="t"/>
          <a:lstStyle/>
          <a:p>
            <a:pPr marL="0" indent="0">
              <a:buNone/>
            </a:pPr>
            <a:r>
              <a:rPr lang="en-US" sz="2600" b="1" dirty="0">
                <a:solidFill>
                  <a:srgbClr val="1F4E79"/>
                </a:solidFill>
                <a:latin typeface="Calibri" pitchFamily="34" charset="0"/>
                <a:ea typeface="Calibri" pitchFamily="34" charset="-122"/>
                <a:cs typeface="Calibri" pitchFamily="34" charset="-120"/>
              </a:rPr>
              <a:t>A5 · Six cross-checks and 23 automated tests guard the physics</a:t>
            </a:r>
            <a:endParaRPr lang="en-US" sz="2600" dirty="0"/>
          </a:p>
        </p:txBody>
      </p:sp>
      <p:sp>
        <p:nvSpPr>
          <p:cNvPr id="5" name="Text 3"/>
          <p:cNvSpPr/>
          <p:nvPr/>
        </p:nvSpPr>
        <p:spPr>
          <a:xfrm>
            <a:off x="548640" y="6355080"/>
            <a:ext cx="10058400" cy="274320"/>
          </a:xfrm>
          <a:prstGeom prst="rect">
            <a:avLst/>
          </a:prstGeom>
          <a:noFill/>
          <a:ln/>
        </p:spPr>
        <p:txBody>
          <a:bodyPr wrap="square" lIns="0" tIns="0" rIns="0" bIns="0" rtlCol="0" anchor="ctr"/>
          <a:lstStyle/>
          <a:p>
            <a:pPr marL="0" indent="0">
              <a:buNone/>
            </a:pPr>
            <a:r>
              <a:rPr lang="en-US" sz="1200" dirty="0">
                <a:solidFill>
                  <a:srgbClr val="6B7280"/>
                </a:solidFill>
                <a:latin typeface="Calibri" pitchFamily="34" charset="0"/>
                <a:ea typeface="Calibri" pitchFamily="34" charset="-122"/>
                <a:cs typeface="Calibri" pitchFamily="34" charset="-120"/>
              </a:rPr>
              <a:t>Source: tests/test_packforge.py · model conventions in CLAUDE.md</a:t>
            </a:r>
            <a:endParaRPr lang="en-US" sz="1200" dirty="0"/>
          </a:p>
        </p:txBody>
      </p:sp>
      <p:sp>
        <p:nvSpPr>
          <p:cNvPr id="6" name="Text 4"/>
          <p:cNvSpPr/>
          <p:nvPr/>
        </p:nvSpPr>
        <p:spPr>
          <a:xfrm>
            <a:off x="10911535" y="6355080"/>
            <a:ext cx="731520" cy="274320"/>
          </a:xfrm>
          <a:prstGeom prst="rect">
            <a:avLst/>
          </a:prstGeom>
          <a:noFill/>
          <a:ln/>
        </p:spPr>
        <p:txBody>
          <a:bodyPr wrap="square" lIns="0" tIns="0" rIns="0" bIns="0" rtlCol="0" anchor="ctr"/>
          <a:lstStyle/>
          <a:p>
            <a:pPr marL="0" indent="0" algn="r">
              <a:buNone/>
            </a:pPr>
            <a:r>
              <a:rPr lang="en-US" sz="1200" dirty="0">
                <a:solidFill>
                  <a:srgbClr val="6B7280"/>
                </a:solidFill>
                <a:latin typeface="Calibri" pitchFamily="34" charset="0"/>
                <a:ea typeface="Calibri" pitchFamily="34" charset="-122"/>
                <a:cs typeface="Calibri" pitchFamily="34" charset="-120"/>
              </a:rPr>
              <a:t>19</a:t>
            </a:r>
            <a:endParaRPr lang="en-US" sz="1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11094415" cy="3840480"/>
        </p:xfrm>
        <a:graphic>
          <a:graphicData uri="http://schemas.openxmlformats.org/drawingml/2006/table">
            <a:tbl>
              <a:tblPr/>
              <a:tblGrid>
                <a:gridCol w="7406640">
                  <a:extLst>
                    <a:ext uri="{9D8B030D-6E8A-4147-A177-3AD203B41FA5}">
                      <a16:colId xmlns:a16="http://schemas.microsoft.com/office/drawing/2014/main" val="20000"/>
                    </a:ext>
                  </a:extLst>
                </a:gridCol>
                <a:gridCol w="3687775">
                  <a:extLst>
                    <a:ext uri="{9D8B030D-6E8A-4147-A177-3AD203B41FA5}">
                      <a16:colId xmlns:a16="http://schemas.microsoft.com/office/drawing/2014/main" val="20001"/>
                    </a:ext>
                  </a:extLst>
                </a:gridCol>
              </a:tblGrid>
              <a:tr h="548640">
                <a:tc>
                  <a:txBody>
                    <a:bodyPr/>
                    <a:lstStyle/>
                    <a:p>
                      <a:pPr marL="0" indent="0">
                        <a:buNone/>
                      </a:pPr>
                      <a:r>
                        <a:rPr lang="en-US" sz="1600" b="1" dirty="0">
                          <a:solidFill>
                            <a:srgbClr val="FFFFFF"/>
                          </a:solidFill>
                          <a:latin typeface="Calibri" pitchFamily="34" charset="0"/>
                          <a:ea typeface="Calibri" pitchFamily="34" charset="-122"/>
                          <a:cs typeface="Calibri" pitchFamily="34" charset="-120"/>
                        </a:rPr>
                        <a:t>Check</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solidFill>
                      <a:srgbClr val="1F4E79"/>
                    </a:solidFill>
                  </a:tcPr>
                </a:tc>
                <a:tc>
                  <a:txBody>
                    <a:bodyPr/>
                    <a:lstStyle/>
                    <a:p>
                      <a:pPr marL="0" indent="0">
                        <a:buNone/>
                      </a:pPr>
                      <a:r>
                        <a:rPr lang="en-US" sz="1600" b="1" dirty="0">
                          <a:solidFill>
                            <a:srgbClr val="FFFFFF"/>
                          </a:solidFill>
                          <a:latin typeface="Calibri" pitchFamily="34" charset="0"/>
                          <a:ea typeface="Calibri" pitchFamily="34" charset="-122"/>
                          <a:cs typeface="Calibri" pitchFamily="34" charset="-120"/>
                        </a:rPr>
                        <a:t>Result</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solidFill>
                      <a:srgbClr val="1F4E79"/>
                    </a:solidFill>
                  </a:tcPr>
                </a:tc>
                <a:extLst>
                  <a:ext uri="{0D108BD9-81ED-4DB2-BD59-A6C34878D82A}">
                    <a16:rowId xmlns:a16="http://schemas.microsoft.com/office/drawing/2014/main" val="10000"/>
                  </a:ext>
                </a:extLst>
              </a:tr>
              <a:tr h="548640">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Adiabatic heat balance: heat generated vs cell temperature rise</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within ±2 %</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extLst>
                  <a:ext uri="{0D108BD9-81ED-4DB2-BD59-A6C34878D82A}">
                    <a16:rowId xmlns:a16="http://schemas.microsoft.com/office/drawing/2014/main" val="10001"/>
                  </a:ext>
                </a:extLst>
              </a:tr>
              <a:tr h="548640">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Delivered energy vs nominal, ending on the undervoltage cut-off</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0.9–1.06×</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extLst>
                  <a:ext uri="{0D108BD9-81ED-4DB2-BD59-A6C34878D82A}">
                    <a16:rowId xmlns:a16="http://schemas.microsoft.com/office/drawing/2014/main" val="10002"/>
                  </a:ext>
                </a:extLst>
              </a:tr>
              <a:tr h="548640">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Time step 2 s vs 1 s</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KPIs within 0.4 %, ΔT within 0.05 K</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extLst>
                  <a:ext uri="{0D108BD9-81ED-4DB2-BD59-A6C34878D82A}">
                    <a16:rowId xmlns:a16="http://schemas.microsoft.com/office/drawing/2014/main" val="10003"/>
                  </a:ext>
                </a:extLst>
              </a:tr>
              <a:tr h="548640">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Simulated charge time vs independent hand-calc bound, cold start</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0.95–1.3×</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extLst>
                  <a:ext uri="{0D108BD9-81ED-4DB2-BD59-A6C34878D82A}">
                    <a16:rowId xmlns:a16="http://schemas.microsoft.com/office/drawing/2014/main" val="10004"/>
                  </a:ext>
                </a:extLst>
              </a:tr>
              <a:tr h="548640">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Observer-controlled charge with ±30 % error in its cooling model</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peak ≤ 45 °C</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extLst>
                  <a:ext uri="{0D108BD9-81ED-4DB2-BD59-A6C34878D82A}">
                    <a16:rowId xmlns:a16="http://schemas.microsoft.com/office/drawing/2014/main" val="10005"/>
                  </a:ext>
                </a:extLst>
              </a:tr>
              <a:tr h="548640">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Automated tests: physics, conflicts, calibration, ranking, report</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23 tests, about 90 s</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7772400" cy="274320"/>
          </a:xfrm>
          <a:prstGeom prst="rect">
            <a:avLst/>
          </a:prstGeom>
          <a:noFill/>
          <a:ln/>
        </p:spPr>
        <p:txBody>
          <a:bodyPr wrap="square" lIns="0" tIns="0" rIns="0" bIns="0" rtlCol="0" anchor="ctr"/>
          <a:lstStyle/>
          <a:p>
            <a:pPr marL="0" indent="0">
              <a:buNone/>
            </a:pPr>
            <a:r>
              <a:rPr lang="en-US" sz="1200" b="1" dirty="0">
                <a:solidFill>
                  <a:srgbClr val="1F4E79"/>
                </a:solidFill>
                <a:latin typeface="Calibri" pitchFamily="34" charset="0"/>
                <a:ea typeface="Calibri" pitchFamily="34" charset="-122"/>
                <a:cs typeface="Calibri" pitchFamily="34" charset="-120"/>
              </a:rPr>
              <a:t>Backup</a:t>
            </a:r>
            <a:endParaRPr lang="en-US" sz="1200" dirty="0"/>
          </a:p>
        </p:txBody>
      </p:sp>
      <p:sp>
        <p:nvSpPr>
          <p:cNvPr id="3" name="Text 1"/>
          <p:cNvSpPr/>
          <p:nvPr/>
        </p:nvSpPr>
        <p:spPr>
          <a:xfrm>
            <a:off x="7985455" y="274320"/>
            <a:ext cx="3657600" cy="274320"/>
          </a:xfrm>
          <a:prstGeom prst="rect">
            <a:avLst/>
          </a:prstGeom>
          <a:noFill/>
          <a:ln/>
        </p:spPr>
        <p:txBody>
          <a:bodyPr wrap="square" lIns="0" tIns="0" rIns="0" bIns="0" rtlCol="0" anchor="ctr"/>
          <a:lstStyle/>
          <a:p>
            <a:pPr marL="0" indent="0" algn="r">
              <a:buNone/>
            </a:pPr>
            <a:r>
              <a:rPr lang="en-US" sz="1200" dirty="0">
                <a:solidFill>
                  <a:srgbClr val="6B7280"/>
                </a:solidFill>
                <a:latin typeface="Calibri" pitchFamily="34" charset="0"/>
                <a:ea typeface="Calibri" pitchFamily="34" charset="-122"/>
                <a:cs typeface="Calibri" pitchFamily="34" charset="-120"/>
              </a:rPr>
              <a:t>Appendix A6 · Innovation</a:t>
            </a:r>
            <a:endParaRPr lang="en-US" sz="1200" dirty="0"/>
          </a:p>
        </p:txBody>
      </p:sp>
      <p:sp>
        <p:nvSpPr>
          <p:cNvPr id="4" name="Text 2"/>
          <p:cNvSpPr/>
          <p:nvPr/>
        </p:nvSpPr>
        <p:spPr>
          <a:xfrm>
            <a:off x="548640" y="621792"/>
            <a:ext cx="11094415" cy="914400"/>
          </a:xfrm>
          <a:prstGeom prst="rect">
            <a:avLst/>
          </a:prstGeom>
          <a:noFill/>
          <a:ln/>
        </p:spPr>
        <p:txBody>
          <a:bodyPr wrap="square" lIns="0" tIns="0" rIns="0" bIns="0" rtlCol="0" anchor="t"/>
          <a:lstStyle/>
          <a:p>
            <a:pPr marL="0" indent="0">
              <a:buNone/>
            </a:pPr>
            <a:r>
              <a:rPr lang="en-US" sz="2600" b="1" dirty="0">
                <a:solidFill>
                  <a:srgbClr val="1F4E79"/>
                </a:solidFill>
                <a:latin typeface="Calibri" pitchFamily="34" charset="0"/>
                <a:ea typeface="Calibri" pitchFamily="34" charset="-122"/>
                <a:cs typeface="Calibri" pitchFamily="34" charset="-120"/>
              </a:rPr>
              <a:t>A6 · Five features link each failure to its cause, its sensors and its evidence</a:t>
            </a:r>
            <a:endParaRPr lang="en-US" sz="2600" dirty="0"/>
          </a:p>
        </p:txBody>
      </p:sp>
      <p:sp>
        <p:nvSpPr>
          <p:cNvPr id="5" name="Text 3"/>
          <p:cNvSpPr/>
          <p:nvPr/>
        </p:nvSpPr>
        <p:spPr>
          <a:xfrm>
            <a:off x="548640" y="6355080"/>
            <a:ext cx="10058400" cy="274320"/>
          </a:xfrm>
          <a:prstGeom prst="rect">
            <a:avLst/>
          </a:prstGeom>
          <a:noFill/>
          <a:ln/>
        </p:spPr>
        <p:txBody>
          <a:bodyPr wrap="square" lIns="0" tIns="0" rIns="0" bIns="0" rtlCol="0" anchor="ctr"/>
          <a:lstStyle/>
          <a:p>
            <a:pPr marL="0" indent="0">
              <a:buNone/>
            </a:pPr>
            <a:r>
              <a:rPr lang="en-US" sz="1200" dirty="0">
                <a:solidFill>
                  <a:srgbClr val="6B7280"/>
                </a:solidFill>
                <a:latin typeface="Calibri" pitchFamily="34" charset="0"/>
                <a:ea typeface="Calibri" pitchFamily="34" charset="-122"/>
                <a:cs typeface="Calibri" pitchFamily="34" charset="-120"/>
              </a:rPr>
              <a:t>PackForge: checks.py · sim.py (observer) · engine.py (Monte Carlo, traceability)</a:t>
            </a:r>
            <a:endParaRPr lang="en-US" sz="1200" dirty="0"/>
          </a:p>
        </p:txBody>
      </p:sp>
      <p:sp>
        <p:nvSpPr>
          <p:cNvPr id="6" name="Text 4"/>
          <p:cNvSpPr/>
          <p:nvPr/>
        </p:nvSpPr>
        <p:spPr>
          <a:xfrm>
            <a:off x="10911535" y="6355080"/>
            <a:ext cx="731520" cy="274320"/>
          </a:xfrm>
          <a:prstGeom prst="rect">
            <a:avLst/>
          </a:prstGeom>
          <a:noFill/>
          <a:ln/>
        </p:spPr>
        <p:txBody>
          <a:bodyPr wrap="square" lIns="0" tIns="0" rIns="0" bIns="0" rtlCol="0" anchor="ctr"/>
          <a:lstStyle/>
          <a:p>
            <a:pPr marL="0" indent="0" algn="r">
              <a:buNone/>
            </a:pPr>
            <a:r>
              <a:rPr lang="en-US" sz="1200" dirty="0">
                <a:solidFill>
                  <a:srgbClr val="6B7280"/>
                </a:solidFill>
                <a:latin typeface="Calibri" pitchFamily="34" charset="0"/>
                <a:ea typeface="Calibri" pitchFamily="34" charset="-122"/>
                <a:cs typeface="Calibri" pitchFamily="34" charset="-120"/>
              </a:rPr>
              <a:t>20</a:t>
            </a:r>
            <a:endParaRPr lang="en-US" sz="1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11094415" cy="3840480"/>
        </p:xfrm>
        <a:graphic>
          <a:graphicData uri="http://schemas.openxmlformats.org/drawingml/2006/table">
            <a:tbl>
              <a:tblPr/>
              <a:tblGrid>
                <a:gridCol w="3566160">
                  <a:extLst>
                    <a:ext uri="{9D8B030D-6E8A-4147-A177-3AD203B41FA5}">
                      <a16:colId xmlns:a16="http://schemas.microsoft.com/office/drawing/2014/main" val="20000"/>
                    </a:ext>
                  </a:extLst>
                </a:gridCol>
                <a:gridCol w="7528255">
                  <a:extLst>
                    <a:ext uri="{9D8B030D-6E8A-4147-A177-3AD203B41FA5}">
                      <a16:colId xmlns:a16="http://schemas.microsoft.com/office/drawing/2014/main" val="20001"/>
                    </a:ext>
                  </a:extLst>
                </a:gridCol>
              </a:tblGrid>
              <a:tr h="640080">
                <a:tc>
                  <a:txBody>
                    <a:bodyPr/>
                    <a:lstStyle/>
                    <a:p>
                      <a:pPr marL="0" indent="0">
                        <a:buNone/>
                      </a:pPr>
                      <a:r>
                        <a:rPr lang="en-US" sz="1600" b="1" dirty="0">
                          <a:solidFill>
                            <a:srgbClr val="FFFFFF"/>
                          </a:solidFill>
                          <a:latin typeface="Calibri" pitchFamily="34" charset="0"/>
                          <a:ea typeface="Calibri" pitchFamily="34" charset="-122"/>
                          <a:cs typeface="Calibri" pitchFamily="34" charset="-120"/>
                        </a:rPr>
                        <a:t>Feature</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solidFill>
                      <a:srgbClr val="1F4E79"/>
                    </a:solidFill>
                  </a:tcPr>
                </a:tc>
                <a:tc>
                  <a:txBody>
                    <a:bodyPr/>
                    <a:lstStyle/>
                    <a:p>
                      <a:pPr marL="0" indent="0">
                        <a:buNone/>
                      </a:pPr>
                      <a:r>
                        <a:rPr lang="en-US" sz="1600" b="1" dirty="0">
                          <a:solidFill>
                            <a:srgbClr val="FFFFFF"/>
                          </a:solidFill>
                          <a:latin typeface="Calibri" pitchFamily="34" charset="0"/>
                          <a:ea typeface="Calibri" pitchFamily="34" charset="-122"/>
                          <a:cs typeface="Calibri" pitchFamily="34" charset="-120"/>
                        </a:rPr>
                        <a:t>What it does</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solidFill>
                      <a:srgbClr val="1F4E79"/>
                    </a:solidFill>
                  </a:tcPr>
                </a:tc>
                <a:extLst>
                  <a:ext uri="{0D108BD9-81ED-4DB2-BD59-A6C34878D82A}">
                    <a16:rowId xmlns:a16="http://schemas.microsoft.com/office/drawing/2014/main" val="10000"/>
                  </a:ext>
                </a:extLst>
              </a:tr>
              <a:tr h="640080">
                <a:tc>
                  <a:txBody>
                    <a:bodyPr/>
                    <a:lstStyle/>
                    <a:p>
                      <a:pPr marL="0" indent="0">
                        <a:buNone/>
                      </a:pPr>
                      <a:r>
                        <a:rPr lang="en-US" sz="1600" b="1" dirty="0">
                          <a:solidFill>
                            <a:srgbClr val="262626"/>
                          </a:solidFill>
                          <a:latin typeface="Calibri" pitchFamily="34" charset="0"/>
                          <a:ea typeface="Calibri" pitchFamily="34" charset="-122"/>
                          <a:cs typeface="Calibri" pitchFamily="34" charset="-120"/>
                        </a:rPr>
                        <a:t>Cause-explaining conflict checker</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Each failure names the subsystems, the cause chain and candidate fixes</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extLst>
                  <a:ext uri="{0D108BD9-81ED-4DB2-BD59-A6C34878D82A}">
                    <a16:rowId xmlns:a16="http://schemas.microsoft.com/office/drawing/2014/main" val="10001"/>
                  </a:ext>
                </a:extLst>
              </a:tr>
              <a:tr h="640080">
                <a:tc>
                  <a:txBody>
                    <a:bodyPr/>
                    <a:lstStyle/>
                    <a:p>
                      <a:pPr marL="0" indent="0">
                        <a:buNone/>
                      </a:pPr>
                      <a:r>
                        <a:rPr lang="en-US" sz="1600" b="1" dirty="0">
                          <a:solidFill>
                            <a:srgbClr val="262626"/>
                          </a:solidFill>
                          <a:latin typeface="Calibri" pitchFamily="34" charset="0"/>
                          <a:ea typeface="Calibri" pitchFamily="34" charset="-122"/>
                          <a:cs typeface="Calibri" pitchFamily="34" charset="-120"/>
                        </a:rPr>
                        <a:t>Sensor blind-spot metric</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How far the hottest cell runs above what the BMS acts on, for any sensor count and placement</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extLst>
                  <a:ext uri="{0D108BD9-81ED-4DB2-BD59-A6C34878D82A}">
                    <a16:rowId xmlns:a16="http://schemas.microsoft.com/office/drawing/2014/main" val="10002"/>
                  </a:ext>
                </a:extLst>
              </a:tr>
              <a:tr h="640080">
                <a:tc>
                  <a:txBody>
                    <a:bodyPr/>
                    <a:lstStyle/>
                    <a:p>
                      <a:pPr marL="0" indent="0">
                        <a:buNone/>
                      </a:pPr>
                      <a:r>
                        <a:rPr lang="en-US" sz="1600" b="1" dirty="0">
                          <a:solidFill>
                            <a:srgbClr val="262626"/>
                          </a:solidFill>
                          <a:latin typeface="Calibri" pitchFamily="34" charset="0"/>
                          <a:ea typeface="Calibri" pitchFamily="34" charset="-122"/>
                          <a:cs typeface="Calibri" pitchFamily="34" charset="-120"/>
                        </a:rPr>
                        <a:t>Virtual hotspot sensor</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A thermal observer in the BMS: a ₹0 retrofit, checked at ±30 % cooling-model error</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extLst>
                  <a:ext uri="{0D108BD9-81ED-4DB2-BD59-A6C34878D82A}">
                    <a16:rowId xmlns:a16="http://schemas.microsoft.com/office/drawing/2014/main" val="10003"/>
                  </a:ext>
                </a:extLst>
              </a:tr>
              <a:tr h="640080">
                <a:tc>
                  <a:txBody>
                    <a:bodyPr/>
                    <a:lstStyle/>
                    <a:p>
                      <a:pPr marL="0" indent="0">
                        <a:buNone/>
                      </a:pPr>
                      <a:r>
                        <a:rPr lang="en-US" sz="1600" b="1" dirty="0">
                          <a:solidFill>
                            <a:srgbClr val="262626"/>
                          </a:solidFill>
                          <a:latin typeface="Calibri" pitchFamily="34" charset="0"/>
                          <a:ea typeface="Calibri" pitchFamily="34" charset="-122"/>
                          <a:cs typeface="Calibri" pitchFamily="34" charset="-120"/>
                        </a:rPr>
                        <a:t>Variation Monte Carlo</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Cell-to-cell capacity and resistance spread; every sampled pack simulated in one batch</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extLst>
                  <a:ext uri="{0D108BD9-81ED-4DB2-BD59-A6C34878D82A}">
                    <a16:rowId xmlns:a16="http://schemas.microsoft.com/office/drawing/2014/main" val="10004"/>
                  </a:ext>
                </a:extLst>
              </a:tr>
              <a:tr h="640080">
                <a:tc>
                  <a:txBody>
                    <a:bodyPr/>
                    <a:lstStyle/>
                    <a:p>
                      <a:pPr marL="0" indent="0">
                        <a:buNone/>
                      </a:pPr>
                      <a:r>
                        <a:rPr lang="en-US" sz="1600" b="1" dirty="0">
                          <a:solidFill>
                            <a:srgbClr val="262626"/>
                          </a:solidFill>
                          <a:latin typeface="Calibri" pitchFamily="34" charset="0"/>
                          <a:ea typeface="Calibri" pitchFamily="34" charset="-122"/>
                          <a:cs typeface="Calibri" pitchFamily="34" charset="-120"/>
                        </a:rPr>
                        <a:t>Evidence-ladder traceability</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Requirement → metric → assumption; every number tagged from datasheet up to measured</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7772400" cy="274320"/>
          </a:xfrm>
          <a:prstGeom prst="rect">
            <a:avLst/>
          </a:prstGeom>
          <a:noFill/>
          <a:ln/>
        </p:spPr>
        <p:txBody>
          <a:bodyPr wrap="square" lIns="0" tIns="0" rIns="0" bIns="0" rtlCol="0" anchor="ctr"/>
          <a:lstStyle/>
          <a:p>
            <a:pPr marL="0" indent="0">
              <a:buNone/>
            </a:pPr>
            <a:r>
              <a:rPr lang="en-US" sz="1200" b="1" dirty="0">
                <a:solidFill>
                  <a:srgbClr val="1F4E79"/>
                </a:solidFill>
                <a:latin typeface="Calibri" pitchFamily="34" charset="0"/>
                <a:ea typeface="Calibri" pitchFamily="34" charset="-122"/>
                <a:cs typeface="Calibri" pitchFamily="34" charset="-120"/>
              </a:rPr>
              <a:t>Backup</a:t>
            </a:r>
            <a:endParaRPr lang="en-US" sz="1200" dirty="0"/>
          </a:p>
        </p:txBody>
      </p:sp>
      <p:sp>
        <p:nvSpPr>
          <p:cNvPr id="3" name="Text 1"/>
          <p:cNvSpPr/>
          <p:nvPr/>
        </p:nvSpPr>
        <p:spPr>
          <a:xfrm>
            <a:off x="7985455" y="274320"/>
            <a:ext cx="3657600" cy="274320"/>
          </a:xfrm>
          <a:prstGeom prst="rect">
            <a:avLst/>
          </a:prstGeom>
          <a:noFill/>
          <a:ln/>
        </p:spPr>
        <p:txBody>
          <a:bodyPr wrap="square" lIns="0" tIns="0" rIns="0" bIns="0" rtlCol="0" anchor="ctr"/>
          <a:lstStyle/>
          <a:p>
            <a:pPr marL="0" indent="0" algn="r">
              <a:buNone/>
            </a:pPr>
            <a:r>
              <a:rPr lang="en-US" sz="1200" dirty="0">
                <a:solidFill>
                  <a:srgbClr val="6B7280"/>
                </a:solidFill>
                <a:latin typeface="Calibri" pitchFamily="34" charset="0"/>
                <a:ea typeface="Calibri" pitchFamily="34" charset="-122"/>
                <a:cs typeface="Calibri" pitchFamily="34" charset="-120"/>
              </a:rPr>
              <a:t>Appendix A7 · Technical feasibility</a:t>
            </a:r>
            <a:endParaRPr lang="en-US" sz="1200" dirty="0"/>
          </a:p>
        </p:txBody>
      </p:sp>
      <p:sp>
        <p:nvSpPr>
          <p:cNvPr id="4" name="Text 2"/>
          <p:cNvSpPr/>
          <p:nvPr/>
        </p:nvSpPr>
        <p:spPr>
          <a:xfrm>
            <a:off x="548640" y="621792"/>
            <a:ext cx="11094415" cy="914400"/>
          </a:xfrm>
          <a:prstGeom prst="rect">
            <a:avLst/>
          </a:prstGeom>
          <a:noFill/>
          <a:ln/>
        </p:spPr>
        <p:txBody>
          <a:bodyPr wrap="square" lIns="0" tIns="0" rIns="0" bIns="0" rtlCol="0" anchor="t"/>
          <a:lstStyle/>
          <a:p>
            <a:pPr marL="0" indent="0">
              <a:buNone/>
            </a:pPr>
            <a:r>
              <a:rPr lang="en-US" sz="2600" b="1" dirty="0">
                <a:solidFill>
                  <a:srgbClr val="1F4E79"/>
                </a:solidFill>
                <a:latin typeface="Calibri" pitchFamily="34" charset="0"/>
                <a:ea typeface="Calibri" pitchFamily="34" charset="-122"/>
                <a:cs typeface="Calibri" pitchFamily="34" charset="-120"/>
              </a:rPr>
              <a:t>A7 · Everything runs on a laptop, and any bench test stays low-voltage and supervised</a:t>
            </a:r>
            <a:endParaRPr lang="en-US" sz="2600" dirty="0"/>
          </a:p>
        </p:txBody>
      </p:sp>
      <p:sp>
        <p:nvSpPr>
          <p:cNvPr id="5" name="Text 3"/>
          <p:cNvSpPr/>
          <p:nvPr/>
        </p:nvSpPr>
        <p:spPr>
          <a:xfrm>
            <a:off x="548640" y="6355080"/>
            <a:ext cx="10058400" cy="274320"/>
          </a:xfrm>
          <a:prstGeom prst="rect">
            <a:avLst/>
          </a:prstGeom>
          <a:noFill/>
          <a:ln/>
        </p:spPr>
        <p:txBody>
          <a:bodyPr wrap="square" lIns="0" tIns="0" rIns="0" bIns="0" rtlCol="0" anchor="ctr"/>
          <a:lstStyle/>
          <a:p>
            <a:pPr marL="0" indent="0">
              <a:buNone/>
            </a:pPr>
            <a:r>
              <a:rPr lang="en-US" sz="1200" dirty="0">
                <a:solidFill>
                  <a:srgbClr val="6B7280"/>
                </a:solidFill>
                <a:latin typeface="Calibri" pitchFamily="34" charset="0"/>
                <a:ea typeface="Calibri" pitchFamily="34" charset="-122"/>
                <a:cs typeface="Calibri" pitchFamily="34" charset="-120"/>
              </a:rPr>
              <a:t>Timing: one CLI run of studies/escooter_48v on the team laptop (31 s)</a:t>
            </a:r>
            <a:endParaRPr lang="en-US" sz="1200" dirty="0"/>
          </a:p>
        </p:txBody>
      </p:sp>
      <p:sp>
        <p:nvSpPr>
          <p:cNvPr id="6" name="Text 4"/>
          <p:cNvSpPr/>
          <p:nvPr/>
        </p:nvSpPr>
        <p:spPr>
          <a:xfrm>
            <a:off x="10911535" y="6355080"/>
            <a:ext cx="731520" cy="274320"/>
          </a:xfrm>
          <a:prstGeom prst="rect">
            <a:avLst/>
          </a:prstGeom>
          <a:noFill/>
          <a:ln/>
        </p:spPr>
        <p:txBody>
          <a:bodyPr wrap="square" lIns="0" tIns="0" rIns="0" bIns="0" rtlCol="0" anchor="ctr"/>
          <a:lstStyle/>
          <a:p>
            <a:pPr marL="0" indent="0" algn="r">
              <a:buNone/>
            </a:pPr>
            <a:r>
              <a:rPr lang="en-US" sz="1200" dirty="0">
                <a:solidFill>
                  <a:srgbClr val="6B7280"/>
                </a:solidFill>
                <a:latin typeface="Calibri" pitchFamily="34" charset="0"/>
                <a:ea typeface="Calibri" pitchFamily="34" charset="-122"/>
                <a:cs typeface="Calibri" pitchFamily="34" charset="-120"/>
              </a:rPr>
              <a:t>21</a:t>
            </a:r>
            <a:endParaRPr lang="en-US" sz="1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11094415" cy="3840480"/>
        </p:xfrm>
        <a:graphic>
          <a:graphicData uri="http://schemas.openxmlformats.org/drawingml/2006/table">
            <a:tbl>
              <a:tblPr/>
              <a:tblGrid>
                <a:gridCol w="2194560">
                  <a:extLst>
                    <a:ext uri="{9D8B030D-6E8A-4147-A177-3AD203B41FA5}">
                      <a16:colId xmlns:a16="http://schemas.microsoft.com/office/drawing/2014/main" val="20000"/>
                    </a:ext>
                  </a:extLst>
                </a:gridCol>
                <a:gridCol w="8899855">
                  <a:extLst>
                    <a:ext uri="{9D8B030D-6E8A-4147-A177-3AD203B41FA5}">
                      <a16:colId xmlns:a16="http://schemas.microsoft.com/office/drawing/2014/main" val="20001"/>
                    </a:ext>
                  </a:extLst>
                </a:gridCol>
              </a:tblGrid>
              <a:tr h="640080">
                <a:tc>
                  <a:txBody>
                    <a:bodyPr/>
                    <a:lstStyle/>
                    <a:p>
                      <a:pPr marL="0" indent="0">
                        <a:buNone/>
                      </a:pPr>
                      <a:r>
                        <a:rPr lang="en-US" sz="1600" b="1" dirty="0">
                          <a:solidFill>
                            <a:srgbClr val="FFFFFF"/>
                          </a:solidFill>
                          <a:latin typeface="Calibri" pitchFamily="34" charset="0"/>
                          <a:ea typeface="Calibri" pitchFamily="34" charset="-122"/>
                          <a:cs typeface="Calibri" pitchFamily="34" charset="-120"/>
                        </a:rPr>
                        <a:t>Item</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solidFill>
                      <a:srgbClr val="1F4E79"/>
                    </a:solidFill>
                  </a:tcPr>
                </a:tc>
                <a:tc>
                  <a:txBody>
                    <a:bodyPr/>
                    <a:lstStyle/>
                    <a:p>
                      <a:pPr marL="0" indent="0">
                        <a:buNone/>
                      </a:pPr>
                      <a:r>
                        <a:rPr lang="en-US" sz="1600" b="1" dirty="0">
                          <a:solidFill>
                            <a:srgbClr val="FFFFFF"/>
                          </a:solidFill>
                          <a:latin typeface="Calibri" pitchFamily="34" charset="0"/>
                          <a:ea typeface="Calibri" pitchFamily="34" charset="-122"/>
                          <a:cs typeface="Calibri" pitchFamily="34" charset="-120"/>
                        </a:rPr>
                        <a:t>Detail</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solidFill>
                      <a:srgbClr val="1F4E79"/>
                    </a:solidFill>
                  </a:tcPr>
                </a:tc>
                <a:extLst>
                  <a:ext uri="{0D108BD9-81ED-4DB2-BD59-A6C34878D82A}">
                    <a16:rowId xmlns:a16="http://schemas.microsoft.com/office/drawing/2014/main" val="10000"/>
                  </a:ext>
                </a:extLst>
              </a:tr>
              <a:tr h="640080">
                <a:tc>
                  <a:txBody>
                    <a:bodyPr/>
                    <a:lstStyle/>
                    <a:p>
                      <a:pPr marL="0" indent="0">
                        <a:buNone/>
                      </a:pPr>
                      <a:r>
                        <a:rPr lang="en-US" sz="1600" b="1" dirty="0">
                          <a:solidFill>
                            <a:srgbClr val="262626"/>
                          </a:solidFill>
                          <a:latin typeface="Calibri" pitchFamily="34" charset="0"/>
                          <a:ea typeface="Calibri" pitchFamily="34" charset="-122"/>
                          <a:cs typeface="Calibri" pitchFamily="34" charset="-120"/>
                        </a:rPr>
                        <a:t>Run time</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31 s for the whole study: 4 designs, ride then charge, plus the 2× heat re-run</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extLst>
                  <a:ext uri="{0D108BD9-81ED-4DB2-BD59-A6C34878D82A}">
                    <a16:rowId xmlns:a16="http://schemas.microsoft.com/office/drawing/2014/main" val="10001"/>
                  </a:ext>
                </a:extLst>
              </a:tr>
              <a:tr h="640080">
                <a:tc>
                  <a:txBody>
                    <a:bodyPr/>
                    <a:lstStyle/>
                    <a:p>
                      <a:pPr marL="0" indent="0">
                        <a:buNone/>
                      </a:pPr>
                      <a:r>
                        <a:rPr lang="en-US" sz="1600" b="1" dirty="0">
                          <a:solidFill>
                            <a:srgbClr val="262626"/>
                          </a:solidFill>
                          <a:latin typeface="Calibri" pitchFamily="34" charset="0"/>
                          <a:ea typeface="Calibri" pitchFamily="34" charset="-122"/>
                          <a:cs typeface="Calibri" pitchFamily="34" charset="-120"/>
                        </a:rPr>
                        <a:t>Data</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Public CC BY 4.0 dataset; anyone can re-run the fit and the hold-out check</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extLst>
                  <a:ext uri="{0D108BD9-81ED-4DB2-BD59-A6C34878D82A}">
                    <a16:rowId xmlns:a16="http://schemas.microsoft.com/office/drawing/2014/main" val="10002"/>
                  </a:ext>
                </a:extLst>
              </a:tr>
              <a:tr h="640080">
                <a:tc>
                  <a:txBody>
                    <a:bodyPr/>
                    <a:lstStyle/>
                    <a:p>
                      <a:pPr marL="0" indent="0">
                        <a:buNone/>
                      </a:pPr>
                      <a:r>
                        <a:rPr lang="en-US" sz="1600" b="1" dirty="0">
                          <a:solidFill>
                            <a:srgbClr val="262626"/>
                          </a:solidFill>
                          <a:latin typeface="Calibri" pitchFamily="34" charset="0"/>
                          <a:ea typeface="Calibri" pitchFamily="34" charset="-122"/>
                          <a:cs typeface="Calibri" pitchFamily="34" charset="-120"/>
                        </a:rPr>
                        <a:t>Stack</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Python: numpy, scipy, pydantic, pandas, plotly, Streamlit. CLI, UI and report share one core</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extLst>
                  <a:ext uri="{0D108BD9-81ED-4DB2-BD59-A6C34878D82A}">
                    <a16:rowId xmlns:a16="http://schemas.microsoft.com/office/drawing/2014/main" val="10003"/>
                  </a:ext>
                </a:extLst>
              </a:tr>
              <a:tr h="640080">
                <a:tc>
                  <a:txBody>
                    <a:bodyPr/>
                    <a:lstStyle/>
                    <a:p>
                      <a:pPr marL="0" indent="0">
                        <a:buNone/>
                      </a:pPr>
                      <a:r>
                        <a:rPr lang="en-US" sz="1600" b="1" dirty="0">
                          <a:solidFill>
                            <a:srgbClr val="262626"/>
                          </a:solidFill>
                          <a:latin typeface="Calibri" pitchFamily="34" charset="0"/>
                          <a:ea typeface="Calibri" pitchFamily="34" charset="-122"/>
                          <a:cs typeface="Calibri" pitchFamily="34" charset="-120"/>
                        </a:rPr>
                        <a:t>No dataset</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Every value falls back to a stated assumption with its evidence level</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extLst>
                  <a:ext uri="{0D108BD9-81ED-4DB2-BD59-A6C34878D82A}">
                    <a16:rowId xmlns:a16="http://schemas.microsoft.com/office/drawing/2014/main" val="10004"/>
                  </a:ext>
                </a:extLst>
              </a:tr>
              <a:tr h="640080">
                <a:tc>
                  <a:txBody>
                    <a:bodyPr/>
                    <a:lstStyle/>
                    <a:p>
                      <a:pPr marL="0" indent="0">
                        <a:buNone/>
                      </a:pPr>
                      <a:r>
                        <a:rPr lang="en-US" sz="1600" b="1" dirty="0">
                          <a:solidFill>
                            <a:srgbClr val="262626"/>
                          </a:solidFill>
                          <a:latin typeface="Calibri" pitchFamily="34" charset="0"/>
                          <a:ea typeface="Calibri" pitchFamily="34" charset="-122"/>
                          <a:cs typeface="Calibri" pitchFamily="34" charset="-120"/>
                        </a:rPr>
                        <a:t>Rig safety</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 2S protected cells, inline fuse, fireproof bag, never unattended, hard cut-offs in firmware</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7772400" cy="274320"/>
          </a:xfrm>
          <a:prstGeom prst="rect">
            <a:avLst/>
          </a:prstGeom>
          <a:noFill/>
          <a:ln/>
        </p:spPr>
        <p:txBody>
          <a:bodyPr wrap="square" lIns="0" tIns="0" rIns="0" bIns="0" rtlCol="0" anchor="ctr"/>
          <a:lstStyle/>
          <a:p>
            <a:pPr marL="0" indent="0">
              <a:buNone/>
            </a:pPr>
            <a:r>
              <a:rPr lang="en-US" sz="1200" b="1" dirty="0">
                <a:solidFill>
                  <a:srgbClr val="1F4E79"/>
                </a:solidFill>
                <a:latin typeface="Calibri" pitchFamily="34" charset="0"/>
                <a:ea typeface="Calibri" pitchFamily="34" charset="-122"/>
                <a:cs typeface="Calibri" pitchFamily="34" charset="-120"/>
              </a:rPr>
              <a:t>Backup</a:t>
            </a:r>
            <a:endParaRPr lang="en-US" sz="1200" dirty="0"/>
          </a:p>
        </p:txBody>
      </p:sp>
      <p:sp>
        <p:nvSpPr>
          <p:cNvPr id="3" name="Text 1"/>
          <p:cNvSpPr/>
          <p:nvPr/>
        </p:nvSpPr>
        <p:spPr>
          <a:xfrm>
            <a:off x="7985455" y="274320"/>
            <a:ext cx="3657600" cy="274320"/>
          </a:xfrm>
          <a:prstGeom prst="rect">
            <a:avLst/>
          </a:prstGeom>
          <a:noFill/>
          <a:ln/>
        </p:spPr>
        <p:txBody>
          <a:bodyPr wrap="square" lIns="0" tIns="0" rIns="0" bIns="0" rtlCol="0" anchor="ctr"/>
          <a:lstStyle/>
          <a:p>
            <a:pPr marL="0" indent="0" algn="r">
              <a:buNone/>
            </a:pPr>
            <a:r>
              <a:rPr lang="en-US" sz="1200" dirty="0">
                <a:solidFill>
                  <a:srgbClr val="6B7280"/>
                </a:solidFill>
                <a:latin typeface="Calibri" pitchFamily="34" charset="0"/>
                <a:ea typeface="Calibri" pitchFamily="34" charset="-122"/>
                <a:cs typeface="Calibri" pitchFamily="34" charset="-120"/>
              </a:rPr>
              <a:t>Appendix A8 · Engineering quality</a:t>
            </a:r>
            <a:endParaRPr lang="en-US" sz="1200" dirty="0"/>
          </a:p>
        </p:txBody>
      </p:sp>
      <p:sp>
        <p:nvSpPr>
          <p:cNvPr id="4" name="Text 2"/>
          <p:cNvSpPr/>
          <p:nvPr/>
        </p:nvSpPr>
        <p:spPr>
          <a:xfrm>
            <a:off x="548640" y="621792"/>
            <a:ext cx="11094415" cy="914400"/>
          </a:xfrm>
          <a:prstGeom prst="rect">
            <a:avLst/>
          </a:prstGeom>
          <a:noFill/>
          <a:ln/>
        </p:spPr>
        <p:txBody>
          <a:bodyPr wrap="square" lIns="0" tIns="0" rIns="0" bIns="0" rtlCol="0" anchor="t"/>
          <a:lstStyle/>
          <a:p>
            <a:pPr marL="0" indent="0">
              <a:buNone/>
            </a:pPr>
            <a:r>
              <a:rPr lang="en-US" sz="2600" b="1" dirty="0">
                <a:solidFill>
                  <a:srgbClr val="1F4E79"/>
                </a:solidFill>
                <a:latin typeface="Calibri" pitchFamily="34" charset="0"/>
                <a:ea typeface="Calibri" pitchFamily="34" charset="-122"/>
                <a:cs typeface="Calibri" pitchFamily="34" charset="-120"/>
              </a:rPr>
              <a:t>A8 · The cell is an equivalent circuit with one RC branch, fitted to the proxy cell</a:t>
            </a:r>
            <a:endParaRPr lang="en-US" sz="2600" dirty="0"/>
          </a:p>
        </p:txBody>
      </p:sp>
      <p:sp>
        <p:nvSpPr>
          <p:cNvPr id="5" name="Text 3"/>
          <p:cNvSpPr/>
          <p:nvPr/>
        </p:nvSpPr>
        <p:spPr>
          <a:xfrm>
            <a:off x="548640" y="6355080"/>
            <a:ext cx="10058400" cy="274320"/>
          </a:xfrm>
          <a:prstGeom prst="rect">
            <a:avLst/>
          </a:prstGeom>
          <a:noFill/>
          <a:ln/>
        </p:spPr>
        <p:txBody>
          <a:bodyPr wrap="square" lIns="0" tIns="0" rIns="0" bIns="0" rtlCol="0" anchor="ctr"/>
          <a:lstStyle/>
          <a:p>
            <a:pPr marL="0" indent="0">
              <a:buNone/>
            </a:pPr>
            <a:r>
              <a:rPr lang="en-US" sz="1200" dirty="0">
                <a:solidFill>
                  <a:srgbClr val="6B7280"/>
                </a:solidFill>
                <a:latin typeface="Calibri" pitchFamily="34" charset="0"/>
                <a:ea typeface="Calibri" pitchFamily="34" charset="-122"/>
                <a:cs typeface="Calibri" pitchFamily="34" charset="-120"/>
              </a:rPr>
              <a:t>Source: data/validation/calibration_nmc21700_5ah.json. Test-rig cooling is fitted but never carried over to a pack.</a:t>
            </a:r>
            <a:endParaRPr lang="en-US" sz="1200" dirty="0"/>
          </a:p>
        </p:txBody>
      </p:sp>
      <p:sp>
        <p:nvSpPr>
          <p:cNvPr id="6" name="Text 4"/>
          <p:cNvSpPr/>
          <p:nvPr/>
        </p:nvSpPr>
        <p:spPr>
          <a:xfrm>
            <a:off x="10911535" y="6355080"/>
            <a:ext cx="731520" cy="274320"/>
          </a:xfrm>
          <a:prstGeom prst="rect">
            <a:avLst/>
          </a:prstGeom>
          <a:noFill/>
          <a:ln/>
        </p:spPr>
        <p:txBody>
          <a:bodyPr wrap="square" lIns="0" tIns="0" rIns="0" bIns="0" rtlCol="0" anchor="ctr"/>
          <a:lstStyle/>
          <a:p>
            <a:pPr marL="0" indent="0" algn="r">
              <a:buNone/>
            </a:pPr>
            <a:r>
              <a:rPr lang="en-US" sz="1200" dirty="0">
                <a:solidFill>
                  <a:srgbClr val="6B7280"/>
                </a:solidFill>
                <a:latin typeface="Calibri" pitchFamily="34" charset="0"/>
                <a:ea typeface="Calibri" pitchFamily="34" charset="-122"/>
                <a:cs typeface="Calibri" pitchFamily="34" charset="-120"/>
              </a:rPr>
              <a:t>22</a:t>
            </a:r>
            <a:endParaRPr lang="en-US" sz="1200" dirty="0"/>
          </a:p>
        </p:txBody>
      </p:sp>
      <p:sp>
        <p:nvSpPr>
          <p:cNvPr id="7" name="Text 5"/>
          <p:cNvSpPr/>
          <p:nvPr/>
        </p:nvSpPr>
        <p:spPr>
          <a:xfrm>
            <a:off x="548640" y="1783080"/>
            <a:ext cx="5760720" cy="4389120"/>
          </a:xfrm>
          <a:prstGeom prst="rect">
            <a:avLst/>
          </a:prstGeom>
          <a:noFill/>
          <a:ln/>
        </p:spPr>
        <p:txBody>
          <a:bodyPr wrap="square" lIns="0" tIns="0" rIns="0" bIns="0" rtlCol="0" anchor="t"/>
          <a:lstStyle/>
          <a:p>
            <a:pPr marL="342900" indent="-342900">
              <a:spcAft>
                <a:spcPts val="1400"/>
              </a:spcAft>
              <a:buSzPct val="100000"/>
              <a:buChar char="•"/>
            </a:pPr>
            <a:r>
              <a:rPr lang="en-US" sz="1800" dirty="0">
                <a:solidFill>
                  <a:srgbClr val="262626"/>
                </a:solidFill>
                <a:latin typeface="Calibri" pitchFamily="34" charset="0"/>
                <a:ea typeface="Calibri" pitchFamily="34" charset="-122"/>
                <a:cs typeface="Calibri" pitchFamily="34" charset="-120"/>
              </a:rPr>
              <a:t>Cell: OCV(SOC) + R0 + one RC branch; R0 and R1 scale with Arrhenius temperature</a:t>
            </a:r>
            <a:endParaRPr lang="en-US" sz="1800" dirty="0"/>
          </a:p>
          <a:p>
            <a:pPr marL="342900" indent="-342900">
              <a:spcAft>
                <a:spcPts val="1400"/>
              </a:spcAft>
              <a:buSzPct val="100000"/>
              <a:buChar char="•"/>
            </a:pPr>
            <a:r>
              <a:rPr lang="en-US" sz="1800" dirty="0">
                <a:solidFill>
                  <a:srgbClr val="262626"/>
                </a:solidFill>
                <a:latin typeface="Calibri" pitchFamily="34" charset="0"/>
                <a:ea typeface="Calibri" pitchFamily="34" charset="-122"/>
                <a:cs typeface="Calibri" pitchFamily="34" charset="-120"/>
              </a:rPr>
              <a:t>Heat per cell: I²R0 + V_rc²/R1</a:t>
            </a:r>
            <a:endParaRPr lang="en-US" sz="1800" dirty="0"/>
          </a:p>
          <a:p>
            <a:pPr marL="342900" indent="-342900">
              <a:spcAft>
                <a:spcPts val="1400"/>
              </a:spcAft>
              <a:buSzPct val="100000"/>
              <a:buChar char="•"/>
            </a:pPr>
            <a:r>
              <a:rPr lang="en-US" sz="1800" dirty="0">
                <a:solidFill>
                  <a:srgbClr val="262626"/>
                </a:solidFill>
                <a:latin typeface="Calibri" pitchFamily="34" charset="0"/>
                <a:ea typeface="Calibri" pitchFamily="34" charset="-122"/>
                <a:cs typeface="Calibri" pitchFamily="34" charset="-120"/>
              </a:rPr>
              <a:t>Thermal: one node per cell; loss h_eff × surface; 4‑neighbour conduction</a:t>
            </a:r>
            <a:endParaRPr lang="en-US" sz="1800" dirty="0"/>
          </a:p>
          <a:p>
            <a:pPr marL="342900" indent="-342900">
              <a:spcAft>
                <a:spcPts val="1400"/>
              </a:spcAft>
              <a:buSzPct val="100000"/>
              <a:buChar char="•"/>
            </a:pPr>
            <a:r>
              <a:rPr lang="en-US" sz="1800" dirty="0">
                <a:solidFill>
                  <a:srgbClr val="262626"/>
                </a:solidFill>
                <a:latin typeface="Calibri" pitchFamily="34" charset="0"/>
                <a:ea typeface="Calibri" pitchFamily="34" charset="-122"/>
                <a:cs typeface="Calibri" pitchFamily="34" charset="-120"/>
              </a:rPr>
              <a:t>BMS: CC-CV, derating on sensors or observer; OV, UV and OT protection</a:t>
            </a:r>
            <a:endParaRPr lang="en-US" sz="18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720840" y="1783080"/>
          <a:ext cx="4919472" cy="2514600"/>
        </p:xfrm>
        <a:graphic>
          <a:graphicData uri="http://schemas.openxmlformats.org/drawingml/2006/table">
            <a:tbl>
              <a:tblPr/>
              <a:tblGrid>
                <a:gridCol w="1737360">
                  <a:extLst>
                    <a:ext uri="{9D8B030D-6E8A-4147-A177-3AD203B41FA5}">
                      <a16:colId xmlns:a16="http://schemas.microsoft.com/office/drawing/2014/main" val="20000"/>
                    </a:ext>
                  </a:extLst>
                </a:gridCol>
                <a:gridCol w="1591056">
                  <a:extLst>
                    <a:ext uri="{9D8B030D-6E8A-4147-A177-3AD203B41FA5}">
                      <a16:colId xmlns:a16="http://schemas.microsoft.com/office/drawing/2014/main" val="20001"/>
                    </a:ext>
                  </a:extLst>
                </a:gridCol>
                <a:gridCol w="1591056">
                  <a:extLst>
                    <a:ext uri="{9D8B030D-6E8A-4147-A177-3AD203B41FA5}">
                      <a16:colId xmlns:a16="http://schemas.microsoft.com/office/drawing/2014/main" val="20002"/>
                    </a:ext>
                  </a:extLst>
                </a:gridCol>
              </a:tblGrid>
              <a:tr h="502920">
                <a:tc>
                  <a:txBody>
                    <a:bodyPr/>
                    <a:lstStyle/>
                    <a:p>
                      <a:pPr marL="0" indent="0">
                        <a:buNone/>
                      </a:pPr>
                      <a:r>
                        <a:rPr lang="en-US" sz="1600" b="1" dirty="0">
                          <a:solidFill>
                            <a:srgbClr val="FFFFFF"/>
                          </a:solidFill>
                          <a:latin typeface="Calibri" pitchFamily="34" charset="0"/>
                          <a:ea typeface="Calibri" pitchFamily="34" charset="-122"/>
                          <a:cs typeface="Calibri" pitchFamily="34" charset="-120"/>
                        </a:rPr>
                        <a:t>Parameter</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solidFill>
                      <a:srgbClr val="1F4E79"/>
                    </a:solidFill>
                  </a:tcPr>
                </a:tc>
                <a:tc>
                  <a:txBody>
                    <a:bodyPr/>
                    <a:lstStyle/>
                    <a:p>
                      <a:pPr marL="0" indent="0">
                        <a:buNone/>
                      </a:pPr>
                      <a:r>
                        <a:rPr lang="en-US" sz="1600" b="1" dirty="0">
                          <a:solidFill>
                            <a:srgbClr val="FFFFFF"/>
                          </a:solidFill>
                          <a:latin typeface="Calibri" pitchFamily="34" charset="0"/>
                          <a:ea typeface="Calibri" pitchFamily="34" charset="-122"/>
                          <a:cs typeface="Calibri" pitchFamily="34" charset="-120"/>
                        </a:rPr>
                        <a:t>Generic</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solidFill>
                      <a:srgbClr val="1F4E79"/>
                    </a:solidFill>
                  </a:tcPr>
                </a:tc>
                <a:tc>
                  <a:txBody>
                    <a:bodyPr/>
                    <a:lstStyle/>
                    <a:p>
                      <a:pPr marL="0" indent="0">
                        <a:buNone/>
                      </a:pPr>
                      <a:r>
                        <a:rPr lang="en-US" sz="1600" b="1" dirty="0">
                          <a:solidFill>
                            <a:srgbClr val="FFFFFF"/>
                          </a:solidFill>
                          <a:latin typeface="Calibri" pitchFamily="34" charset="0"/>
                          <a:ea typeface="Calibri" pitchFamily="34" charset="-122"/>
                          <a:cs typeface="Calibri" pitchFamily="34" charset="-120"/>
                        </a:rPr>
                        <a:t>Calibrated</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solidFill>
                      <a:srgbClr val="1F4E79"/>
                    </a:solidFill>
                  </a:tcPr>
                </a:tc>
                <a:extLst>
                  <a:ext uri="{0D108BD9-81ED-4DB2-BD59-A6C34878D82A}">
                    <a16:rowId xmlns:a16="http://schemas.microsoft.com/office/drawing/2014/main" val="10000"/>
                  </a:ext>
                </a:extLst>
              </a:tr>
              <a:tr h="502920">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R0</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0.020 Ω</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0.0267 Ω</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extLst>
                  <a:ext uri="{0D108BD9-81ED-4DB2-BD59-A6C34878D82A}">
                    <a16:rowId xmlns:a16="http://schemas.microsoft.com/office/drawing/2014/main" val="10001"/>
                  </a:ext>
                </a:extLst>
              </a:tr>
              <a:tr h="502920">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R1</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0.012 Ω</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0.0230 Ω</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extLst>
                  <a:ext uri="{0D108BD9-81ED-4DB2-BD59-A6C34878D82A}">
                    <a16:rowId xmlns:a16="http://schemas.microsoft.com/office/drawing/2014/main" val="10002"/>
                  </a:ext>
                </a:extLst>
              </a:tr>
              <a:tr h="502920">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τ</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30 s</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46 s</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extLst>
                  <a:ext uri="{0D108BD9-81ED-4DB2-BD59-A6C34878D82A}">
                    <a16:rowId xmlns:a16="http://schemas.microsoft.com/office/drawing/2014/main" val="10003"/>
                  </a:ext>
                </a:extLst>
              </a:tr>
              <a:tr h="502920">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Capacity</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5.0 Ah</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tc>
                  <a:txBody>
                    <a:bodyPr/>
                    <a:lstStyle/>
                    <a:p>
                      <a:pPr marL="0" indent="0">
                        <a:buNone/>
                      </a:pPr>
                      <a:r>
                        <a:rPr lang="en-US" sz="1600" dirty="0">
                          <a:solidFill>
                            <a:srgbClr val="262626"/>
                          </a:solidFill>
                          <a:latin typeface="Calibri" pitchFamily="34" charset="0"/>
                          <a:ea typeface="Calibri" pitchFamily="34" charset="-122"/>
                          <a:cs typeface="Calibri" pitchFamily="34" charset="-120"/>
                        </a:rPr>
                        <a:t>4.874 Ah</a:t>
                      </a:r>
                      <a:endParaRPr lang="en-US" sz="1600" dirty="0">
                        <a:latin typeface="Calibri" charset="0"/>
                        <a:ea typeface="Calibri" charset="0"/>
                        <a:cs typeface="Calibri" charset="0"/>
                      </a:endParaRPr>
                    </a:p>
                  </a:txBody>
                  <a:tcPr marT="36576" marB="36576" anchor="ctr">
                    <a:lnL w="9525" cap="flat" cmpd="sng" algn="ctr">
                      <a:solidFill>
                        <a:srgbClr val="D0D5DB"/>
                      </a:solidFill>
                      <a:prstDash val="solid"/>
                      <a:round/>
                      <a:headEnd type="none" w="med" len="med"/>
                      <a:tailEnd type="none" w="med" len="med"/>
                    </a:lnL>
                    <a:lnR w="9525" cap="flat" cmpd="sng" algn="ctr">
                      <a:solidFill>
                        <a:srgbClr val="D0D5DB"/>
                      </a:solidFill>
                      <a:prstDash val="solid"/>
                      <a:round/>
                      <a:headEnd type="none" w="med" len="med"/>
                      <a:tailEnd type="none" w="med" len="med"/>
                    </a:lnR>
                    <a:lnT w="9525" cap="flat" cmpd="sng" algn="ctr">
                      <a:solidFill>
                        <a:srgbClr val="D0D5DB"/>
                      </a:solidFill>
                      <a:prstDash val="solid"/>
                      <a:round/>
                      <a:headEnd type="none" w="med" len="med"/>
                      <a:tailEnd type="none" w="med" len="med"/>
                    </a:lnT>
                    <a:lnB w="9525" cap="flat" cmpd="sng" algn="ctr">
                      <a:solidFill>
                        <a:srgbClr val="D0D5DB"/>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7772400" cy="274320"/>
          </a:xfrm>
          <a:prstGeom prst="rect">
            <a:avLst/>
          </a:prstGeom>
          <a:noFill/>
          <a:ln/>
        </p:spPr>
        <p:txBody>
          <a:bodyPr wrap="square" lIns="0" tIns="0" rIns="0" bIns="0" rtlCol="0" anchor="ctr"/>
          <a:lstStyle/>
          <a:p>
            <a:pPr marL="0" indent="0">
              <a:buNone/>
            </a:pPr>
            <a:r>
              <a:rPr lang="en-US" sz="1200" b="1" dirty="0">
                <a:solidFill>
                  <a:srgbClr val="1F4E79"/>
                </a:solidFill>
                <a:latin typeface="Calibri" pitchFamily="34" charset="0"/>
                <a:ea typeface="Calibri" pitchFamily="34" charset="-122"/>
                <a:cs typeface="Calibri" pitchFamily="34" charset="-120"/>
              </a:rPr>
              <a:t>Backup</a:t>
            </a:r>
            <a:endParaRPr lang="en-US" sz="1200" dirty="0"/>
          </a:p>
        </p:txBody>
      </p:sp>
      <p:sp>
        <p:nvSpPr>
          <p:cNvPr id="3" name="Text 1"/>
          <p:cNvSpPr/>
          <p:nvPr/>
        </p:nvSpPr>
        <p:spPr>
          <a:xfrm>
            <a:off x="7985455" y="274320"/>
            <a:ext cx="3657600" cy="274320"/>
          </a:xfrm>
          <a:prstGeom prst="rect">
            <a:avLst/>
          </a:prstGeom>
          <a:noFill/>
          <a:ln/>
        </p:spPr>
        <p:txBody>
          <a:bodyPr wrap="square" lIns="0" tIns="0" rIns="0" bIns="0" rtlCol="0" anchor="ctr"/>
          <a:lstStyle/>
          <a:p>
            <a:pPr marL="0" indent="0" algn="r">
              <a:buNone/>
            </a:pPr>
            <a:r>
              <a:rPr lang="en-US" sz="1200" dirty="0">
                <a:solidFill>
                  <a:srgbClr val="6B7280"/>
                </a:solidFill>
                <a:latin typeface="Calibri" pitchFamily="34" charset="0"/>
                <a:ea typeface="Calibri" pitchFamily="34" charset="-122"/>
                <a:cs typeface="Calibri" pitchFamily="34" charset="-120"/>
              </a:rPr>
              <a:t>Appendix A9 · Engineering quality</a:t>
            </a:r>
            <a:endParaRPr lang="en-US" sz="1200" dirty="0"/>
          </a:p>
        </p:txBody>
      </p:sp>
      <p:sp>
        <p:nvSpPr>
          <p:cNvPr id="4" name="Text 2"/>
          <p:cNvSpPr/>
          <p:nvPr/>
        </p:nvSpPr>
        <p:spPr>
          <a:xfrm>
            <a:off x="548640" y="621792"/>
            <a:ext cx="11094415" cy="914400"/>
          </a:xfrm>
          <a:prstGeom prst="rect">
            <a:avLst/>
          </a:prstGeom>
          <a:noFill/>
          <a:ln/>
        </p:spPr>
        <p:txBody>
          <a:bodyPr wrap="square" lIns="0" tIns="0" rIns="0" bIns="0" rtlCol="0" anchor="t"/>
          <a:lstStyle/>
          <a:p>
            <a:pPr marL="0" indent="0">
              <a:buNone/>
            </a:pPr>
            <a:r>
              <a:rPr lang="en-US" sz="2600" b="1" dirty="0">
                <a:solidFill>
                  <a:srgbClr val="1F4E79"/>
                </a:solidFill>
                <a:latin typeface="Calibri" pitchFamily="34" charset="0"/>
                <a:ea typeface="Calibri" pitchFamily="34" charset="-122"/>
                <a:cs typeface="Calibri" pitchFamily="34" charset="-120"/>
              </a:rPr>
              <a:t>A9 · Known limits: proxy cell, lumped thermal model, unvalidated LFP and ageing</a:t>
            </a:r>
            <a:endParaRPr lang="en-US" sz="2600" dirty="0"/>
          </a:p>
        </p:txBody>
      </p:sp>
      <p:sp>
        <p:nvSpPr>
          <p:cNvPr id="5" name="Text 3"/>
          <p:cNvSpPr/>
          <p:nvPr/>
        </p:nvSpPr>
        <p:spPr>
          <a:xfrm>
            <a:off x="548640" y="6355080"/>
            <a:ext cx="10058400" cy="274320"/>
          </a:xfrm>
          <a:prstGeom prst="rect">
            <a:avLst/>
          </a:prstGeom>
          <a:noFill/>
          <a:ln/>
        </p:spPr>
        <p:txBody>
          <a:bodyPr wrap="square" lIns="0" tIns="0" rIns="0" bIns="0" rtlCol="0" anchor="ctr"/>
          <a:lstStyle/>
          <a:p>
            <a:pPr marL="0" indent="0">
              <a:buNone/>
            </a:pPr>
            <a:r>
              <a:rPr lang="en-US" sz="1200" dirty="0">
                <a:solidFill>
                  <a:srgbClr val="6B7280"/>
                </a:solidFill>
                <a:latin typeface="Calibri" pitchFamily="34" charset="0"/>
                <a:ea typeface="Calibri" pitchFamily="34" charset="-122"/>
                <a:cs typeface="Calibri" pitchFamily="34" charset="-120"/>
              </a:rPr>
              <a:t>Source: ROADMAP.md, known limitations</a:t>
            </a:r>
            <a:endParaRPr lang="en-US" sz="1200" dirty="0"/>
          </a:p>
        </p:txBody>
      </p:sp>
      <p:sp>
        <p:nvSpPr>
          <p:cNvPr id="6" name="Text 4"/>
          <p:cNvSpPr/>
          <p:nvPr/>
        </p:nvSpPr>
        <p:spPr>
          <a:xfrm>
            <a:off x="10911535" y="6355080"/>
            <a:ext cx="731520" cy="274320"/>
          </a:xfrm>
          <a:prstGeom prst="rect">
            <a:avLst/>
          </a:prstGeom>
          <a:noFill/>
          <a:ln/>
        </p:spPr>
        <p:txBody>
          <a:bodyPr wrap="square" lIns="0" tIns="0" rIns="0" bIns="0" rtlCol="0" anchor="ctr"/>
          <a:lstStyle/>
          <a:p>
            <a:pPr marL="0" indent="0" algn="r">
              <a:buNone/>
            </a:pPr>
            <a:r>
              <a:rPr lang="en-US" sz="1200" dirty="0">
                <a:solidFill>
                  <a:srgbClr val="6B7280"/>
                </a:solidFill>
                <a:latin typeface="Calibri" pitchFamily="34" charset="0"/>
                <a:ea typeface="Calibri" pitchFamily="34" charset="-122"/>
                <a:cs typeface="Calibri" pitchFamily="34" charset="-120"/>
              </a:rPr>
              <a:t>23</a:t>
            </a:r>
            <a:endParaRPr lang="en-US" sz="1200" dirty="0"/>
          </a:p>
        </p:txBody>
      </p:sp>
      <p:sp>
        <p:nvSpPr>
          <p:cNvPr id="7" name="Text 5"/>
          <p:cNvSpPr/>
          <p:nvPr/>
        </p:nvSpPr>
        <p:spPr>
          <a:xfrm>
            <a:off x="548640" y="1600200"/>
            <a:ext cx="5358384" cy="365760"/>
          </a:xfrm>
          <a:prstGeom prst="rect">
            <a:avLst/>
          </a:prstGeom>
          <a:noFill/>
          <a:ln/>
        </p:spPr>
        <p:txBody>
          <a:bodyPr wrap="square" lIns="0" tIns="0" rIns="0" bIns="0" rtlCol="0" anchor="ctr"/>
          <a:lstStyle/>
          <a:p>
            <a:pPr marL="0" indent="0">
              <a:buNone/>
            </a:pPr>
            <a:r>
              <a:rPr lang="en-US" sz="1800" b="1" dirty="0">
                <a:solidFill>
                  <a:srgbClr val="1F4E79"/>
                </a:solidFill>
                <a:latin typeface="Calibri" pitchFamily="34" charset="0"/>
                <a:ea typeface="Calibri" pitchFamily="34" charset="-122"/>
                <a:cs typeface="Calibri" pitchFamily="34" charset="-120"/>
              </a:rPr>
              <a:t>Data and validation</a:t>
            </a:r>
            <a:endParaRPr lang="en-US" sz="1800" dirty="0"/>
          </a:p>
        </p:txBody>
      </p:sp>
      <p:sp>
        <p:nvSpPr>
          <p:cNvPr id="8" name="Text 6"/>
          <p:cNvSpPr/>
          <p:nvPr/>
        </p:nvSpPr>
        <p:spPr>
          <a:xfrm>
            <a:off x="548640" y="2103120"/>
            <a:ext cx="5358384" cy="411480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262626"/>
                </a:solidFill>
                <a:latin typeface="Calibri" pitchFamily="34" charset="0"/>
                <a:ea typeface="Calibri" pitchFamily="34" charset="-122"/>
                <a:cs typeface="Calibri" pitchFamily="34" charset="-120"/>
              </a:rPr>
              <a:t>NMC calibrated on a proxy cell in a chamber: single cells, not our cell, not a pack</a:t>
            </a:r>
            <a:endParaRPr lang="en-US" sz="1600" dirty="0"/>
          </a:p>
          <a:p>
            <a:pPr marL="342900" indent="-342900">
              <a:spcAft>
                <a:spcPts val="1000"/>
              </a:spcAft>
              <a:buSzPct val="100000"/>
              <a:buChar char="•"/>
            </a:pPr>
            <a:r>
              <a:rPr lang="en-US" sz="1600" dirty="0">
                <a:solidFill>
                  <a:srgbClr val="262626"/>
                </a:solidFill>
                <a:latin typeface="Calibri" pitchFamily="34" charset="0"/>
                <a:ea typeface="Calibri" pitchFamily="34" charset="-122"/>
                <a:cs typeface="Calibri" pitchFamily="34" charset="-120"/>
              </a:rPr>
              <a:t>Temperature rise under-predicted ~2×: covered by the 2× re-run, not fixed</a:t>
            </a:r>
            <a:endParaRPr lang="en-US" sz="1600" dirty="0"/>
          </a:p>
          <a:p>
            <a:pPr marL="342900" indent="-342900">
              <a:spcAft>
                <a:spcPts val="1000"/>
              </a:spcAft>
              <a:buSzPct val="100000"/>
              <a:buChar char="•"/>
            </a:pPr>
            <a:r>
              <a:rPr lang="en-US" sz="1600" dirty="0">
                <a:solidFill>
                  <a:srgbClr val="262626"/>
                </a:solidFill>
                <a:latin typeface="Calibri" pitchFamily="34" charset="0"/>
                <a:ea typeface="Calibri" pitchFamily="34" charset="-122"/>
                <a:cs typeface="Calibri" pitchFamily="34" charset="-120"/>
              </a:rPr>
              <a:t>LFP cell, costs and masses are generic class values; LFP not validated</a:t>
            </a:r>
            <a:endParaRPr lang="en-US" sz="1600" dirty="0"/>
          </a:p>
          <a:p>
            <a:pPr marL="342900" indent="-342900">
              <a:spcAft>
                <a:spcPts val="1000"/>
              </a:spcAft>
              <a:buSzPct val="100000"/>
              <a:buChar char="•"/>
            </a:pPr>
            <a:r>
              <a:rPr lang="en-US" sz="1600" dirty="0">
                <a:solidFill>
                  <a:srgbClr val="262626"/>
                </a:solidFill>
                <a:latin typeface="Calibri" pitchFamily="34" charset="0"/>
                <a:ea typeface="Calibri" pitchFamily="34" charset="-122"/>
                <a:cs typeface="Calibri" pitchFamily="34" charset="-120"/>
              </a:rPr>
              <a:t>Ageing is a rule of thumb, not validated</a:t>
            </a:r>
            <a:endParaRPr lang="en-US" sz="1600" dirty="0"/>
          </a:p>
          <a:p>
            <a:pPr marL="342900" indent="-342900">
              <a:spcAft>
                <a:spcPts val="1000"/>
              </a:spcAft>
              <a:buSzPct val="100000"/>
              <a:buChar char="•"/>
            </a:pPr>
            <a:r>
              <a:rPr lang="en-US" sz="1600" dirty="0">
                <a:solidFill>
                  <a:srgbClr val="262626"/>
                </a:solidFill>
                <a:latin typeface="Calibri" pitchFamily="34" charset="0"/>
                <a:ea typeface="Calibri" pitchFamily="34" charset="-122"/>
                <a:cs typeface="Calibri" pitchFamily="34" charset="-120"/>
              </a:rPr>
              <a:t>Below 10 % SOC the voltage error grows to ~0.1–0.9 V</a:t>
            </a:r>
            <a:endParaRPr lang="en-US" sz="1600" dirty="0"/>
          </a:p>
        </p:txBody>
      </p:sp>
      <p:sp>
        <p:nvSpPr>
          <p:cNvPr id="9" name="Text 7"/>
          <p:cNvSpPr/>
          <p:nvPr/>
        </p:nvSpPr>
        <p:spPr>
          <a:xfrm>
            <a:off x="6281928" y="1600200"/>
            <a:ext cx="5358384" cy="365760"/>
          </a:xfrm>
          <a:prstGeom prst="rect">
            <a:avLst/>
          </a:prstGeom>
          <a:noFill/>
          <a:ln/>
        </p:spPr>
        <p:txBody>
          <a:bodyPr wrap="square" lIns="0" tIns="0" rIns="0" bIns="0" rtlCol="0" anchor="ctr"/>
          <a:lstStyle/>
          <a:p>
            <a:pPr marL="0" indent="0">
              <a:buNone/>
            </a:pPr>
            <a:r>
              <a:rPr lang="en-US" sz="1800" b="1" dirty="0">
                <a:solidFill>
                  <a:srgbClr val="1F4E79"/>
                </a:solidFill>
                <a:latin typeface="Calibri" pitchFamily="34" charset="0"/>
                <a:ea typeface="Calibri" pitchFamily="34" charset="-122"/>
                <a:cs typeface="Calibri" pitchFamily="34" charset="-120"/>
              </a:rPr>
              <a:t>Model and scope</a:t>
            </a:r>
            <a:endParaRPr lang="en-US" sz="1800" dirty="0"/>
          </a:p>
        </p:txBody>
      </p:sp>
      <p:sp>
        <p:nvSpPr>
          <p:cNvPr id="10" name="Text 8"/>
          <p:cNvSpPr/>
          <p:nvPr/>
        </p:nvSpPr>
        <p:spPr>
          <a:xfrm>
            <a:off x="6281928" y="2103120"/>
            <a:ext cx="5358384" cy="411480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262626"/>
                </a:solidFill>
                <a:latin typeface="Calibri" pitchFamily="34" charset="0"/>
                <a:ea typeface="Calibri" pitchFamily="34" charset="-122"/>
                <a:cs typeface="Calibri" pitchFamily="34" charset="-120"/>
              </a:rPr>
              <a:t>Lumped thermal model with an effective h; no CFD, no enclosure air node</a:t>
            </a:r>
            <a:endParaRPr lang="en-US" sz="1600" dirty="0"/>
          </a:p>
          <a:p>
            <a:pPr marL="342900" indent="-342900">
              <a:spcAft>
                <a:spcPts val="1000"/>
              </a:spcAft>
              <a:buSzPct val="100000"/>
              <a:buChar char="•"/>
            </a:pPr>
            <a:r>
              <a:rPr lang="en-US" sz="1600" dirty="0">
                <a:solidFill>
                  <a:srgbClr val="262626"/>
                </a:solidFill>
                <a:latin typeface="Calibri" pitchFamily="34" charset="0"/>
                <a:ea typeface="Calibri" pitchFamily="34" charset="-122"/>
                <a:cs typeface="Calibri" pitchFamily="34" charset="-120"/>
              </a:rPr>
              <a:t>One node per cell; on the proxy cell the core runs up to 4.6 K above the surface</a:t>
            </a:r>
            <a:endParaRPr lang="en-US" sz="1600" dirty="0"/>
          </a:p>
          <a:p>
            <a:pPr marL="342900" indent="-342900">
              <a:spcAft>
                <a:spcPts val="1000"/>
              </a:spcAft>
              <a:buSzPct val="100000"/>
              <a:buChar char="•"/>
            </a:pPr>
            <a:r>
              <a:rPr lang="en-US" sz="1600" dirty="0">
                <a:solidFill>
                  <a:srgbClr val="262626"/>
                </a:solidFill>
                <a:latin typeface="Calibri" pitchFamily="34" charset="0"/>
                <a:ea typeface="Calibri" pitchFamily="34" charset="-122"/>
                <a:cs typeface="Calibri" pitchFamily="34" charset="-120"/>
              </a:rPr>
              <a:t>The observer shares the plant's model structure; real error will exceed the ±30 % tested</a:t>
            </a:r>
            <a:endParaRPr lang="en-US" sz="1600" dirty="0"/>
          </a:p>
          <a:p>
            <a:pPr marL="342900" indent="-342900">
              <a:spcAft>
                <a:spcPts val="1000"/>
              </a:spcAft>
              <a:buSzPct val="100000"/>
              <a:buChar char="•"/>
            </a:pPr>
            <a:r>
              <a:rPr lang="en-US" sz="1600" dirty="0">
                <a:solidFill>
                  <a:srgbClr val="262626"/>
                </a:solidFill>
                <a:latin typeface="Calibri" pitchFamily="34" charset="0"/>
                <a:ea typeface="Calibri" pitchFamily="34" charset="-122"/>
                <a:cs typeface="Calibri" pitchFamily="34" charset="-120"/>
              </a:rPr>
              <a:t>Synthetic drive profile, not a homologation cycle; one 48 V pack only</a:t>
            </a:r>
            <a:endParaRPr lang="en-US" sz="1600" dirty="0"/>
          </a:p>
          <a:p>
            <a:pPr marL="342900" indent="-342900">
              <a:spcAft>
                <a:spcPts val="1000"/>
              </a:spcAft>
              <a:buSzPct val="100000"/>
              <a:buChar char="•"/>
            </a:pPr>
            <a:r>
              <a:rPr lang="en-US" sz="1600" dirty="0">
                <a:solidFill>
                  <a:srgbClr val="262626"/>
                </a:solidFill>
                <a:latin typeface="Calibri" pitchFamily="34" charset="0"/>
                <a:ea typeface="Calibri" pitchFamily="34" charset="-122"/>
                <a:cs typeface="Calibri" pitchFamily="34" charset="-120"/>
              </a:rPr>
              <a:t>No design claimed AIS‑156 compliant (Amd. 3, Annex 8K asks for ≥ 4 sensors)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3699</Words>
  <Application>Microsoft Office PowerPoint</Application>
  <PresentationFormat>Widescreen</PresentationFormat>
  <Paragraphs>487</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PackForge: pitch</dc:title>
  <dc:subject>PptxGenJS Presentation</dc:subject>
  <dc:creator>Falak Anwar, Zaid Alam</dc:creator>
  <cp:lastModifiedBy>Erobren</cp:lastModifiedBy>
  <cp:revision>1</cp:revision>
  <dcterms:created xsi:type="dcterms:W3CDTF">2026-10-31T11:07:58Z</dcterms:created>
  <dcterms:modified xsi:type="dcterms:W3CDTF">2026-10-31T11:11:40Z</dcterms:modified>
</cp:coreProperties>
</file>