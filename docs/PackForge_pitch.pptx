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02B"/>
                </a:solidFill>
                <a:latin typeface="Calibri"/>
              </a:defRPr>
            </a:pPr>
            <a:r>
              <a:rPr sz="1300" b="0" i="0" u="none" strike="noStrike">
                <a:solidFill>
                  <a:srgbClr val="14202B"/>
                </a:solidFill>
                <a:latin typeface="Calibri"/>
              </a:rPr>
              <a:t>Charge time, plug-in → 80 % (min)</a:t>
            </a:r>
          </a:p>
        </c:rich>
      </c:tx>
      <c:layout/>
      <c:overlay val="0"/>
    </c:title>
    <c:autoTitleDeleted val="0"/>
    <c:plotArea>
      <c:layout/>
      <c:barChart>
        <c:barDir val="bar"/>
        <c:grouping val="stacked"/>
        <c:varyColors val="0"/>
        <c:ser>
          <c:idx val="0"/>
          <c:order val="0"/>
          <c:tx>
            <c:strRef>
              <c:f>Sheet1!$B$1</c:f>
              <c:strCache>
                <c:ptCount val="1"/>
                <c:pt idx="0">
                  <c:v>Thermal hold</c:v>
                </c:pt>
              </c:strCache>
            </c:strRef>
          </c:tx>
          <c:spPr>
            <a:solidFill>
              <a:srgbClr val="D9480F"/>
            </a:solidFill>
            <a:effectLst/>
          </c:spPr>
          <c:invertIfNegative val="0"/>
          <c:dLbls>
            <c:numFmt formatCode="0;;" sourceLinked="0"/>
            <c:txPr>
              <a:bodyPr/>
              <a:lstStyle/>
              <a:p>
                <a:pPr>
                  <a:defRPr b="0"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Baseline · 244 min</c:v>
                  </c:pt>
                  <c:pt idx="1">
                    <c:v>A: NMC + Al plate · 92 min</c:v>
                  </c:pt>
                  <c:pt idx="2">
                    <c:v>B: LFP 16S8P · 97 min</c:v>
                  </c:pt>
                  <c:pt idx="3">
                    <c:v>C: + observer · 277 min</c:v>
                  </c:pt>
                </c:lvl>
              </c:multiLvlStrCache>
            </c:multiLvlStrRef>
          </c:cat>
          <c:val>
            <c:numRef>
              <c:f>Sheet1!$B$2:$B$5</c:f>
              <c:numCache>
                <c:formatCode>General</c:formatCode>
                <c:ptCount val="4"/>
                <c:pt idx="0">
                  <c:v>48.2</c:v>
                </c:pt>
                <c:pt idx="1">
                  <c:v>0</c:v>
                </c:pt>
                <c:pt idx="2">
                  <c:v>0</c:v>
                </c:pt>
                <c:pt idx="3">
                  <c:v>89.5</c:v>
                </c:pt>
              </c:numCache>
            </c:numRef>
          </c:val>
        </c:ser>
        <c:ser>
          <c:idx val="1"/>
          <c:order val="1"/>
          <c:tx>
            <c:strRef>
              <c:f>Sheet1!$C$1</c:f>
              <c:strCache>
                <c:ptCount val="1"/>
                <c:pt idx="0">
                  <c:v>Charging</c:v>
                </c:pt>
              </c:strCache>
            </c:strRef>
          </c:tx>
          <c:spPr>
            <a:solidFill>
              <a:srgbClr val="2B6CB0"/>
            </a:solidFill>
            <a:effectLst/>
          </c:spPr>
          <c:invertIfNegative val="0"/>
          <c:dLbls>
            <c:numFmt formatCode="0;;" sourceLinked="0"/>
            <c:txPr>
              <a:bodyPr/>
              <a:lstStyle/>
              <a:p>
                <a:pPr>
                  <a:defRPr b="0"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Baseline · 244 min</c:v>
                  </c:pt>
                  <c:pt idx="1">
                    <c:v>A: NMC + Al plate · 92 min</c:v>
                  </c:pt>
                  <c:pt idx="2">
                    <c:v>B: LFP 16S8P · 97 min</c:v>
                  </c:pt>
                  <c:pt idx="3">
                    <c:v>C: + observer · 277 min</c:v>
                  </c:pt>
                </c:lvl>
              </c:multiLvlStrCache>
            </c:multiLvlStrRef>
          </c:cat>
          <c:val>
            <c:numRef>
              <c:f>Sheet1!$C$2:$C$5</c:f>
              <c:numCache>
                <c:formatCode>General</c:formatCode>
                <c:ptCount val="4"/>
                <c:pt idx="0">
                  <c:v>195.5</c:v>
                </c:pt>
                <c:pt idx="1">
                  <c:v>92.1</c:v>
                </c:pt>
                <c:pt idx="2">
                  <c:v>97.4</c:v>
                </c:pt>
                <c:pt idx="3">
                  <c:v>187.1</c:v>
                </c:pt>
              </c:numCache>
            </c:numRef>
          </c:val>
        </c:ser>
        <c:dLbls>
          <c:numFmt formatCode="0;;" sourceLinked="0"/>
          <c:txPr>
            <a:bodyPr/>
            <a:lstStyle/>
            <a:p>
              <a:pPr>
                <a:defRPr b="0" i="0" strike="noStrike" sz="11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02B"/>
                </a:solidFill>
                <a:latin typeface="Calibri"/>
              </a:defRPr>
            </a:pPr>
            <a:endParaRPr lang="en-US"/>
          </a:p>
        </c:txPr>
        <c:crossAx val="2094734552"/>
        <c:crosses val="autoZero"/>
        <c:auto val="1"/>
        <c:lblAlgn val="ctr"/>
        <c:noMultiLvlLbl val="1"/>
      </c:catAx>
      <c:valAx>
        <c:axId val="2094734552"/>
        <c:scaling>
          <c:orientation val="minMax"/>
          <c:max val="300"/>
        </c:scaling>
        <c:delete val="0"/>
        <c:axPos val="b"/>
        <c:majorGridlines>
          <c:spPr>
            <a:ln w="6350" cap="flat">
              <a:solidFill>
                <a:srgbClr val="E5E8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6717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02B"/>
                </a:solidFill>
                <a:latin typeface="Calibri"/>
              </a:defRPr>
            </a:pPr>
            <a:r>
              <a:rPr sz="1300" b="0" i="0" u="none" strike="noStrike">
                <a:solidFill>
                  <a:srgbClr val="14202B"/>
                </a:solidFill>
                <a:latin typeface="Calibri"/>
              </a:rPr>
              <a:t>Cost per usable kWh (₹)</a:t>
            </a:r>
          </a:p>
        </c:rich>
      </c:tx>
      <c:layout/>
      <c:overlay val="0"/>
    </c:title>
    <c:autoTitleDeleted val="0"/>
    <c:plotArea>
      <c:layout/>
      <c:barChart>
        <c:barDir val="bar"/>
        <c:grouping val="stacked"/>
        <c:varyColors val="0"/>
        <c:ser>
          <c:idx val="0"/>
          <c:order val="0"/>
          <c:tx>
            <c:strRef>
              <c:f>Sheet1!$B$1</c:f>
              <c:strCache>
                <c:ptCount val="1"/>
                <c:pt idx="0">
                  <c:v>B</c:v>
                </c:pt>
              </c:strCache>
            </c:strRef>
          </c:tx>
          <c:spPr>
            <a:solidFill>
              <a:srgbClr val="2B6CB0"/>
            </a:solidFill>
            <a:effectLst/>
          </c:spPr>
          <c:invertIfNegative val="0"/>
          <c:dLbls>
            <c:numFmt formatCode="#,##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B · LFP</c:v>
                  </c:pt>
                  <c:pt idx="1">
                    <c:v>Baseline / C</c:v>
                  </c:pt>
                  <c:pt idx="2">
                    <c:v>A · NMC + Al</c:v>
                  </c:pt>
                </c:lvl>
              </c:multiLvlStrCache>
            </c:multiLvlStrRef>
          </c:cat>
          <c:val>
            <c:numRef>
              <c:f>Sheet1!$B$2:$B$4</c:f>
              <c:numCache>
                <c:formatCode>General</c:formatCode>
                <c:ptCount val="3"/>
                <c:pt idx="0">
                  <c:v>18205</c:v>
                </c:pt>
                <c:pt idx="1">
                  <c:v>0</c:v>
                </c:pt>
                <c:pt idx="2">
                  <c:v>0</c:v>
                </c:pt>
              </c:numCache>
            </c:numRef>
          </c:val>
        </c:ser>
        <c:ser>
          <c:idx val="1"/>
          <c:order val="1"/>
          <c:tx>
            <c:strRef>
              <c:f>Sheet1!$C$1</c:f>
              <c:strCache>
                <c:ptCount val="1"/>
                <c:pt idx="0">
                  <c:v>Others</c:v>
                </c:pt>
              </c:strCache>
            </c:strRef>
          </c:tx>
          <c:spPr>
            <a:solidFill>
              <a:srgbClr val="A9B4BF"/>
            </a:solidFill>
            <a:effectLst/>
          </c:spPr>
          <c:invertIfNegative val="0"/>
          <c:dLbls>
            <c:numFmt formatCode="#,##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B · LFP</c:v>
                  </c:pt>
                  <c:pt idx="1">
                    <c:v>Baseline / C</c:v>
                  </c:pt>
                  <c:pt idx="2">
                    <c:v>A · NMC + Al</c:v>
                  </c:pt>
                </c:lvl>
              </c:multiLvlStrCache>
            </c:multiLvlStrRef>
          </c:cat>
          <c:val>
            <c:numRef>
              <c:f>Sheet1!$C$2:$C$4</c:f>
              <c:numCache>
                <c:formatCode>General</c:formatCode>
                <c:ptCount val="3"/>
                <c:pt idx="0">
                  <c:v>0</c:v>
                </c:pt>
                <c:pt idx="1">
                  <c:v>23149</c:v>
                </c:pt>
                <c:pt idx="2">
                  <c:v>24799</c:v>
                </c:pt>
              </c:numCache>
            </c:numRef>
          </c:val>
        </c:ser>
        <c:dLbls>
          <c:numFmt formatCode="#,##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02B"/>
                </a:solidFill>
                <a:latin typeface="Calibri"/>
              </a:defRPr>
            </a:pPr>
            <a:endParaRPr lang="en-US"/>
          </a:p>
        </c:txPr>
        <c:crossAx val="2094734552"/>
        <c:crosses val="autoZero"/>
        <c:auto val="1"/>
        <c:lblAlgn val="ctr"/>
        <c:noMultiLvlLbl val="1"/>
      </c:catAx>
      <c:valAx>
        <c:axId val="2094734552"/>
        <c:scaling>
          <c:orientation val="minMax"/>
          <c:max val="26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02B"/>
                </a:solidFill>
                <a:latin typeface="Calibri"/>
              </a:defRPr>
            </a:pPr>
            <a:r>
              <a:rPr sz="1300" b="0" i="0" u="none" strike="noStrike">
                <a:solidFill>
                  <a:srgbClr val="14202B"/>
                </a:solidFill>
                <a:latin typeface="Calibri"/>
              </a:rPr>
              <a:t>Estimated cycle life at 40 °C</a:t>
            </a:r>
          </a:p>
        </c:rich>
      </c:tx>
      <c:layout/>
      <c:overlay val="0"/>
    </c:title>
    <c:autoTitleDeleted val="0"/>
    <c:plotArea>
      <c:layout/>
      <c:barChart>
        <c:barDir val="bar"/>
        <c:grouping val="stacked"/>
        <c:varyColors val="0"/>
        <c:ser>
          <c:idx val="0"/>
          <c:order val="0"/>
          <c:tx>
            <c:strRef>
              <c:f>Sheet1!$B$1</c:f>
              <c:strCache>
                <c:ptCount val="1"/>
                <c:pt idx="0">
                  <c:v>B</c:v>
                </c:pt>
              </c:strCache>
            </c:strRef>
          </c:tx>
          <c:spPr>
            <a:solidFill>
              <a:srgbClr val="2B6CB0"/>
            </a:solidFill>
            <a:effectLst/>
          </c:spPr>
          <c:invertIfNegative val="0"/>
          <c:dLbls>
            <c:numFmt formatCode="#,##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B · LFP</c:v>
                  </c:pt>
                  <c:pt idx="1">
                    <c:v>A · NMC + Al</c:v>
                  </c:pt>
                  <c:pt idx="2">
                    <c:v>Baseline / C</c:v>
                  </c:pt>
                </c:lvl>
              </c:multiLvlStrCache>
            </c:multiLvlStrRef>
          </c:cat>
          <c:val>
            <c:numRef>
              <c:f>Sheet1!$B$2:$B$4</c:f>
              <c:numCache>
                <c:formatCode>General</c:formatCode>
                <c:ptCount val="3"/>
                <c:pt idx="0">
                  <c:v>1291</c:v>
                </c:pt>
                <c:pt idx="1">
                  <c:v>0</c:v>
                </c:pt>
                <c:pt idx="2">
                  <c:v>0</c:v>
                </c:pt>
              </c:numCache>
            </c:numRef>
          </c:val>
        </c:ser>
        <c:ser>
          <c:idx val="1"/>
          <c:order val="1"/>
          <c:tx>
            <c:strRef>
              <c:f>Sheet1!$C$1</c:f>
              <c:strCache>
                <c:ptCount val="1"/>
                <c:pt idx="0">
                  <c:v>Others</c:v>
                </c:pt>
              </c:strCache>
            </c:strRef>
          </c:tx>
          <c:spPr>
            <a:solidFill>
              <a:srgbClr val="A9B4BF"/>
            </a:solidFill>
            <a:effectLst/>
          </c:spPr>
          <c:invertIfNegative val="0"/>
          <c:dLbls>
            <c:numFmt formatCode="#,##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Sheet1!$A$2:$A$4</c:f>
              <c:multiLvlStrCache>
                <c:ptCount val="3"/>
                <c:lvl>
                  <c:pt idx="0">
                    <c:v>B · LFP</c:v>
                  </c:pt>
                  <c:pt idx="1">
                    <c:v>A · NMC + Al</c:v>
                  </c:pt>
                  <c:pt idx="2">
                    <c:v>Baseline / C</c:v>
                  </c:pt>
                </c:lvl>
              </c:multiLvlStrCache>
            </c:multiLvlStrRef>
          </c:cat>
          <c:val>
            <c:numRef>
              <c:f>Sheet1!$C$2:$C$4</c:f>
              <c:numCache>
                <c:formatCode>General</c:formatCode>
                <c:ptCount val="3"/>
                <c:pt idx="0">
                  <c:v>0</c:v>
                </c:pt>
                <c:pt idx="1">
                  <c:v>405</c:v>
                </c:pt>
                <c:pt idx="2">
                  <c:v>370</c:v>
                </c:pt>
              </c:numCache>
            </c:numRef>
          </c:val>
        </c:ser>
        <c:dLbls>
          <c:numFmt formatCode="#,##0;;" sourceLinked="0"/>
          <c:txPr>
            <a:bodyPr/>
            <a:lstStyle/>
            <a:p>
              <a:pPr>
                <a:defRPr b="1" i="0" strike="noStrike" sz="1100" u="none">
                  <a:solidFill>
                    <a:srgbClr val="FFFFFF"/>
                  </a:solidFill>
                  <a:latin typeface="Calibri"/>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02B"/>
                </a:solidFill>
                <a:latin typeface="Calibri"/>
              </a:defRPr>
            </a:pPr>
            <a:endParaRPr lang="en-US"/>
          </a:p>
        </c:txPr>
        <c:crossAx val="2094734552"/>
        <c:crosses val="autoZero"/>
        <c:auto val="1"/>
        <c:lblAlgn val="ctr"/>
        <c:noMultiLvlLbl val="1"/>
      </c:catAx>
      <c:valAx>
        <c:axId val="2094734552"/>
        <c:scaling>
          <c:orientation val="minMax"/>
          <c:max val="13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every e-scooter owner in an Indian summer faces: can I charge right after the ride? PackForge is a small, working, validated workbench that answers that for any pack design, before hardware is built. The picture is illustrative: a 13S10P pack, hot in the middle, with the two sensors the baseline BMS relies on sitting on cooler corner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understanding. The study is one 48 V e-scooter pack on the hardest realistic day: 40 °C ambient and plugged in straight after the ride. Must-requirements disqualify a design; should-requirements become stated risks. The shaded rows — charge temperature, charge time, blind spot — are where the baseline gets into trouble. Charge time is plug-in to 80 % including any thermal hold, because that is what the rider waits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ride the cells next to the sensors cool first, so the two NTCs under-read the hottest cell by 3.2 K. The BMS waits 48 minutes in a thermal hold — no current — then starts charging and derates on the NTCs, while interior cells reach 47.6 °C, above the 45 °C charge limit. No alarm, no trip: the BMS simply cannot see it. All three numbers come from the CLI run of the baseline. The drawing is illustrative; the simulated heat map is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40 °C ambient the 45 °C limit leaves only 5 K for every joule of charge heat. An independent hand calculation — the ideal profile for an interior cell: full current until it reaches the limit, then exactly the current that holds it there — says a passive NMC pack needs at least 139 minutes for 10 to 80 %, even from a cold start. The simulation gives 161 minutes after a ride. A test keeps the simulation within 0.95 to 1.3 times the bound on a cold start. No firmware can beat this floor; only moving heat out or making less of it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Desirability. Two users: students and new engineers learning trade-offs, and pack engineers screening options early. The pains: data split across tools, conflicts found late on hardware, and the hot-climate charging case that matters for Indian two-wheelers.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One design file is the single source of truth. Every design option is a small JSON file that extends the baseline with only its differences. The simulator runs the drive, then the charge from the drive’s end state, with a BMS that only knows what its sensors tell it. Every KPI carries an evidence level. The conflict checker turns failures into cause chains and fixes. Nothing here is specific to scooters: a new cell, study or rule is a data file, not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The NMC cell is calibrated on a proxy cell — the LG M50LT from the public TU Berlin internal-temperature dataset — not the cell we would buy. Fit at 25 and 35 °C, hold-out at 45 °C: 60 logs never used in the fit. Voltage error is 17–18 mV median in the operating window, so heat generation holds at an unseen temperature. Be upfront: the temperature rise is under-predicted about 2×, which is why the robustness run uses 2× heat. The chamber’s cooling is a test-rig parameter and is never transferred to a pack. The LFP cell used in Option B is not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quality. The model is deliberately simple and stated: an equivalent-circuit cell with one RC branch and Arrhenius scaling, and one thermal node per cell. What makes it trustworthy is the checks: heat balance within 2 %, energy within 0.9–1.06× of nominal, time-step convergence, an independent hand calculation, an observer robustness check, and 23 automated tests that guard all of it. Every placeholder value is an assumption with an ID that the traceability tab links to the results it affects.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study, same scenarios, four designs. The orange part of each bar is the thermal hold — time plugged in with no current. The baseline is disqualified: it charges at 47.6 °C. A adds an aluminium conduction plate and six centre NTCs; B switches to LFP; C keeps the baseline hardware and only changes the BMS to derate on a thermal observer — a virtual hotspot sensor. C is safe but slowest, because it honestly waits for the hotspot to cool. Calibrating the NMC cell changed the numbers (the hold went from 7 to 48 minutes) but not the ranking. Every number on this slide comes from the CLI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gives three answers, not one. B is recommended: the cheapest per kWh, about three times the cycle life, 97 minutes — but about 10 kg heavier and bulkier. If mass and volume are hard limits, A: plus ₹2.7 k and 1.2 kg, 92 minutes, and the most robust to extra heat. For the 2-NTC packs already on the road, C is a ₹0 firmware retrofit: it stops hot charging, but it is slower after a hot ride, 277 versus 244 minutes, because it honestly waits for the hotspot. Say clearly: we do not claim AIS-156 compliance for any design; the baseline and C have 2 sensors and Amendment 3, Annex 8K asks for at least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earns trust. Our recommended design, B, uses an LFP cell we have not validated — its numbers are generic class values. The hold-out check shows the model under-predicts temperature rise about 2×, so we re-run every design with cells generating twice the modelled heat, without telling the BMS. B then misses the charge limit by 0.02 K and A becomes the pick. That flip is live in the demo with the “Unmodelled heat ×” slider. The fix is cheap: one LFP charge test, run through the same fit pipeline — one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now. Follow docs/DEMO_SCRIPT.md: baseline after a ride; Option C; A versus B and the recommendation; the Validation tab replay of a 45 °C hold-out charge; the heat slider to 2×; download the report. If the app does not respond within about 10 seconds, switch to the backup clip and keep talking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Innovation. Five things a spreadsheet or a single-physics tool will not give you. The conflict checker explains causes across subsystems and proposes fixes. The blind-spot metric makes sensor placement a design variable. The virtual hotspot sensor is a firmware fix you can ship to packs already built. Monte Carlo shows what cell-to-cell spread does to a whole pack. And every number carries its evidence level, so a reviewer knows what is measured and what is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viability. B is the cheapest per usable kWh and lasts about three times as long in heat, by our estimates — say clearly these use generic class costs and a rule-of-thumb ageing model. C is worth money today: a ₹0 fix for packs already built. And the workbench itself saves prototypes: the blind spot showed up in the model, so a rig test only has to confirm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feasibility. Nothing here needs a cluster or a licence: the full study, including the robustness re-run, takes about 30 seconds on a laptop. The calibration uses a public dataset under CC BY 4.0. Any hardware test we do next stays low-voltage and supervised: at most 2S, protected cells, an inline fuse, a fireproof bag, never unattended, with hard cut-offs in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before the judges ask. The NMC evidence is measured on a proxy cell, not our cell and not a pack. The temperature rise is under-predicted about 2× — which is exactly why the robustness run exists. LFP is not validated. The thermal model is lumped, one node per cell. And we make no AIS-156 compliance claim for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decision, not the tool. Build B for new packs; keep A ready because it is the robust choice if the LFP cell runs hotter than modelled; and ship C to the packs already on the road, at no hardware cost. The next step is cheap and decisive: one LFP charge test through the same pipeline, then a pack-level log. Our ask is small and concrete: LFP cells and supervised rig time to run that test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questions if there is time. The dataset attribution is required by its CC BY 4.0 licence.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image" Target="../media/image-14-1.png"/><Relationship Id="rId4" Type="http://schemas.openxmlformats.org/officeDocument/2006/relationships/image" Target="../media/image-14-2.png"/><Relationship Id="rId5" Type="http://schemas.openxmlformats.org/officeDocument/2006/relationships/image" Target="../media/image-14-3.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doi.org/10.14279/depositonce-25110" TargetMode="External"/><Relationship Id="rId3" Type="http://schemas.openxmlformats.org/officeDocument/2006/relationships/hyperlink" Target="https://creativecommons.org/licenses/by/4.0/" TargetMode="External"/><Relationship Id="rId1" Type="http://schemas.openxmlformats.org/officeDocument/2006/relationships/image" Target="../media/image-18-1.png"/><Relationship Id="rId4" Type="http://schemas.openxmlformats.org/officeDocument/2006/relationships/image" Target="../media/image-18-2.png"/><Relationship Id="rId5" Type="http://schemas.openxmlformats.org/officeDocument/2006/relationships/image" Target="../media/image-18-3.png"/><Relationship Id="rId6" Type="http://schemas.openxmlformats.org/officeDocument/2006/relationships/image" Target="../media/image-18-4.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548640" y="548640"/>
            <a:ext cx="6858000" cy="320040"/>
          </a:xfrm>
          <a:prstGeom prst="rect">
            <a:avLst/>
          </a:prstGeom>
          <a:noFill/>
          <a:ln/>
        </p:spPr>
        <p:txBody>
          <a:bodyPr wrap="square" lIns="0" tIns="0" rIns="0" bIns="0" rtlCol="0" anchor="ctr"/>
          <a:lstStyle/>
          <a:p>
            <a:pPr indent="0" marL="0">
              <a:buNone/>
            </a:pPr>
            <a:r>
              <a:rPr lang="en-US" sz="1200" b="1" spc="200" kern="0" dirty="0">
                <a:solidFill>
                  <a:srgbClr val="F2874A"/>
                </a:solidFill>
                <a:latin typeface="Calibri" pitchFamily="34" charset="0"/>
                <a:ea typeface="Calibri" pitchFamily="34" charset="-122"/>
                <a:cs typeface="Calibri" pitchFamily="34" charset="-120"/>
              </a:rPr>
              <a:t>TELIPORT SEASON 4 · TATA ELXSI · CASE STUDY 2</a:t>
            </a:r>
            <a:endParaRPr lang="en-US" sz="1200" dirty="0"/>
          </a:p>
        </p:txBody>
      </p:sp>
      <p:sp>
        <p:nvSpPr>
          <p:cNvPr id="3" name="Text 1"/>
          <p:cNvSpPr/>
          <p:nvPr/>
        </p:nvSpPr>
        <p:spPr>
          <a:xfrm>
            <a:off x="548640" y="1874520"/>
            <a:ext cx="6035040" cy="109728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PackForge</a:t>
            </a:r>
            <a:endParaRPr lang="en-US" sz="6600" dirty="0"/>
          </a:p>
        </p:txBody>
      </p:sp>
      <p:sp>
        <p:nvSpPr>
          <p:cNvPr id="4" name="Text 2"/>
          <p:cNvSpPr/>
          <p:nvPr/>
        </p:nvSpPr>
        <p:spPr>
          <a:xfrm>
            <a:off x="548640" y="3017520"/>
            <a:ext cx="5669280" cy="1097280"/>
          </a:xfrm>
          <a:prstGeom prst="rect">
            <a:avLst/>
          </a:prstGeom>
          <a:noFill/>
          <a:ln/>
        </p:spPr>
        <p:txBody>
          <a:bodyPr wrap="square" lIns="0" tIns="0" rIns="0" bIns="0" rtlCol="0" anchor="t"/>
          <a:lstStyle/>
          <a:p>
            <a:pPr indent="0" marL="0">
              <a:buNone/>
            </a:pPr>
            <a:r>
              <a:rPr lang="en-US" sz="2000" dirty="0">
                <a:solidFill>
                  <a:srgbClr val="B9C4CC"/>
                </a:solidFill>
                <a:latin typeface="Calibri" pitchFamily="34" charset="0"/>
                <a:ea typeface="Calibri" pitchFamily="34" charset="-122"/>
                <a:cs typeface="Calibri" pitchFamily="34" charset="-120"/>
              </a:rPr>
              <a:t>A design workbench for battery packs that finds the hot-charge problem before the hardware does.</a:t>
            </a:r>
            <a:endParaRPr lang="en-US" sz="2000" dirty="0"/>
          </a:p>
        </p:txBody>
      </p:sp>
      <p:sp>
        <p:nvSpPr>
          <p:cNvPr id="5" name="Text 3"/>
          <p:cNvSpPr/>
          <p:nvPr/>
        </p:nvSpPr>
        <p:spPr>
          <a:xfrm>
            <a:off x="548640" y="5257800"/>
            <a:ext cx="5943600"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Falak Anwar · Zaid Alam</a:t>
            </a:r>
            <a:endParaRPr lang="en-US" sz="1400" dirty="0"/>
          </a:p>
          <a:p>
            <a:pPr indent="0" marL="0">
              <a:buNone/>
            </a:pPr>
            <a:r>
              <a:rPr lang="en-US" sz="1200" dirty="0">
                <a:solidFill>
                  <a:srgbClr val="8E9AA4"/>
                </a:solidFill>
                <a:latin typeface="Calibri" pitchFamily="34" charset="0"/>
                <a:ea typeface="Calibri" pitchFamily="34" charset="-122"/>
                <a:cs typeface="Calibri" pitchFamily="34" charset="-120"/>
              </a:rPr>
              <a:t>Reusable Digital Platform for Designing Battery Energy Systems</a:t>
            </a:r>
            <a:endParaRPr lang="en-US" sz="1400" dirty="0"/>
          </a:p>
        </p:txBody>
      </p:sp>
      <p:sp>
        <p:nvSpPr>
          <p:cNvPr id="6" name="Shape 4"/>
          <p:cNvSpPr/>
          <p:nvPr/>
        </p:nvSpPr>
        <p:spPr>
          <a:xfrm>
            <a:off x="6812280" y="1600200"/>
            <a:ext cx="299923" cy="299923"/>
          </a:xfrm>
          <a:prstGeom prst="ellipse">
            <a:avLst/>
          </a:prstGeom>
          <a:solidFill>
            <a:srgbClr val="34536E"/>
          </a:solidFill>
          <a:ln w="12700">
            <a:solidFill>
              <a:srgbClr val="34536E"/>
            </a:solidFill>
            <a:prstDash val="solid"/>
          </a:ln>
        </p:spPr>
      </p:sp>
      <p:sp>
        <p:nvSpPr>
          <p:cNvPr id="7" name="Shape 5"/>
          <p:cNvSpPr/>
          <p:nvPr/>
        </p:nvSpPr>
        <p:spPr>
          <a:xfrm>
            <a:off x="7178040" y="1600200"/>
            <a:ext cx="299923" cy="299923"/>
          </a:xfrm>
          <a:prstGeom prst="ellipse">
            <a:avLst/>
          </a:prstGeom>
          <a:solidFill>
            <a:srgbClr val="40556A"/>
          </a:solidFill>
          <a:ln w="12700">
            <a:solidFill>
              <a:srgbClr val="40556A"/>
            </a:solidFill>
            <a:prstDash val="solid"/>
          </a:ln>
        </p:spPr>
      </p:sp>
      <p:sp>
        <p:nvSpPr>
          <p:cNvPr id="8" name="Shape 6"/>
          <p:cNvSpPr/>
          <p:nvPr/>
        </p:nvSpPr>
        <p:spPr>
          <a:xfrm>
            <a:off x="7543800" y="1600200"/>
            <a:ext cx="299923" cy="299923"/>
          </a:xfrm>
          <a:prstGeom prst="ellipse">
            <a:avLst/>
          </a:prstGeom>
          <a:solidFill>
            <a:srgbClr val="5A5861"/>
          </a:solidFill>
          <a:ln w="12700">
            <a:solidFill>
              <a:srgbClr val="5A5861"/>
            </a:solidFill>
            <a:prstDash val="solid"/>
          </a:ln>
        </p:spPr>
      </p:sp>
      <p:sp>
        <p:nvSpPr>
          <p:cNvPr id="9" name="Shape 7"/>
          <p:cNvSpPr/>
          <p:nvPr/>
        </p:nvSpPr>
        <p:spPr>
          <a:xfrm>
            <a:off x="7909560" y="1600200"/>
            <a:ext cx="299923" cy="299923"/>
          </a:xfrm>
          <a:prstGeom prst="ellipse">
            <a:avLst/>
          </a:prstGeom>
          <a:solidFill>
            <a:srgbClr val="705B59"/>
          </a:solidFill>
          <a:ln w="12700">
            <a:solidFill>
              <a:srgbClr val="705B59"/>
            </a:solidFill>
            <a:prstDash val="solid"/>
          </a:ln>
        </p:spPr>
      </p:sp>
      <p:sp>
        <p:nvSpPr>
          <p:cNvPr id="10" name="Shape 8"/>
          <p:cNvSpPr/>
          <p:nvPr/>
        </p:nvSpPr>
        <p:spPr>
          <a:xfrm>
            <a:off x="8275320" y="1600200"/>
            <a:ext cx="299923" cy="299923"/>
          </a:xfrm>
          <a:prstGeom prst="ellipse">
            <a:avLst/>
          </a:prstGeom>
          <a:solidFill>
            <a:srgbClr val="825D53"/>
          </a:solidFill>
          <a:ln w="12700">
            <a:solidFill>
              <a:srgbClr val="825D53"/>
            </a:solidFill>
            <a:prstDash val="solid"/>
          </a:ln>
        </p:spPr>
      </p:sp>
      <p:sp>
        <p:nvSpPr>
          <p:cNvPr id="11" name="Shape 9"/>
          <p:cNvSpPr/>
          <p:nvPr/>
        </p:nvSpPr>
        <p:spPr>
          <a:xfrm>
            <a:off x="8641080" y="1600200"/>
            <a:ext cx="299923" cy="299923"/>
          </a:xfrm>
          <a:prstGeom prst="ellipse">
            <a:avLst/>
          </a:prstGeom>
          <a:solidFill>
            <a:srgbClr val="8D5E4F"/>
          </a:solidFill>
          <a:ln w="12700">
            <a:solidFill>
              <a:srgbClr val="8D5E4F"/>
            </a:solidFill>
            <a:prstDash val="solid"/>
          </a:ln>
        </p:spPr>
      </p:sp>
      <p:sp>
        <p:nvSpPr>
          <p:cNvPr id="12" name="Shape 10"/>
          <p:cNvSpPr/>
          <p:nvPr/>
        </p:nvSpPr>
        <p:spPr>
          <a:xfrm>
            <a:off x="9006840" y="1600200"/>
            <a:ext cx="299923" cy="299923"/>
          </a:xfrm>
          <a:prstGeom prst="ellipse">
            <a:avLst/>
          </a:prstGeom>
          <a:solidFill>
            <a:srgbClr val="905F4E"/>
          </a:solidFill>
          <a:ln w="12700">
            <a:solidFill>
              <a:srgbClr val="905F4E"/>
            </a:solidFill>
            <a:prstDash val="solid"/>
          </a:ln>
        </p:spPr>
      </p:sp>
      <p:sp>
        <p:nvSpPr>
          <p:cNvPr id="13" name="Shape 11"/>
          <p:cNvSpPr/>
          <p:nvPr/>
        </p:nvSpPr>
        <p:spPr>
          <a:xfrm>
            <a:off x="9372600" y="1600200"/>
            <a:ext cx="299923" cy="299923"/>
          </a:xfrm>
          <a:prstGeom prst="ellipse">
            <a:avLst/>
          </a:prstGeom>
          <a:solidFill>
            <a:srgbClr val="8D5E4F"/>
          </a:solidFill>
          <a:ln w="12700">
            <a:solidFill>
              <a:srgbClr val="8D5E4F"/>
            </a:solidFill>
            <a:prstDash val="solid"/>
          </a:ln>
        </p:spPr>
      </p:sp>
      <p:sp>
        <p:nvSpPr>
          <p:cNvPr id="14" name="Shape 12"/>
          <p:cNvSpPr/>
          <p:nvPr/>
        </p:nvSpPr>
        <p:spPr>
          <a:xfrm>
            <a:off x="9738360" y="1600200"/>
            <a:ext cx="299923" cy="299923"/>
          </a:xfrm>
          <a:prstGeom prst="ellipse">
            <a:avLst/>
          </a:prstGeom>
          <a:solidFill>
            <a:srgbClr val="825D53"/>
          </a:solidFill>
          <a:ln w="12700">
            <a:solidFill>
              <a:srgbClr val="825D53"/>
            </a:solidFill>
            <a:prstDash val="solid"/>
          </a:ln>
        </p:spPr>
      </p:sp>
      <p:sp>
        <p:nvSpPr>
          <p:cNvPr id="15" name="Shape 13"/>
          <p:cNvSpPr/>
          <p:nvPr/>
        </p:nvSpPr>
        <p:spPr>
          <a:xfrm>
            <a:off x="10104120" y="1600200"/>
            <a:ext cx="299923" cy="299923"/>
          </a:xfrm>
          <a:prstGeom prst="ellipse">
            <a:avLst/>
          </a:prstGeom>
          <a:solidFill>
            <a:srgbClr val="705B59"/>
          </a:solidFill>
          <a:ln w="12700">
            <a:solidFill>
              <a:srgbClr val="705B59"/>
            </a:solidFill>
            <a:prstDash val="solid"/>
          </a:ln>
        </p:spPr>
      </p:sp>
      <p:sp>
        <p:nvSpPr>
          <p:cNvPr id="16" name="Shape 14"/>
          <p:cNvSpPr/>
          <p:nvPr/>
        </p:nvSpPr>
        <p:spPr>
          <a:xfrm>
            <a:off x="10469880" y="1600200"/>
            <a:ext cx="299923" cy="299923"/>
          </a:xfrm>
          <a:prstGeom prst="ellipse">
            <a:avLst/>
          </a:prstGeom>
          <a:solidFill>
            <a:srgbClr val="5A5861"/>
          </a:solidFill>
          <a:ln w="12700">
            <a:solidFill>
              <a:srgbClr val="5A5861"/>
            </a:solidFill>
            <a:prstDash val="solid"/>
          </a:ln>
        </p:spPr>
      </p:sp>
      <p:sp>
        <p:nvSpPr>
          <p:cNvPr id="17" name="Shape 15"/>
          <p:cNvSpPr/>
          <p:nvPr/>
        </p:nvSpPr>
        <p:spPr>
          <a:xfrm>
            <a:off x="10835640" y="1600200"/>
            <a:ext cx="299923" cy="299923"/>
          </a:xfrm>
          <a:prstGeom prst="ellipse">
            <a:avLst/>
          </a:prstGeom>
          <a:solidFill>
            <a:srgbClr val="40556A"/>
          </a:solidFill>
          <a:ln w="12700">
            <a:solidFill>
              <a:srgbClr val="40556A"/>
            </a:solidFill>
            <a:prstDash val="solid"/>
          </a:ln>
        </p:spPr>
      </p:sp>
      <p:sp>
        <p:nvSpPr>
          <p:cNvPr id="18" name="Shape 16"/>
          <p:cNvSpPr/>
          <p:nvPr/>
        </p:nvSpPr>
        <p:spPr>
          <a:xfrm>
            <a:off x="11201400" y="1600200"/>
            <a:ext cx="299923" cy="299923"/>
          </a:xfrm>
          <a:prstGeom prst="ellipse">
            <a:avLst/>
          </a:prstGeom>
          <a:solidFill>
            <a:srgbClr val="34536E"/>
          </a:solidFill>
          <a:ln w="12700">
            <a:solidFill>
              <a:srgbClr val="34536E"/>
            </a:solidFill>
            <a:prstDash val="solid"/>
          </a:ln>
        </p:spPr>
      </p:sp>
      <p:sp>
        <p:nvSpPr>
          <p:cNvPr id="19" name="Shape 17"/>
          <p:cNvSpPr/>
          <p:nvPr/>
        </p:nvSpPr>
        <p:spPr>
          <a:xfrm>
            <a:off x="6812280" y="1965960"/>
            <a:ext cx="299923" cy="299923"/>
          </a:xfrm>
          <a:prstGeom prst="ellipse">
            <a:avLst/>
          </a:prstGeom>
          <a:solidFill>
            <a:srgbClr val="3F546A"/>
          </a:solidFill>
          <a:ln w="12700">
            <a:solidFill>
              <a:srgbClr val="3F546A"/>
            </a:solidFill>
            <a:prstDash val="solid"/>
          </a:ln>
        </p:spPr>
      </p:sp>
      <p:sp>
        <p:nvSpPr>
          <p:cNvPr id="20" name="Shape 18"/>
          <p:cNvSpPr/>
          <p:nvPr/>
        </p:nvSpPr>
        <p:spPr>
          <a:xfrm>
            <a:off x="7178040" y="1965960"/>
            <a:ext cx="299923" cy="299923"/>
          </a:xfrm>
          <a:prstGeom prst="ellipse">
            <a:avLst/>
          </a:prstGeom>
          <a:solidFill>
            <a:srgbClr val="5F585F"/>
          </a:solidFill>
          <a:ln w="12700">
            <a:solidFill>
              <a:srgbClr val="5F585F"/>
            </a:solidFill>
            <a:prstDash val="solid"/>
          </a:ln>
        </p:spPr>
      </p:sp>
      <p:sp>
        <p:nvSpPr>
          <p:cNvPr id="21" name="Shape 19"/>
          <p:cNvSpPr/>
          <p:nvPr/>
        </p:nvSpPr>
        <p:spPr>
          <a:xfrm>
            <a:off x="7543800" y="1965960"/>
            <a:ext cx="299923" cy="299923"/>
          </a:xfrm>
          <a:prstGeom prst="ellipse">
            <a:avLst/>
          </a:prstGeom>
          <a:solidFill>
            <a:srgbClr val="7D5C55"/>
          </a:solidFill>
          <a:ln w="12700">
            <a:solidFill>
              <a:srgbClr val="7D5C55"/>
            </a:solidFill>
            <a:prstDash val="solid"/>
          </a:ln>
        </p:spPr>
      </p:sp>
      <p:sp>
        <p:nvSpPr>
          <p:cNvPr id="22" name="Shape 20"/>
          <p:cNvSpPr/>
          <p:nvPr/>
        </p:nvSpPr>
        <p:spPr>
          <a:xfrm>
            <a:off x="7909560" y="1965960"/>
            <a:ext cx="299923" cy="299923"/>
          </a:xfrm>
          <a:prstGeom prst="ellipse">
            <a:avLst/>
          </a:prstGeom>
          <a:solidFill>
            <a:srgbClr val="97604C"/>
          </a:solidFill>
          <a:ln w="12700">
            <a:solidFill>
              <a:srgbClr val="97604C"/>
            </a:solidFill>
            <a:prstDash val="solid"/>
          </a:ln>
        </p:spPr>
      </p:sp>
      <p:sp>
        <p:nvSpPr>
          <p:cNvPr id="23" name="Shape 21"/>
          <p:cNvSpPr/>
          <p:nvPr/>
        </p:nvSpPr>
        <p:spPr>
          <a:xfrm>
            <a:off x="8275320" y="1965960"/>
            <a:ext cx="299923" cy="299923"/>
          </a:xfrm>
          <a:prstGeom prst="ellipse">
            <a:avLst/>
          </a:prstGeom>
          <a:solidFill>
            <a:srgbClr val="AB6244"/>
          </a:solidFill>
          <a:ln w="12700">
            <a:solidFill>
              <a:srgbClr val="AB6244"/>
            </a:solidFill>
            <a:prstDash val="solid"/>
          </a:ln>
        </p:spPr>
      </p:sp>
      <p:sp>
        <p:nvSpPr>
          <p:cNvPr id="24" name="Shape 22"/>
          <p:cNvSpPr/>
          <p:nvPr/>
        </p:nvSpPr>
        <p:spPr>
          <a:xfrm>
            <a:off x="8641080" y="1965960"/>
            <a:ext cx="299923" cy="299923"/>
          </a:xfrm>
          <a:prstGeom prst="ellipse">
            <a:avLst/>
          </a:prstGeom>
          <a:solidFill>
            <a:srgbClr val="B96440"/>
          </a:solidFill>
          <a:ln w="12700">
            <a:solidFill>
              <a:srgbClr val="B96440"/>
            </a:solidFill>
            <a:prstDash val="solid"/>
          </a:ln>
        </p:spPr>
      </p:sp>
      <p:sp>
        <p:nvSpPr>
          <p:cNvPr id="25" name="Shape 23"/>
          <p:cNvSpPr/>
          <p:nvPr/>
        </p:nvSpPr>
        <p:spPr>
          <a:xfrm>
            <a:off x="9006840" y="1965960"/>
            <a:ext cx="299923" cy="299923"/>
          </a:xfrm>
          <a:prstGeom prst="ellipse">
            <a:avLst/>
          </a:prstGeom>
          <a:solidFill>
            <a:srgbClr val="BE653E"/>
          </a:solidFill>
          <a:ln w="12700">
            <a:solidFill>
              <a:srgbClr val="BE653E"/>
            </a:solidFill>
            <a:prstDash val="solid"/>
          </a:ln>
        </p:spPr>
      </p:sp>
      <p:sp>
        <p:nvSpPr>
          <p:cNvPr id="26" name="Shape 24"/>
          <p:cNvSpPr/>
          <p:nvPr/>
        </p:nvSpPr>
        <p:spPr>
          <a:xfrm>
            <a:off x="9372600" y="1965960"/>
            <a:ext cx="299923" cy="299923"/>
          </a:xfrm>
          <a:prstGeom prst="ellipse">
            <a:avLst/>
          </a:prstGeom>
          <a:solidFill>
            <a:srgbClr val="B96440"/>
          </a:solidFill>
          <a:ln w="12700">
            <a:solidFill>
              <a:srgbClr val="B96440"/>
            </a:solidFill>
            <a:prstDash val="solid"/>
          </a:ln>
        </p:spPr>
      </p:sp>
      <p:sp>
        <p:nvSpPr>
          <p:cNvPr id="27" name="Shape 25"/>
          <p:cNvSpPr/>
          <p:nvPr/>
        </p:nvSpPr>
        <p:spPr>
          <a:xfrm>
            <a:off x="9738360" y="1965960"/>
            <a:ext cx="299923" cy="299923"/>
          </a:xfrm>
          <a:prstGeom prst="ellipse">
            <a:avLst/>
          </a:prstGeom>
          <a:solidFill>
            <a:srgbClr val="AB6244"/>
          </a:solidFill>
          <a:ln w="12700">
            <a:solidFill>
              <a:srgbClr val="AB6244"/>
            </a:solidFill>
            <a:prstDash val="solid"/>
          </a:ln>
        </p:spPr>
      </p:sp>
      <p:sp>
        <p:nvSpPr>
          <p:cNvPr id="28" name="Shape 26"/>
          <p:cNvSpPr/>
          <p:nvPr/>
        </p:nvSpPr>
        <p:spPr>
          <a:xfrm>
            <a:off x="10104120" y="1965960"/>
            <a:ext cx="299923" cy="299923"/>
          </a:xfrm>
          <a:prstGeom prst="ellipse">
            <a:avLst/>
          </a:prstGeom>
          <a:solidFill>
            <a:srgbClr val="97604C"/>
          </a:solidFill>
          <a:ln w="12700">
            <a:solidFill>
              <a:srgbClr val="97604C"/>
            </a:solidFill>
            <a:prstDash val="solid"/>
          </a:ln>
        </p:spPr>
      </p:sp>
      <p:sp>
        <p:nvSpPr>
          <p:cNvPr id="29" name="Shape 27"/>
          <p:cNvSpPr/>
          <p:nvPr/>
        </p:nvSpPr>
        <p:spPr>
          <a:xfrm>
            <a:off x="10469880" y="1965960"/>
            <a:ext cx="299923" cy="299923"/>
          </a:xfrm>
          <a:prstGeom prst="ellipse">
            <a:avLst/>
          </a:prstGeom>
          <a:solidFill>
            <a:srgbClr val="7D5C55"/>
          </a:solidFill>
          <a:ln w="12700">
            <a:solidFill>
              <a:srgbClr val="7D5C55"/>
            </a:solidFill>
            <a:prstDash val="solid"/>
          </a:ln>
        </p:spPr>
      </p:sp>
      <p:sp>
        <p:nvSpPr>
          <p:cNvPr id="30" name="Shape 28"/>
          <p:cNvSpPr/>
          <p:nvPr/>
        </p:nvSpPr>
        <p:spPr>
          <a:xfrm>
            <a:off x="10835640" y="1965960"/>
            <a:ext cx="299923" cy="299923"/>
          </a:xfrm>
          <a:prstGeom prst="ellipse">
            <a:avLst/>
          </a:prstGeom>
          <a:solidFill>
            <a:srgbClr val="5F585F"/>
          </a:solidFill>
          <a:ln w="12700">
            <a:solidFill>
              <a:srgbClr val="5F585F"/>
            </a:solidFill>
            <a:prstDash val="solid"/>
          </a:ln>
        </p:spPr>
      </p:sp>
      <p:sp>
        <p:nvSpPr>
          <p:cNvPr id="31" name="Shape 29"/>
          <p:cNvSpPr/>
          <p:nvPr/>
        </p:nvSpPr>
        <p:spPr>
          <a:xfrm>
            <a:off x="11201400" y="1965960"/>
            <a:ext cx="299923" cy="299923"/>
          </a:xfrm>
          <a:prstGeom prst="ellipse">
            <a:avLst/>
          </a:prstGeom>
          <a:solidFill>
            <a:srgbClr val="3F546A"/>
          </a:solidFill>
          <a:ln w="12700">
            <a:solidFill>
              <a:srgbClr val="3F546A"/>
            </a:solidFill>
            <a:prstDash val="solid"/>
          </a:ln>
        </p:spPr>
      </p:sp>
      <p:sp>
        <p:nvSpPr>
          <p:cNvPr id="32" name="Shape 30"/>
          <p:cNvSpPr/>
          <p:nvPr/>
        </p:nvSpPr>
        <p:spPr>
          <a:xfrm>
            <a:off x="6812280" y="2331720"/>
            <a:ext cx="299923" cy="299923"/>
          </a:xfrm>
          <a:prstGeom prst="ellipse">
            <a:avLst/>
          </a:prstGeom>
          <a:solidFill>
            <a:srgbClr val="565762"/>
          </a:solidFill>
          <a:ln w="12700">
            <a:solidFill>
              <a:srgbClr val="565762"/>
            </a:solidFill>
            <a:prstDash val="solid"/>
          </a:ln>
        </p:spPr>
      </p:sp>
      <p:sp>
        <p:nvSpPr>
          <p:cNvPr id="33" name="Shape 31"/>
          <p:cNvSpPr/>
          <p:nvPr/>
        </p:nvSpPr>
        <p:spPr>
          <a:xfrm>
            <a:off x="7178040" y="2331720"/>
            <a:ext cx="299923" cy="299923"/>
          </a:xfrm>
          <a:prstGeom prst="ellipse">
            <a:avLst/>
          </a:prstGeom>
          <a:solidFill>
            <a:srgbClr val="795C56"/>
          </a:solidFill>
          <a:ln w="12700">
            <a:solidFill>
              <a:srgbClr val="795C56"/>
            </a:solidFill>
            <a:prstDash val="solid"/>
          </a:ln>
        </p:spPr>
      </p:sp>
      <p:sp>
        <p:nvSpPr>
          <p:cNvPr id="34" name="Shape 32"/>
          <p:cNvSpPr/>
          <p:nvPr/>
        </p:nvSpPr>
        <p:spPr>
          <a:xfrm>
            <a:off x="7543800" y="2331720"/>
            <a:ext cx="299923" cy="299923"/>
          </a:xfrm>
          <a:prstGeom prst="ellipse">
            <a:avLst/>
          </a:prstGeom>
          <a:solidFill>
            <a:srgbClr val="9A604A"/>
          </a:solidFill>
          <a:ln w="12700">
            <a:solidFill>
              <a:srgbClr val="9A604A"/>
            </a:solidFill>
            <a:prstDash val="solid"/>
          </a:ln>
        </p:spPr>
      </p:sp>
      <p:sp>
        <p:nvSpPr>
          <p:cNvPr id="35" name="Shape 33"/>
          <p:cNvSpPr/>
          <p:nvPr/>
        </p:nvSpPr>
        <p:spPr>
          <a:xfrm>
            <a:off x="7909560" y="2331720"/>
            <a:ext cx="299923" cy="299923"/>
          </a:xfrm>
          <a:prstGeom prst="ellipse">
            <a:avLst/>
          </a:prstGeom>
          <a:solidFill>
            <a:srgbClr val="B96440"/>
          </a:solidFill>
          <a:ln w="12700">
            <a:solidFill>
              <a:srgbClr val="B96440"/>
            </a:solidFill>
            <a:prstDash val="solid"/>
          </a:ln>
        </p:spPr>
      </p:sp>
      <p:sp>
        <p:nvSpPr>
          <p:cNvPr id="36" name="Shape 34"/>
          <p:cNvSpPr/>
          <p:nvPr/>
        </p:nvSpPr>
        <p:spPr>
          <a:xfrm>
            <a:off x="8275320" y="2331720"/>
            <a:ext cx="299923" cy="299923"/>
          </a:xfrm>
          <a:prstGeom prst="ellipse">
            <a:avLst/>
          </a:prstGeom>
          <a:solidFill>
            <a:srgbClr val="CC683B"/>
          </a:solidFill>
          <a:ln w="12700">
            <a:solidFill>
              <a:srgbClr val="CC683B"/>
            </a:solidFill>
            <a:prstDash val="solid"/>
          </a:ln>
        </p:spPr>
      </p:sp>
      <p:sp>
        <p:nvSpPr>
          <p:cNvPr id="37" name="Shape 35"/>
          <p:cNvSpPr/>
          <p:nvPr/>
        </p:nvSpPr>
        <p:spPr>
          <a:xfrm>
            <a:off x="8641080" y="2331720"/>
            <a:ext cx="299923" cy="299923"/>
          </a:xfrm>
          <a:prstGeom prst="ellipse">
            <a:avLst/>
          </a:prstGeom>
          <a:solidFill>
            <a:srgbClr val="D16C3D"/>
          </a:solidFill>
          <a:ln w="12700">
            <a:solidFill>
              <a:srgbClr val="D16C3D"/>
            </a:solidFill>
            <a:prstDash val="solid"/>
          </a:ln>
        </p:spPr>
      </p:sp>
      <p:sp>
        <p:nvSpPr>
          <p:cNvPr id="38" name="Shape 36"/>
          <p:cNvSpPr/>
          <p:nvPr/>
        </p:nvSpPr>
        <p:spPr>
          <a:xfrm>
            <a:off x="9006840" y="2331720"/>
            <a:ext cx="299923" cy="299923"/>
          </a:xfrm>
          <a:prstGeom prst="ellipse">
            <a:avLst/>
          </a:prstGeom>
          <a:solidFill>
            <a:srgbClr val="D36E3E"/>
          </a:solidFill>
          <a:ln w="12700">
            <a:solidFill>
              <a:srgbClr val="D36E3E"/>
            </a:solidFill>
            <a:prstDash val="solid"/>
          </a:ln>
        </p:spPr>
      </p:sp>
      <p:sp>
        <p:nvSpPr>
          <p:cNvPr id="39" name="Shape 37"/>
          <p:cNvSpPr/>
          <p:nvPr/>
        </p:nvSpPr>
        <p:spPr>
          <a:xfrm>
            <a:off x="9372600" y="2331720"/>
            <a:ext cx="299923" cy="299923"/>
          </a:xfrm>
          <a:prstGeom prst="ellipse">
            <a:avLst/>
          </a:prstGeom>
          <a:solidFill>
            <a:srgbClr val="D16C3D"/>
          </a:solidFill>
          <a:ln w="12700">
            <a:solidFill>
              <a:srgbClr val="D16C3D"/>
            </a:solidFill>
            <a:prstDash val="solid"/>
          </a:ln>
        </p:spPr>
      </p:sp>
      <p:sp>
        <p:nvSpPr>
          <p:cNvPr id="40" name="Shape 38"/>
          <p:cNvSpPr/>
          <p:nvPr/>
        </p:nvSpPr>
        <p:spPr>
          <a:xfrm>
            <a:off x="9738360" y="2331720"/>
            <a:ext cx="299923" cy="299923"/>
          </a:xfrm>
          <a:prstGeom prst="ellipse">
            <a:avLst/>
          </a:prstGeom>
          <a:solidFill>
            <a:srgbClr val="CC683B"/>
          </a:solidFill>
          <a:ln w="12700">
            <a:solidFill>
              <a:srgbClr val="CC683B"/>
            </a:solidFill>
            <a:prstDash val="solid"/>
          </a:ln>
        </p:spPr>
      </p:sp>
      <p:sp>
        <p:nvSpPr>
          <p:cNvPr id="41" name="Shape 39"/>
          <p:cNvSpPr/>
          <p:nvPr/>
        </p:nvSpPr>
        <p:spPr>
          <a:xfrm>
            <a:off x="10104120" y="2331720"/>
            <a:ext cx="299923" cy="299923"/>
          </a:xfrm>
          <a:prstGeom prst="ellipse">
            <a:avLst/>
          </a:prstGeom>
          <a:solidFill>
            <a:srgbClr val="B96440"/>
          </a:solidFill>
          <a:ln w="12700">
            <a:solidFill>
              <a:srgbClr val="B96440"/>
            </a:solidFill>
            <a:prstDash val="solid"/>
          </a:ln>
        </p:spPr>
      </p:sp>
      <p:sp>
        <p:nvSpPr>
          <p:cNvPr id="42" name="Shape 40"/>
          <p:cNvSpPr/>
          <p:nvPr/>
        </p:nvSpPr>
        <p:spPr>
          <a:xfrm>
            <a:off x="10469880" y="2331720"/>
            <a:ext cx="299923" cy="299923"/>
          </a:xfrm>
          <a:prstGeom prst="ellipse">
            <a:avLst/>
          </a:prstGeom>
          <a:solidFill>
            <a:srgbClr val="9A604A"/>
          </a:solidFill>
          <a:ln w="12700">
            <a:solidFill>
              <a:srgbClr val="9A604A"/>
            </a:solidFill>
            <a:prstDash val="solid"/>
          </a:ln>
        </p:spPr>
      </p:sp>
      <p:sp>
        <p:nvSpPr>
          <p:cNvPr id="43" name="Shape 41"/>
          <p:cNvSpPr/>
          <p:nvPr/>
        </p:nvSpPr>
        <p:spPr>
          <a:xfrm>
            <a:off x="10835640" y="2331720"/>
            <a:ext cx="299923" cy="299923"/>
          </a:xfrm>
          <a:prstGeom prst="ellipse">
            <a:avLst/>
          </a:prstGeom>
          <a:solidFill>
            <a:srgbClr val="795C56"/>
          </a:solidFill>
          <a:ln w="12700">
            <a:solidFill>
              <a:srgbClr val="795C56"/>
            </a:solidFill>
            <a:prstDash val="solid"/>
          </a:ln>
        </p:spPr>
      </p:sp>
      <p:sp>
        <p:nvSpPr>
          <p:cNvPr id="44" name="Shape 42"/>
          <p:cNvSpPr/>
          <p:nvPr/>
        </p:nvSpPr>
        <p:spPr>
          <a:xfrm>
            <a:off x="11201400" y="2331720"/>
            <a:ext cx="299923" cy="299923"/>
          </a:xfrm>
          <a:prstGeom prst="ellipse">
            <a:avLst/>
          </a:prstGeom>
          <a:solidFill>
            <a:srgbClr val="565762"/>
          </a:solidFill>
          <a:ln w="12700">
            <a:solidFill>
              <a:srgbClr val="565762"/>
            </a:solidFill>
            <a:prstDash val="solid"/>
          </a:ln>
        </p:spPr>
      </p:sp>
      <p:sp>
        <p:nvSpPr>
          <p:cNvPr id="45" name="Shape 43"/>
          <p:cNvSpPr/>
          <p:nvPr/>
        </p:nvSpPr>
        <p:spPr>
          <a:xfrm>
            <a:off x="6812280" y="2697480"/>
            <a:ext cx="299923" cy="299923"/>
          </a:xfrm>
          <a:prstGeom prst="ellipse">
            <a:avLst/>
          </a:prstGeom>
          <a:solidFill>
            <a:srgbClr val="66595D"/>
          </a:solidFill>
          <a:ln w="12700">
            <a:solidFill>
              <a:srgbClr val="66595D"/>
            </a:solidFill>
            <a:prstDash val="solid"/>
          </a:ln>
        </p:spPr>
      </p:sp>
      <p:sp>
        <p:nvSpPr>
          <p:cNvPr id="46" name="Shape 44"/>
          <p:cNvSpPr/>
          <p:nvPr/>
        </p:nvSpPr>
        <p:spPr>
          <a:xfrm>
            <a:off x="7178040" y="2697480"/>
            <a:ext cx="299923" cy="299923"/>
          </a:xfrm>
          <a:prstGeom prst="ellipse">
            <a:avLst/>
          </a:prstGeom>
          <a:solidFill>
            <a:srgbClr val="8C5E4F"/>
          </a:solidFill>
          <a:ln w="12700">
            <a:solidFill>
              <a:srgbClr val="8C5E4F"/>
            </a:solidFill>
            <a:prstDash val="solid"/>
          </a:ln>
        </p:spPr>
      </p:sp>
      <p:sp>
        <p:nvSpPr>
          <p:cNvPr id="47" name="Shape 45"/>
          <p:cNvSpPr/>
          <p:nvPr/>
        </p:nvSpPr>
        <p:spPr>
          <a:xfrm>
            <a:off x="7543800" y="2697480"/>
            <a:ext cx="299923" cy="299923"/>
          </a:xfrm>
          <a:prstGeom prst="ellipse">
            <a:avLst/>
          </a:prstGeom>
          <a:solidFill>
            <a:srgbClr val="B16342"/>
          </a:solidFill>
          <a:ln w="12700">
            <a:solidFill>
              <a:srgbClr val="B16342"/>
            </a:solidFill>
            <a:prstDash val="solid"/>
          </a:ln>
        </p:spPr>
      </p:sp>
      <p:sp>
        <p:nvSpPr>
          <p:cNvPr id="48" name="Shape 46"/>
          <p:cNvSpPr/>
          <p:nvPr/>
        </p:nvSpPr>
        <p:spPr>
          <a:xfrm>
            <a:off x="7909560" y="2697480"/>
            <a:ext cx="299923" cy="299923"/>
          </a:xfrm>
          <a:prstGeom prst="ellipse">
            <a:avLst/>
          </a:prstGeom>
          <a:solidFill>
            <a:srgbClr val="CC693B"/>
          </a:solidFill>
          <a:ln w="12700">
            <a:solidFill>
              <a:srgbClr val="CC693B"/>
            </a:solidFill>
            <a:prstDash val="solid"/>
          </a:ln>
        </p:spPr>
      </p:sp>
      <p:sp>
        <p:nvSpPr>
          <p:cNvPr id="49" name="Shape 47"/>
          <p:cNvSpPr/>
          <p:nvPr/>
        </p:nvSpPr>
        <p:spPr>
          <a:xfrm>
            <a:off x="8275320" y="2697480"/>
            <a:ext cx="299923" cy="299923"/>
          </a:xfrm>
          <a:prstGeom prst="ellipse">
            <a:avLst/>
          </a:prstGeom>
          <a:solidFill>
            <a:srgbClr val="D5703F"/>
          </a:solidFill>
          <a:ln w="12700">
            <a:solidFill>
              <a:srgbClr val="D5703F"/>
            </a:solidFill>
            <a:prstDash val="solid"/>
          </a:ln>
        </p:spPr>
      </p:sp>
      <p:sp>
        <p:nvSpPr>
          <p:cNvPr id="50" name="Shape 48"/>
          <p:cNvSpPr/>
          <p:nvPr/>
        </p:nvSpPr>
        <p:spPr>
          <a:xfrm>
            <a:off x="8641080" y="2697480"/>
            <a:ext cx="299923" cy="299923"/>
          </a:xfrm>
          <a:prstGeom prst="ellipse">
            <a:avLst/>
          </a:prstGeom>
          <a:solidFill>
            <a:srgbClr val="DC7541"/>
          </a:solidFill>
          <a:ln w="12700">
            <a:solidFill>
              <a:srgbClr val="DC7541"/>
            </a:solidFill>
            <a:prstDash val="solid"/>
          </a:ln>
        </p:spPr>
      </p:sp>
      <p:sp>
        <p:nvSpPr>
          <p:cNvPr id="51" name="Shape 49"/>
          <p:cNvSpPr/>
          <p:nvPr/>
        </p:nvSpPr>
        <p:spPr>
          <a:xfrm>
            <a:off x="9006840" y="2697480"/>
            <a:ext cx="299923" cy="299923"/>
          </a:xfrm>
          <a:prstGeom prst="ellipse">
            <a:avLst/>
          </a:prstGeom>
          <a:solidFill>
            <a:srgbClr val="DF7843"/>
          </a:solidFill>
          <a:ln w="12700">
            <a:solidFill>
              <a:srgbClr val="DF7843"/>
            </a:solidFill>
            <a:prstDash val="solid"/>
          </a:ln>
        </p:spPr>
      </p:sp>
      <p:sp>
        <p:nvSpPr>
          <p:cNvPr id="52" name="Shape 50"/>
          <p:cNvSpPr/>
          <p:nvPr/>
        </p:nvSpPr>
        <p:spPr>
          <a:xfrm>
            <a:off x="9372600" y="2697480"/>
            <a:ext cx="299923" cy="299923"/>
          </a:xfrm>
          <a:prstGeom prst="ellipse">
            <a:avLst/>
          </a:prstGeom>
          <a:solidFill>
            <a:srgbClr val="DC7541"/>
          </a:solidFill>
          <a:ln w="12700">
            <a:solidFill>
              <a:srgbClr val="DC7541"/>
            </a:solidFill>
            <a:prstDash val="solid"/>
          </a:ln>
        </p:spPr>
      </p:sp>
      <p:sp>
        <p:nvSpPr>
          <p:cNvPr id="53" name="Shape 51"/>
          <p:cNvSpPr/>
          <p:nvPr/>
        </p:nvSpPr>
        <p:spPr>
          <a:xfrm>
            <a:off x="9738360" y="2697480"/>
            <a:ext cx="299923" cy="299923"/>
          </a:xfrm>
          <a:prstGeom prst="ellipse">
            <a:avLst/>
          </a:prstGeom>
          <a:solidFill>
            <a:srgbClr val="D5703F"/>
          </a:solidFill>
          <a:ln w="12700">
            <a:solidFill>
              <a:srgbClr val="D5703F"/>
            </a:solidFill>
            <a:prstDash val="solid"/>
          </a:ln>
        </p:spPr>
      </p:sp>
      <p:sp>
        <p:nvSpPr>
          <p:cNvPr id="54" name="Shape 52"/>
          <p:cNvSpPr/>
          <p:nvPr/>
        </p:nvSpPr>
        <p:spPr>
          <a:xfrm>
            <a:off x="10104120" y="2697480"/>
            <a:ext cx="299923" cy="299923"/>
          </a:xfrm>
          <a:prstGeom prst="ellipse">
            <a:avLst/>
          </a:prstGeom>
          <a:solidFill>
            <a:srgbClr val="CC693B"/>
          </a:solidFill>
          <a:ln w="12700">
            <a:solidFill>
              <a:srgbClr val="CC693B"/>
            </a:solidFill>
            <a:prstDash val="solid"/>
          </a:ln>
        </p:spPr>
      </p:sp>
      <p:sp>
        <p:nvSpPr>
          <p:cNvPr id="55" name="Shape 53"/>
          <p:cNvSpPr/>
          <p:nvPr/>
        </p:nvSpPr>
        <p:spPr>
          <a:xfrm>
            <a:off x="10469880" y="2697480"/>
            <a:ext cx="299923" cy="299923"/>
          </a:xfrm>
          <a:prstGeom prst="ellipse">
            <a:avLst/>
          </a:prstGeom>
          <a:solidFill>
            <a:srgbClr val="B16342"/>
          </a:solidFill>
          <a:ln w="12700">
            <a:solidFill>
              <a:srgbClr val="B16342"/>
            </a:solidFill>
            <a:prstDash val="solid"/>
          </a:ln>
        </p:spPr>
      </p:sp>
      <p:sp>
        <p:nvSpPr>
          <p:cNvPr id="56" name="Shape 54"/>
          <p:cNvSpPr/>
          <p:nvPr/>
        </p:nvSpPr>
        <p:spPr>
          <a:xfrm>
            <a:off x="10835640" y="2697480"/>
            <a:ext cx="299923" cy="299923"/>
          </a:xfrm>
          <a:prstGeom prst="ellipse">
            <a:avLst/>
          </a:prstGeom>
          <a:solidFill>
            <a:srgbClr val="8C5E4F"/>
          </a:solidFill>
          <a:ln w="12700">
            <a:solidFill>
              <a:srgbClr val="8C5E4F"/>
            </a:solidFill>
            <a:prstDash val="solid"/>
          </a:ln>
        </p:spPr>
      </p:sp>
      <p:sp>
        <p:nvSpPr>
          <p:cNvPr id="57" name="Shape 55"/>
          <p:cNvSpPr/>
          <p:nvPr/>
        </p:nvSpPr>
        <p:spPr>
          <a:xfrm>
            <a:off x="11201400" y="2697480"/>
            <a:ext cx="299923" cy="299923"/>
          </a:xfrm>
          <a:prstGeom prst="ellipse">
            <a:avLst/>
          </a:prstGeom>
          <a:solidFill>
            <a:srgbClr val="66595D"/>
          </a:solidFill>
          <a:ln w="12700">
            <a:solidFill>
              <a:srgbClr val="66595D"/>
            </a:solidFill>
            <a:prstDash val="solid"/>
          </a:ln>
        </p:spPr>
      </p:sp>
      <p:sp>
        <p:nvSpPr>
          <p:cNvPr id="58" name="Shape 56"/>
          <p:cNvSpPr/>
          <p:nvPr/>
        </p:nvSpPr>
        <p:spPr>
          <a:xfrm>
            <a:off x="6812280" y="3063240"/>
            <a:ext cx="299923" cy="299923"/>
          </a:xfrm>
          <a:prstGeom prst="ellipse">
            <a:avLst/>
          </a:prstGeom>
          <a:solidFill>
            <a:srgbClr val="6F5A5A"/>
          </a:solidFill>
          <a:ln w="12700">
            <a:solidFill>
              <a:srgbClr val="6F5A5A"/>
            </a:solidFill>
            <a:prstDash val="solid"/>
          </a:ln>
        </p:spPr>
      </p:sp>
      <p:sp>
        <p:nvSpPr>
          <p:cNvPr id="59" name="Shape 57"/>
          <p:cNvSpPr/>
          <p:nvPr/>
        </p:nvSpPr>
        <p:spPr>
          <a:xfrm>
            <a:off x="7178040" y="3063240"/>
            <a:ext cx="299923" cy="299923"/>
          </a:xfrm>
          <a:prstGeom prst="ellipse">
            <a:avLst/>
          </a:prstGeom>
          <a:solidFill>
            <a:srgbClr val="965F4C"/>
          </a:solidFill>
          <a:ln w="12700">
            <a:solidFill>
              <a:srgbClr val="965F4C"/>
            </a:solidFill>
            <a:prstDash val="solid"/>
          </a:ln>
        </p:spPr>
      </p:sp>
      <p:sp>
        <p:nvSpPr>
          <p:cNvPr id="60" name="Shape 58"/>
          <p:cNvSpPr/>
          <p:nvPr/>
        </p:nvSpPr>
        <p:spPr>
          <a:xfrm>
            <a:off x="7543800" y="3063240"/>
            <a:ext cx="299923" cy="299923"/>
          </a:xfrm>
          <a:prstGeom prst="ellipse">
            <a:avLst/>
          </a:prstGeom>
          <a:solidFill>
            <a:srgbClr val="BD653E"/>
          </a:solidFill>
          <a:ln w="12700">
            <a:solidFill>
              <a:srgbClr val="BD653E"/>
            </a:solidFill>
            <a:prstDash val="solid"/>
          </a:ln>
        </p:spPr>
      </p:sp>
      <p:sp>
        <p:nvSpPr>
          <p:cNvPr id="61" name="Shape 59"/>
          <p:cNvSpPr/>
          <p:nvPr/>
        </p:nvSpPr>
        <p:spPr>
          <a:xfrm>
            <a:off x="7909560" y="3063240"/>
            <a:ext cx="299923" cy="299923"/>
          </a:xfrm>
          <a:prstGeom prst="ellipse">
            <a:avLst/>
          </a:prstGeom>
          <a:solidFill>
            <a:srgbClr val="D16C3D"/>
          </a:solidFill>
          <a:ln w="12700">
            <a:solidFill>
              <a:srgbClr val="D16C3D"/>
            </a:solidFill>
            <a:prstDash val="solid"/>
          </a:ln>
        </p:spPr>
      </p:sp>
      <p:sp>
        <p:nvSpPr>
          <p:cNvPr id="62" name="Shape 60"/>
          <p:cNvSpPr/>
          <p:nvPr/>
        </p:nvSpPr>
        <p:spPr>
          <a:xfrm>
            <a:off x="8275320" y="3063240"/>
            <a:ext cx="299923" cy="299923"/>
          </a:xfrm>
          <a:prstGeom prst="ellipse">
            <a:avLst/>
          </a:prstGeom>
          <a:solidFill>
            <a:srgbClr val="DB7541"/>
          </a:solidFill>
          <a:ln w="12700">
            <a:solidFill>
              <a:srgbClr val="DB7541"/>
            </a:solidFill>
            <a:prstDash val="solid"/>
          </a:ln>
        </p:spPr>
      </p:sp>
      <p:sp>
        <p:nvSpPr>
          <p:cNvPr id="63" name="Shape 61"/>
          <p:cNvSpPr/>
          <p:nvPr/>
        </p:nvSpPr>
        <p:spPr>
          <a:xfrm>
            <a:off x="8641080" y="3063240"/>
            <a:ext cx="299923" cy="299923"/>
          </a:xfrm>
          <a:prstGeom prst="ellipse">
            <a:avLst/>
          </a:prstGeom>
          <a:solidFill>
            <a:srgbClr val="E57D45"/>
          </a:solidFill>
          <a:ln w="12700">
            <a:solidFill>
              <a:srgbClr val="E57D45"/>
            </a:solidFill>
            <a:prstDash val="solid"/>
          </a:ln>
        </p:spPr>
      </p:sp>
      <p:sp>
        <p:nvSpPr>
          <p:cNvPr id="64" name="Shape 62"/>
          <p:cNvSpPr/>
          <p:nvPr/>
        </p:nvSpPr>
        <p:spPr>
          <a:xfrm>
            <a:off x="9006840" y="3063240"/>
            <a:ext cx="299923" cy="299923"/>
          </a:xfrm>
          <a:prstGeom prst="ellipse">
            <a:avLst/>
          </a:prstGeom>
          <a:solidFill>
            <a:srgbClr val="EC8248"/>
          </a:solidFill>
          <a:ln w="12700">
            <a:solidFill>
              <a:srgbClr val="EC8248"/>
            </a:solidFill>
            <a:prstDash val="solid"/>
          </a:ln>
        </p:spPr>
      </p:sp>
      <p:sp>
        <p:nvSpPr>
          <p:cNvPr id="65" name="Shape 63"/>
          <p:cNvSpPr/>
          <p:nvPr/>
        </p:nvSpPr>
        <p:spPr>
          <a:xfrm>
            <a:off x="9372600" y="3063240"/>
            <a:ext cx="299923" cy="299923"/>
          </a:xfrm>
          <a:prstGeom prst="ellipse">
            <a:avLst/>
          </a:prstGeom>
          <a:solidFill>
            <a:srgbClr val="E57D45"/>
          </a:solidFill>
          <a:ln w="12700">
            <a:solidFill>
              <a:srgbClr val="E57D45"/>
            </a:solidFill>
            <a:prstDash val="solid"/>
          </a:ln>
        </p:spPr>
      </p:sp>
      <p:sp>
        <p:nvSpPr>
          <p:cNvPr id="66" name="Shape 64"/>
          <p:cNvSpPr/>
          <p:nvPr/>
        </p:nvSpPr>
        <p:spPr>
          <a:xfrm>
            <a:off x="9738360" y="3063240"/>
            <a:ext cx="299923" cy="299923"/>
          </a:xfrm>
          <a:prstGeom prst="ellipse">
            <a:avLst/>
          </a:prstGeom>
          <a:solidFill>
            <a:srgbClr val="DB7541"/>
          </a:solidFill>
          <a:ln w="12700">
            <a:solidFill>
              <a:srgbClr val="DB7541"/>
            </a:solidFill>
            <a:prstDash val="solid"/>
          </a:ln>
        </p:spPr>
      </p:sp>
      <p:sp>
        <p:nvSpPr>
          <p:cNvPr id="67" name="Shape 65"/>
          <p:cNvSpPr/>
          <p:nvPr/>
        </p:nvSpPr>
        <p:spPr>
          <a:xfrm>
            <a:off x="10104120" y="3063240"/>
            <a:ext cx="299923" cy="299923"/>
          </a:xfrm>
          <a:prstGeom prst="ellipse">
            <a:avLst/>
          </a:prstGeom>
          <a:solidFill>
            <a:srgbClr val="D16C3D"/>
          </a:solidFill>
          <a:ln w="12700">
            <a:solidFill>
              <a:srgbClr val="D16C3D"/>
            </a:solidFill>
            <a:prstDash val="solid"/>
          </a:ln>
        </p:spPr>
      </p:sp>
      <p:sp>
        <p:nvSpPr>
          <p:cNvPr id="68" name="Shape 66"/>
          <p:cNvSpPr/>
          <p:nvPr/>
        </p:nvSpPr>
        <p:spPr>
          <a:xfrm>
            <a:off x="10469880" y="3063240"/>
            <a:ext cx="299923" cy="299923"/>
          </a:xfrm>
          <a:prstGeom prst="ellipse">
            <a:avLst/>
          </a:prstGeom>
          <a:solidFill>
            <a:srgbClr val="BD653E"/>
          </a:solidFill>
          <a:ln w="12700">
            <a:solidFill>
              <a:srgbClr val="BD653E"/>
            </a:solidFill>
            <a:prstDash val="solid"/>
          </a:ln>
        </p:spPr>
      </p:sp>
      <p:sp>
        <p:nvSpPr>
          <p:cNvPr id="69" name="Shape 67"/>
          <p:cNvSpPr/>
          <p:nvPr/>
        </p:nvSpPr>
        <p:spPr>
          <a:xfrm>
            <a:off x="10835640" y="3063240"/>
            <a:ext cx="299923" cy="299923"/>
          </a:xfrm>
          <a:prstGeom prst="ellipse">
            <a:avLst/>
          </a:prstGeom>
          <a:solidFill>
            <a:srgbClr val="965F4C"/>
          </a:solidFill>
          <a:ln w="12700">
            <a:solidFill>
              <a:srgbClr val="965F4C"/>
            </a:solidFill>
            <a:prstDash val="solid"/>
          </a:ln>
        </p:spPr>
      </p:sp>
      <p:sp>
        <p:nvSpPr>
          <p:cNvPr id="70" name="Shape 68"/>
          <p:cNvSpPr/>
          <p:nvPr/>
        </p:nvSpPr>
        <p:spPr>
          <a:xfrm>
            <a:off x="11201400" y="3063240"/>
            <a:ext cx="299923" cy="299923"/>
          </a:xfrm>
          <a:prstGeom prst="ellipse">
            <a:avLst/>
          </a:prstGeom>
          <a:solidFill>
            <a:srgbClr val="6F5A5A"/>
          </a:solidFill>
          <a:ln w="12700">
            <a:solidFill>
              <a:srgbClr val="6F5A5A"/>
            </a:solidFill>
            <a:prstDash val="solid"/>
          </a:ln>
        </p:spPr>
      </p:sp>
      <p:sp>
        <p:nvSpPr>
          <p:cNvPr id="71" name="Shape 69"/>
          <p:cNvSpPr/>
          <p:nvPr/>
        </p:nvSpPr>
        <p:spPr>
          <a:xfrm>
            <a:off x="6812280" y="3429000"/>
            <a:ext cx="299923" cy="299923"/>
          </a:xfrm>
          <a:prstGeom prst="ellipse">
            <a:avLst/>
          </a:prstGeom>
          <a:solidFill>
            <a:srgbClr val="6F5A5A"/>
          </a:solidFill>
          <a:ln w="12700">
            <a:solidFill>
              <a:srgbClr val="6F5A5A"/>
            </a:solidFill>
            <a:prstDash val="solid"/>
          </a:ln>
        </p:spPr>
      </p:sp>
      <p:sp>
        <p:nvSpPr>
          <p:cNvPr id="72" name="Shape 70"/>
          <p:cNvSpPr/>
          <p:nvPr/>
        </p:nvSpPr>
        <p:spPr>
          <a:xfrm>
            <a:off x="7178040" y="3429000"/>
            <a:ext cx="299923" cy="299923"/>
          </a:xfrm>
          <a:prstGeom prst="ellipse">
            <a:avLst/>
          </a:prstGeom>
          <a:solidFill>
            <a:srgbClr val="965F4C"/>
          </a:solidFill>
          <a:ln w="12700">
            <a:solidFill>
              <a:srgbClr val="965F4C"/>
            </a:solidFill>
            <a:prstDash val="solid"/>
          </a:ln>
        </p:spPr>
      </p:sp>
      <p:sp>
        <p:nvSpPr>
          <p:cNvPr id="73" name="Shape 71"/>
          <p:cNvSpPr/>
          <p:nvPr/>
        </p:nvSpPr>
        <p:spPr>
          <a:xfrm>
            <a:off x="7543800" y="3429000"/>
            <a:ext cx="299923" cy="299923"/>
          </a:xfrm>
          <a:prstGeom prst="ellipse">
            <a:avLst/>
          </a:prstGeom>
          <a:solidFill>
            <a:srgbClr val="BD653E"/>
          </a:solidFill>
          <a:ln w="12700">
            <a:solidFill>
              <a:srgbClr val="BD653E"/>
            </a:solidFill>
            <a:prstDash val="solid"/>
          </a:ln>
        </p:spPr>
      </p:sp>
      <p:sp>
        <p:nvSpPr>
          <p:cNvPr id="74" name="Shape 72"/>
          <p:cNvSpPr/>
          <p:nvPr/>
        </p:nvSpPr>
        <p:spPr>
          <a:xfrm>
            <a:off x="7909560" y="3429000"/>
            <a:ext cx="299923" cy="299923"/>
          </a:xfrm>
          <a:prstGeom prst="ellipse">
            <a:avLst/>
          </a:prstGeom>
          <a:solidFill>
            <a:srgbClr val="D16C3D"/>
          </a:solidFill>
          <a:ln w="12700">
            <a:solidFill>
              <a:srgbClr val="D16C3D"/>
            </a:solidFill>
            <a:prstDash val="solid"/>
          </a:ln>
        </p:spPr>
      </p:sp>
      <p:sp>
        <p:nvSpPr>
          <p:cNvPr id="75" name="Shape 73"/>
          <p:cNvSpPr/>
          <p:nvPr/>
        </p:nvSpPr>
        <p:spPr>
          <a:xfrm>
            <a:off x="8275320" y="3429000"/>
            <a:ext cx="299923" cy="299923"/>
          </a:xfrm>
          <a:prstGeom prst="ellipse">
            <a:avLst/>
          </a:prstGeom>
          <a:solidFill>
            <a:srgbClr val="DB7541"/>
          </a:solidFill>
          <a:ln w="12700">
            <a:solidFill>
              <a:srgbClr val="DB7541"/>
            </a:solidFill>
            <a:prstDash val="solid"/>
          </a:ln>
        </p:spPr>
      </p:sp>
      <p:sp>
        <p:nvSpPr>
          <p:cNvPr id="76" name="Shape 74"/>
          <p:cNvSpPr/>
          <p:nvPr/>
        </p:nvSpPr>
        <p:spPr>
          <a:xfrm>
            <a:off x="8641080" y="3429000"/>
            <a:ext cx="299923" cy="299923"/>
          </a:xfrm>
          <a:prstGeom prst="ellipse">
            <a:avLst/>
          </a:prstGeom>
          <a:solidFill>
            <a:srgbClr val="E57D45"/>
          </a:solidFill>
          <a:ln w="12700">
            <a:solidFill>
              <a:srgbClr val="E57D45"/>
            </a:solidFill>
            <a:prstDash val="solid"/>
          </a:ln>
        </p:spPr>
      </p:sp>
      <p:sp>
        <p:nvSpPr>
          <p:cNvPr id="77" name="Shape 75"/>
          <p:cNvSpPr/>
          <p:nvPr/>
        </p:nvSpPr>
        <p:spPr>
          <a:xfrm>
            <a:off x="9006840" y="3429000"/>
            <a:ext cx="299923" cy="299923"/>
          </a:xfrm>
          <a:prstGeom prst="ellipse">
            <a:avLst/>
          </a:prstGeom>
          <a:solidFill>
            <a:srgbClr val="EC8248"/>
          </a:solidFill>
          <a:ln w="12700">
            <a:solidFill>
              <a:srgbClr val="EC8248"/>
            </a:solidFill>
            <a:prstDash val="solid"/>
          </a:ln>
        </p:spPr>
      </p:sp>
      <p:sp>
        <p:nvSpPr>
          <p:cNvPr id="78" name="Shape 76"/>
          <p:cNvSpPr/>
          <p:nvPr/>
        </p:nvSpPr>
        <p:spPr>
          <a:xfrm>
            <a:off x="9372600" y="3429000"/>
            <a:ext cx="299923" cy="299923"/>
          </a:xfrm>
          <a:prstGeom prst="ellipse">
            <a:avLst/>
          </a:prstGeom>
          <a:solidFill>
            <a:srgbClr val="E57D45"/>
          </a:solidFill>
          <a:ln w="12700">
            <a:solidFill>
              <a:srgbClr val="E57D45"/>
            </a:solidFill>
            <a:prstDash val="solid"/>
          </a:ln>
        </p:spPr>
      </p:sp>
      <p:sp>
        <p:nvSpPr>
          <p:cNvPr id="79" name="Shape 77"/>
          <p:cNvSpPr/>
          <p:nvPr/>
        </p:nvSpPr>
        <p:spPr>
          <a:xfrm>
            <a:off x="9738360" y="3429000"/>
            <a:ext cx="299923" cy="299923"/>
          </a:xfrm>
          <a:prstGeom prst="ellipse">
            <a:avLst/>
          </a:prstGeom>
          <a:solidFill>
            <a:srgbClr val="DB7541"/>
          </a:solidFill>
          <a:ln w="12700">
            <a:solidFill>
              <a:srgbClr val="DB7541"/>
            </a:solidFill>
            <a:prstDash val="solid"/>
          </a:ln>
        </p:spPr>
      </p:sp>
      <p:sp>
        <p:nvSpPr>
          <p:cNvPr id="80" name="Shape 78"/>
          <p:cNvSpPr/>
          <p:nvPr/>
        </p:nvSpPr>
        <p:spPr>
          <a:xfrm>
            <a:off x="10104120" y="3429000"/>
            <a:ext cx="299923" cy="299923"/>
          </a:xfrm>
          <a:prstGeom prst="ellipse">
            <a:avLst/>
          </a:prstGeom>
          <a:solidFill>
            <a:srgbClr val="D16C3D"/>
          </a:solidFill>
          <a:ln w="12700">
            <a:solidFill>
              <a:srgbClr val="D16C3D"/>
            </a:solidFill>
            <a:prstDash val="solid"/>
          </a:ln>
        </p:spPr>
      </p:sp>
      <p:sp>
        <p:nvSpPr>
          <p:cNvPr id="81" name="Shape 79"/>
          <p:cNvSpPr/>
          <p:nvPr/>
        </p:nvSpPr>
        <p:spPr>
          <a:xfrm>
            <a:off x="10469880" y="3429000"/>
            <a:ext cx="299923" cy="299923"/>
          </a:xfrm>
          <a:prstGeom prst="ellipse">
            <a:avLst/>
          </a:prstGeom>
          <a:solidFill>
            <a:srgbClr val="BD653E"/>
          </a:solidFill>
          <a:ln w="12700">
            <a:solidFill>
              <a:srgbClr val="BD653E"/>
            </a:solidFill>
            <a:prstDash val="solid"/>
          </a:ln>
        </p:spPr>
      </p:sp>
      <p:sp>
        <p:nvSpPr>
          <p:cNvPr id="82" name="Shape 80"/>
          <p:cNvSpPr/>
          <p:nvPr/>
        </p:nvSpPr>
        <p:spPr>
          <a:xfrm>
            <a:off x="10835640" y="3429000"/>
            <a:ext cx="299923" cy="299923"/>
          </a:xfrm>
          <a:prstGeom prst="ellipse">
            <a:avLst/>
          </a:prstGeom>
          <a:solidFill>
            <a:srgbClr val="965F4C"/>
          </a:solidFill>
          <a:ln w="12700">
            <a:solidFill>
              <a:srgbClr val="965F4C"/>
            </a:solidFill>
            <a:prstDash val="solid"/>
          </a:ln>
        </p:spPr>
      </p:sp>
      <p:sp>
        <p:nvSpPr>
          <p:cNvPr id="83" name="Shape 81"/>
          <p:cNvSpPr/>
          <p:nvPr/>
        </p:nvSpPr>
        <p:spPr>
          <a:xfrm>
            <a:off x="11201400" y="3429000"/>
            <a:ext cx="299923" cy="299923"/>
          </a:xfrm>
          <a:prstGeom prst="ellipse">
            <a:avLst/>
          </a:prstGeom>
          <a:solidFill>
            <a:srgbClr val="6F5A5A"/>
          </a:solidFill>
          <a:ln w="12700">
            <a:solidFill>
              <a:srgbClr val="6F5A5A"/>
            </a:solidFill>
            <a:prstDash val="solid"/>
          </a:ln>
        </p:spPr>
      </p:sp>
      <p:sp>
        <p:nvSpPr>
          <p:cNvPr id="84" name="Shape 82"/>
          <p:cNvSpPr/>
          <p:nvPr/>
        </p:nvSpPr>
        <p:spPr>
          <a:xfrm>
            <a:off x="6812280" y="3794760"/>
            <a:ext cx="299923" cy="299923"/>
          </a:xfrm>
          <a:prstGeom prst="ellipse">
            <a:avLst/>
          </a:prstGeom>
          <a:solidFill>
            <a:srgbClr val="66595D"/>
          </a:solidFill>
          <a:ln w="12700">
            <a:solidFill>
              <a:srgbClr val="66595D"/>
            </a:solidFill>
            <a:prstDash val="solid"/>
          </a:ln>
        </p:spPr>
      </p:sp>
      <p:sp>
        <p:nvSpPr>
          <p:cNvPr id="85" name="Shape 83"/>
          <p:cNvSpPr/>
          <p:nvPr/>
        </p:nvSpPr>
        <p:spPr>
          <a:xfrm>
            <a:off x="7178040" y="3794760"/>
            <a:ext cx="299923" cy="299923"/>
          </a:xfrm>
          <a:prstGeom prst="ellipse">
            <a:avLst/>
          </a:prstGeom>
          <a:solidFill>
            <a:srgbClr val="8C5E4F"/>
          </a:solidFill>
          <a:ln w="12700">
            <a:solidFill>
              <a:srgbClr val="8C5E4F"/>
            </a:solidFill>
            <a:prstDash val="solid"/>
          </a:ln>
        </p:spPr>
      </p:sp>
      <p:sp>
        <p:nvSpPr>
          <p:cNvPr id="86" name="Shape 84"/>
          <p:cNvSpPr/>
          <p:nvPr/>
        </p:nvSpPr>
        <p:spPr>
          <a:xfrm>
            <a:off x="7543800" y="3794760"/>
            <a:ext cx="299923" cy="299923"/>
          </a:xfrm>
          <a:prstGeom prst="ellipse">
            <a:avLst/>
          </a:prstGeom>
          <a:solidFill>
            <a:srgbClr val="B16342"/>
          </a:solidFill>
          <a:ln w="12700">
            <a:solidFill>
              <a:srgbClr val="B16342"/>
            </a:solidFill>
            <a:prstDash val="solid"/>
          </a:ln>
        </p:spPr>
      </p:sp>
      <p:sp>
        <p:nvSpPr>
          <p:cNvPr id="87" name="Shape 85"/>
          <p:cNvSpPr/>
          <p:nvPr/>
        </p:nvSpPr>
        <p:spPr>
          <a:xfrm>
            <a:off x="7909560" y="3794760"/>
            <a:ext cx="299923" cy="299923"/>
          </a:xfrm>
          <a:prstGeom prst="ellipse">
            <a:avLst/>
          </a:prstGeom>
          <a:solidFill>
            <a:srgbClr val="CC693B"/>
          </a:solidFill>
          <a:ln w="12700">
            <a:solidFill>
              <a:srgbClr val="CC693B"/>
            </a:solidFill>
            <a:prstDash val="solid"/>
          </a:ln>
        </p:spPr>
      </p:sp>
      <p:sp>
        <p:nvSpPr>
          <p:cNvPr id="88" name="Shape 86"/>
          <p:cNvSpPr/>
          <p:nvPr/>
        </p:nvSpPr>
        <p:spPr>
          <a:xfrm>
            <a:off x="8275320" y="3794760"/>
            <a:ext cx="299923" cy="299923"/>
          </a:xfrm>
          <a:prstGeom prst="ellipse">
            <a:avLst/>
          </a:prstGeom>
          <a:solidFill>
            <a:srgbClr val="D5703F"/>
          </a:solidFill>
          <a:ln w="12700">
            <a:solidFill>
              <a:srgbClr val="D5703F"/>
            </a:solidFill>
            <a:prstDash val="solid"/>
          </a:ln>
        </p:spPr>
      </p:sp>
      <p:sp>
        <p:nvSpPr>
          <p:cNvPr id="89" name="Shape 87"/>
          <p:cNvSpPr/>
          <p:nvPr/>
        </p:nvSpPr>
        <p:spPr>
          <a:xfrm>
            <a:off x="8641080" y="3794760"/>
            <a:ext cx="299923" cy="299923"/>
          </a:xfrm>
          <a:prstGeom prst="ellipse">
            <a:avLst/>
          </a:prstGeom>
          <a:solidFill>
            <a:srgbClr val="DC7541"/>
          </a:solidFill>
          <a:ln w="12700">
            <a:solidFill>
              <a:srgbClr val="DC7541"/>
            </a:solidFill>
            <a:prstDash val="solid"/>
          </a:ln>
        </p:spPr>
      </p:sp>
      <p:sp>
        <p:nvSpPr>
          <p:cNvPr id="90" name="Shape 88"/>
          <p:cNvSpPr/>
          <p:nvPr/>
        </p:nvSpPr>
        <p:spPr>
          <a:xfrm>
            <a:off x="9006840" y="3794760"/>
            <a:ext cx="299923" cy="299923"/>
          </a:xfrm>
          <a:prstGeom prst="ellipse">
            <a:avLst/>
          </a:prstGeom>
          <a:solidFill>
            <a:srgbClr val="DF7843"/>
          </a:solidFill>
          <a:ln w="12700">
            <a:solidFill>
              <a:srgbClr val="DF7843"/>
            </a:solidFill>
            <a:prstDash val="solid"/>
          </a:ln>
        </p:spPr>
      </p:sp>
      <p:sp>
        <p:nvSpPr>
          <p:cNvPr id="91" name="Shape 89"/>
          <p:cNvSpPr/>
          <p:nvPr/>
        </p:nvSpPr>
        <p:spPr>
          <a:xfrm>
            <a:off x="9372600" y="3794760"/>
            <a:ext cx="299923" cy="299923"/>
          </a:xfrm>
          <a:prstGeom prst="ellipse">
            <a:avLst/>
          </a:prstGeom>
          <a:solidFill>
            <a:srgbClr val="DC7541"/>
          </a:solidFill>
          <a:ln w="12700">
            <a:solidFill>
              <a:srgbClr val="DC7541"/>
            </a:solidFill>
            <a:prstDash val="solid"/>
          </a:ln>
        </p:spPr>
      </p:sp>
      <p:sp>
        <p:nvSpPr>
          <p:cNvPr id="92" name="Shape 90"/>
          <p:cNvSpPr/>
          <p:nvPr/>
        </p:nvSpPr>
        <p:spPr>
          <a:xfrm>
            <a:off x="9738360" y="3794760"/>
            <a:ext cx="299923" cy="299923"/>
          </a:xfrm>
          <a:prstGeom prst="ellipse">
            <a:avLst/>
          </a:prstGeom>
          <a:solidFill>
            <a:srgbClr val="D5703F"/>
          </a:solidFill>
          <a:ln w="12700">
            <a:solidFill>
              <a:srgbClr val="D5703F"/>
            </a:solidFill>
            <a:prstDash val="solid"/>
          </a:ln>
        </p:spPr>
      </p:sp>
      <p:sp>
        <p:nvSpPr>
          <p:cNvPr id="93" name="Shape 91"/>
          <p:cNvSpPr/>
          <p:nvPr/>
        </p:nvSpPr>
        <p:spPr>
          <a:xfrm>
            <a:off x="10104120" y="3794760"/>
            <a:ext cx="299923" cy="299923"/>
          </a:xfrm>
          <a:prstGeom prst="ellipse">
            <a:avLst/>
          </a:prstGeom>
          <a:solidFill>
            <a:srgbClr val="CC693B"/>
          </a:solidFill>
          <a:ln w="12700">
            <a:solidFill>
              <a:srgbClr val="CC693B"/>
            </a:solidFill>
            <a:prstDash val="solid"/>
          </a:ln>
        </p:spPr>
      </p:sp>
      <p:sp>
        <p:nvSpPr>
          <p:cNvPr id="94" name="Shape 92"/>
          <p:cNvSpPr/>
          <p:nvPr/>
        </p:nvSpPr>
        <p:spPr>
          <a:xfrm>
            <a:off x="10469880" y="3794760"/>
            <a:ext cx="299923" cy="299923"/>
          </a:xfrm>
          <a:prstGeom prst="ellipse">
            <a:avLst/>
          </a:prstGeom>
          <a:solidFill>
            <a:srgbClr val="B16342"/>
          </a:solidFill>
          <a:ln w="12700">
            <a:solidFill>
              <a:srgbClr val="B16342"/>
            </a:solidFill>
            <a:prstDash val="solid"/>
          </a:ln>
        </p:spPr>
      </p:sp>
      <p:sp>
        <p:nvSpPr>
          <p:cNvPr id="95" name="Shape 93"/>
          <p:cNvSpPr/>
          <p:nvPr/>
        </p:nvSpPr>
        <p:spPr>
          <a:xfrm>
            <a:off x="10835640" y="3794760"/>
            <a:ext cx="299923" cy="299923"/>
          </a:xfrm>
          <a:prstGeom prst="ellipse">
            <a:avLst/>
          </a:prstGeom>
          <a:solidFill>
            <a:srgbClr val="8C5E4F"/>
          </a:solidFill>
          <a:ln w="12700">
            <a:solidFill>
              <a:srgbClr val="8C5E4F"/>
            </a:solidFill>
            <a:prstDash val="solid"/>
          </a:ln>
        </p:spPr>
      </p:sp>
      <p:sp>
        <p:nvSpPr>
          <p:cNvPr id="96" name="Shape 94"/>
          <p:cNvSpPr/>
          <p:nvPr/>
        </p:nvSpPr>
        <p:spPr>
          <a:xfrm>
            <a:off x="11201400" y="3794760"/>
            <a:ext cx="299923" cy="299923"/>
          </a:xfrm>
          <a:prstGeom prst="ellipse">
            <a:avLst/>
          </a:prstGeom>
          <a:solidFill>
            <a:srgbClr val="66595D"/>
          </a:solidFill>
          <a:ln w="12700">
            <a:solidFill>
              <a:srgbClr val="66595D"/>
            </a:solidFill>
            <a:prstDash val="solid"/>
          </a:ln>
        </p:spPr>
      </p:sp>
      <p:sp>
        <p:nvSpPr>
          <p:cNvPr id="97" name="Shape 95"/>
          <p:cNvSpPr/>
          <p:nvPr/>
        </p:nvSpPr>
        <p:spPr>
          <a:xfrm>
            <a:off x="6812280" y="4160520"/>
            <a:ext cx="299923" cy="299923"/>
          </a:xfrm>
          <a:prstGeom prst="ellipse">
            <a:avLst/>
          </a:prstGeom>
          <a:solidFill>
            <a:srgbClr val="565762"/>
          </a:solidFill>
          <a:ln w="12700">
            <a:solidFill>
              <a:srgbClr val="565762"/>
            </a:solidFill>
            <a:prstDash val="solid"/>
          </a:ln>
        </p:spPr>
      </p:sp>
      <p:sp>
        <p:nvSpPr>
          <p:cNvPr id="98" name="Shape 96"/>
          <p:cNvSpPr/>
          <p:nvPr/>
        </p:nvSpPr>
        <p:spPr>
          <a:xfrm>
            <a:off x="7178040" y="4160520"/>
            <a:ext cx="299923" cy="299923"/>
          </a:xfrm>
          <a:prstGeom prst="ellipse">
            <a:avLst/>
          </a:prstGeom>
          <a:solidFill>
            <a:srgbClr val="795C56"/>
          </a:solidFill>
          <a:ln w="12700">
            <a:solidFill>
              <a:srgbClr val="795C56"/>
            </a:solidFill>
            <a:prstDash val="solid"/>
          </a:ln>
        </p:spPr>
      </p:sp>
      <p:sp>
        <p:nvSpPr>
          <p:cNvPr id="99" name="Shape 97"/>
          <p:cNvSpPr/>
          <p:nvPr/>
        </p:nvSpPr>
        <p:spPr>
          <a:xfrm>
            <a:off x="7543800" y="4160520"/>
            <a:ext cx="299923" cy="299923"/>
          </a:xfrm>
          <a:prstGeom prst="ellipse">
            <a:avLst/>
          </a:prstGeom>
          <a:solidFill>
            <a:srgbClr val="9A604A"/>
          </a:solidFill>
          <a:ln w="12700">
            <a:solidFill>
              <a:srgbClr val="9A604A"/>
            </a:solidFill>
            <a:prstDash val="solid"/>
          </a:ln>
        </p:spPr>
      </p:sp>
      <p:sp>
        <p:nvSpPr>
          <p:cNvPr id="100" name="Shape 98"/>
          <p:cNvSpPr/>
          <p:nvPr/>
        </p:nvSpPr>
        <p:spPr>
          <a:xfrm>
            <a:off x="7909560" y="4160520"/>
            <a:ext cx="299923" cy="299923"/>
          </a:xfrm>
          <a:prstGeom prst="ellipse">
            <a:avLst/>
          </a:prstGeom>
          <a:solidFill>
            <a:srgbClr val="B96440"/>
          </a:solidFill>
          <a:ln w="12700">
            <a:solidFill>
              <a:srgbClr val="B96440"/>
            </a:solidFill>
            <a:prstDash val="solid"/>
          </a:ln>
        </p:spPr>
      </p:sp>
      <p:sp>
        <p:nvSpPr>
          <p:cNvPr id="101" name="Shape 99"/>
          <p:cNvSpPr/>
          <p:nvPr/>
        </p:nvSpPr>
        <p:spPr>
          <a:xfrm>
            <a:off x="8275320" y="4160520"/>
            <a:ext cx="299923" cy="299923"/>
          </a:xfrm>
          <a:prstGeom prst="ellipse">
            <a:avLst/>
          </a:prstGeom>
          <a:solidFill>
            <a:srgbClr val="CC683B"/>
          </a:solidFill>
          <a:ln w="12700">
            <a:solidFill>
              <a:srgbClr val="CC683B"/>
            </a:solidFill>
            <a:prstDash val="solid"/>
          </a:ln>
        </p:spPr>
      </p:sp>
      <p:sp>
        <p:nvSpPr>
          <p:cNvPr id="102" name="Shape 100"/>
          <p:cNvSpPr/>
          <p:nvPr/>
        </p:nvSpPr>
        <p:spPr>
          <a:xfrm>
            <a:off x="8641080" y="4160520"/>
            <a:ext cx="299923" cy="299923"/>
          </a:xfrm>
          <a:prstGeom prst="ellipse">
            <a:avLst/>
          </a:prstGeom>
          <a:solidFill>
            <a:srgbClr val="D16C3D"/>
          </a:solidFill>
          <a:ln w="12700">
            <a:solidFill>
              <a:srgbClr val="D16C3D"/>
            </a:solidFill>
            <a:prstDash val="solid"/>
          </a:ln>
        </p:spPr>
      </p:sp>
      <p:sp>
        <p:nvSpPr>
          <p:cNvPr id="103" name="Shape 101"/>
          <p:cNvSpPr/>
          <p:nvPr/>
        </p:nvSpPr>
        <p:spPr>
          <a:xfrm>
            <a:off x="9006840" y="4160520"/>
            <a:ext cx="299923" cy="299923"/>
          </a:xfrm>
          <a:prstGeom prst="ellipse">
            <a:avLst/>
          </a:prstGeom>
          <a:solidFill>
            <a:srgbClr val="D36E3E"/>
          </a:solidFill>
          <a:ln w="12700">
            <a:solidFill>
              <a:srgbClr val="D36E3E"/>
            </a:solidFill>
            <a:prstDash val="solid"/>
          </a:ln>
        </p:spPr>
      </p:sp>
      <p:sp>
        <p:nvSpPr>
          <p:cNvPr id="104" name="Shape 102"/>
          <p:cNvSpPr/>
          <p:nvPr/>
        </p:nvSpPr>
        <p:spPr>
          <a:xfrm>
            <a:off x="9372600" y="4160520"/>
            <a:ext cx="299923" cy="299923"/>
          </a:xfrm>
          <a:prstGeom prst="ellipse">
            <a:avLst/>
          </a:prstGeom>
          <a:solidFill>
            <a:srgbClr val="D16C3D"/>
          </a:solidFill>
          <a:ln w="12700">
            <a:solidFill>
              <a:srgbClr val="D16C3D"/>
            </a:solidFill>
            <a:prstDash val="solid"/>
          </a:ln>
        </p:spPr>
      </p:sp>
      <p:sp>
        <p:nvSpPr>
          <p:cNvPr id="105" name="Shape 103"/>
          <p:cNvSpPr/>
          <p:nvPr/>
        </p:nvSpPr>
        <p:spPr>
          <a:xfrm>
            <a:off x="9738360" y="4160520"/>
            <a:ext cx="299923" cy="299923"/>
          </a:xfrm>
          <a:prstGeom prst="ellipse">
            <a:avLst/>
          </a:prstGeom>
          <a:solidFill>
            <a:srgbClr val="CC683B"/>
          </a:solidFill>
          <a:ln w="12700">
            <a:solidFill>
              <a:srgbClr val="CC683B"/>
            </a:solidFill>
            <a:prstDash val="solid"/>
          </a:ln>
        </p:spPr>
      </p:sp>
      <p:sp>
        <p:nvSpPr>
          <p:cNvPr id="106" name="Shape 104"/>
          <p:cNvSpPr/>
          <p:nvPr/>
        </p:nvSpPr>
        <p:spPr>
          <a:xfrm>
            <a:off x="10104120" y="4160520"/>
            <a:ext cx="299923" cy="299923"/>
          </a:xfrm>
          <a:prstGeom prst="ellipse">
            <a:avLst/>
          </a:prstGeom>
          <a:solidFill>
            <a:srgbClr val="B96440"/>
          </a:solidFill>
          <a:ln w="12700">
            <a:solidFill>
              <a:srgbClr val="B96440"/>
            </a:solidFill>
            <a:prstDash val="solid"/>
          </a:ln>
        </p:spPr>
      </p:sp>
      <p:sp>
        <p:nvSpPr>
          <p:cNvPr id="107" name="Shape 105"/>
          <p:cNvSpPr/>
          <p:nvPr/>
        </p:nvSpPr>
        <p:spPr>
          <a:xfrm>
            <a:off x="10469880" y="4160520"/>
            <a:ext cx="299923" cy="299923"/>
          </a:xfrm>
          <a:prstGeom prst="ellipse">
            <a:avLst/>
          </a:prstGeom>
          <a:solidFill>
            <a:srgbClr val="9A604A"/>
          </a:solidFill>
          <a:ln w="12700">
            <a:solidFill>
              <a:srgbClr val="9A604A"/>
            </a:solidFill>
            <a:prstDash val="solid"/>
          </a:ln>
        </p:spPr>
      </p:sp>
      <p:sp>
        <p:nvSpPr>
          <p:cNvPr id="108" name="Shape 106"/>
          <p:cNvSpPr/>
          <p:nvPr/>
        </p:nvSpPr>
        <p:spPr>
          <a:xfrm>
            <a:off x="10835640" y="4160520"/>
            <a:ext cx="299923" cy="299923"/>
          </a:xfrm>
          <a:prstGeom prst="ellipse">
            <a:avLst/>
          </a:prstGeom>
          <a:solidFill>
            <a:srgbClr val="795C56"/>
          </a:solidFill>
          <a:ln w="12700">
            <a:solidFill>
              <a:srgbClr val="795C56"/>
            </a:solidFill>
            <a:prstDash val="solid"/>
          </a:ln>
        </p:spPr>
      </p:sp>
      <p:sp>
        <p:nvSpPr>
          <p:cNvPr id="109" name="Shape 107"/>
          <p:cNvSpPr/>
          <p:nvPr/>
        </p:nvSpPr>
        <p:spPr>
          <a:xfrm>
            <a:off x="11201400" y="4160520"/>
            <a:ext cx="299923" cy="299923"/>
          </a:xfrm>
          <a:prstGeom prst="ellipse">
            <a:avLst/>
          </a:prstGeom>
          <a:solidFill>
            <a:srgbClr val="565762"/>
          </a:solidFill>
          <a:ln w="12700">
            <a:solidFill>
              <a:srgbClr val="565762"/>
            </a:solidFill>
            <a:prstDash val="solid"/>
          </a:ln>
        </p:spPr>
      </p:sp>
      <p:sp>
        <p:nvSpPr>
          <p:cNvPr id="110" name="Shape 108"/>
          <p:cNvSpPr/>
          <p:nvPr/>
        </p:nvSpPr>
        <p:spPr>
          <a:xfrm>
            <a:off x="6812280" y="4526280"/>
            <a:ext cx="299923" cy="299923"/>
          </a:xfrm>
          <a:prstGeom prst="ellipse">
            <a:avLst/>
          </a:prstGeom>
          <a:solidFill>
            <a:srgbClr val="3F546A"/>
          </a:solidFill>
          <a:ln w="12700">
            <a:solidFill>
              <a:srgbClr val="3F546A"/>
            </a:solidFill>
            <a:prstDash val="solid"/>
          </a:ln>
        </p:spPr>
      </p:sp>
      <p:sp>
        <p:nvSpPr>
          <p:cNvPr id="111" name="Shape 109"/>
          <p:cNvSpPr/>
          <p:nvPr/>
        </p:nvSpPr>
        <p:spPr>
          <a:xfrm>
            <a:off x="7178040" y="4526280"/>
            <a:ext cx="299923" cy="299923"/>
          </a:xfrm>
          <a:prstGeom prst="ellipse">
            <a:avLst/>
          </a:prstGeom>
          <a:solidFill>
            <a:srgbClr val="5F585F"/>
          </a:solidFill>
          <a:ln w="12700">
            <a:solidFill>
              <a:srgbClr val="5F585F"/>
            </a:solidFill>
            <a:prstDash val="solid"/>
          </a:ln>
        </p:spPr>
      </p:sp>
      <p:sp>
        <p:nvSpPr>
          <p:cNvPr id="112" name="Shape 110"/>
          <p:cNvSpPr/>
          <p:nvPr/>
        </p:nvSpPr>
        <p:spPr>
          <a:xfrm>
            <a:off x="7543800" y="4526280"/>
            <a:ext cx="299923" cy="299923"/>
          </a:xfrm>
          <a:prstGeom prst="ellipse">
            <a:avLst/>
          </a:prstGeom>
          <a:solidFill>
            <a:srgbClr val="7D5C55"/>
          </a:solidFill>
          <a:ln w="12700">
            <a:solidFill>
              <a:srgbClr val="7D5C55"/>
            </a:solidFill>
            <a:prstDash val="solid"/>
          </a:ln>
        </p:spPr>
      </p:sp>
      <p:sp>
        <p:nvSpPr>
          <p:cNvPr id="113" name="Shape 111"/>
          <p:cNvSpPr/>
          <p:nvPr/>
        </p:nvSpPr>
        <p:spPr>
          <a:xfrm>
            <a:off x="7909560" y="4526280"/>
            <a:ext cx="299923" cy="299923"/>
          </a:xfrm>
          <a:prstGeom prst="ellipse">
            <a:avLst/>
          </a:prstGeom>
          <a:solidFill>
            <a:srgbClr val="97604C"/>
          </a:solidFill>
          <a:ln w="12700">
            <a:solidFill>
              <a:srgbClr val="97604C"/>
            </a:solidFill>
            <a:prstDash val="solid"/>
          </a:ln>
        </p:spPr>
      </p:sp>
      <p:sp>
        <p:nvSpPr>
          <p:cNvPr id="114" name="Shape 112"/>
          <p:cNvSpPr/>
          <p:nvPr/>
        </p:nvSpPr>
        <p:spPr>
          <a:xfrm>
            <a:off x="8275320" y="4526280"/>
            <a:ext cx="299923" cy="299923"/>
          </a:xfrm>
          <a:prstGeom prst="ellipse">
            <a:avLst/>
          </a:prstGeom>
          <a:solidFill>
            <a:srgbClr val="AB6244"/>
          </a:solidFill>
          <a:ln w="12700">
            <a:solidFill>
              <a:srgbClr val="AB6244"/>
            </a:solidFill>
            <a:prstDash val="solid"/>
          </a:ln>
        </p:spPr>
      </p:sp>
      <p:sp>
        <p:nvSpPr>
          <p:cNvPr id="115" name="Shape 113"/>
          <p:cNvSpPr/>
          <p:nvPr/>
        </p:nvSpPr>
        <p:spPr>
          <a:xfrm>
            <a:off x="8641080" y="4526280"/>
            <a:ext cx="299923" cy="299923"/>
          </a:xfrm>
          <a:prstGeom prst="ellipse">
            <a:avLst/>
          </a:prstGeom>
          <a:solidFill>
            <a:srgbClr val="B96440"/>
          </a:solidFill>
          <a:ln w="12700">
            <a:solidFill>
              <a:srgbClr val="B96440"/>
            </a:solidFill>
            <a:prstDash val="solid"/>
          </a:ln>
        </p:spPr>
      </p:sp>
      <p:sp>
        <p:nvSpPr>
          <p:cNvPr id="116" name="Shape 114"/>
          <p:cNvSpPr/>
          <p:nvPr/>
        </p:nvSpPr>
        <p:spPr>
          <a:xfrm>
            <a:off x="9006840" y="4526280"/>
            <a:ext cx="299923" cy="299923"/>
          </a:xfrm>
          <a:prstGeom prst="ellipse">
            <a:avLst/>
          </a:prstGeom>
          <a:solidFill>
            <a:srgbClr val="BE653E"/>
          </a:solidFill>
          <a:ln w="12700">
            <a:solidFill>
              <a:srgbClr val="BE653E"/>
            </a:solidFill>
            <a:prstDash val="solid"/>
          </a:ln>
        </p:spPr>
      </p:sp>
      <p:sp>
        <p:nvSpPr>
          <p:cNvPr id="117" name="Shape 115"/>
          <p:cNvSpPr/>
          <p:nvPr/>
        </p:nvSpPr>
        <p:spPr>
          <a:xfrm>
            <a:off x="9372600" y="4526280"/>
            <a:ext cx="299923" cy="299923"/>
          </a:xfrm>
          <a:prstGeom prst="ellipse">
            <a:avLst/>
          </a:prstGeom>
          <a:solidFill>
            <a:srgbClr val="B96440"/>
          </a:solidFill>
          <a:ln w="12700">
            <a:solidFill>
              <a:srgbClr val="B96440"/>
            </a:solidFill>
            <a:prstDash val="solid"/>
          </a:ln>
        </p:spPr>
      </p:sp>
      <p:sp>
        <p:nvSpPr>
          <p:cNvPr id="118" name="Shape 116"/>
          <p:cNvSpPr/>
          <p:nvPr/>
        </p:nvSpPr>
        <p:spPr>
          <a:xfrm>
            <a:off x="9738360" y="4526280"/>
            <a:ext cx="299923" cy="299923"/>
          </a:xfrm>
          <a:prstGeom prst="ellipse">
            <a:avLst/>
          </a:prstGeom>
          <a:solidFill>
            <a:srgbClr val="AB6244"/>
          </a:solidFill>
          <a:ln w="12700">
            <a:solidFill>
              <a:srgbClr val="AB6244"/>
            </a:solidFill>
            <a:prstDash val="solid"/>
          </a:ln>
        </p:spPr>
      </p:sp>
      <p:sp>
        <p:nvSpPr>
          <p:cNvPr id="119" name="Shape 117"/>
          <p:cNvSpPr/>
          <p:nvPr/>
        </p:nvSpPr>
        <p:spPr>
          <a:xfrm>
            <a:off x="10104120" y="4526280"/>
            <a:ext cx="299923" cy="299923"/>
          </a:xfrm>
          <a:prstGeom prst="ellipse">
            <a:avLst/>
          </a:prstGeom>
          <a:solidFill>
            <a:srgbClr val="97604C"/>
          </a:solidFill>
          <a:ln w="12700">
            <a:solidFill>
              <a:srgbClr val="97604C"/>
            </a:solidFill>
            <a:prstDash val="solid"/>
          </a:ln>
        </p:spPr>
      </p:sp>
      <p:sp>
        <p:nvSpPr>
          <p:cNvPr id="120" name="Shape 118"/>
          <p:cNvSpPr/>
          <p:nvPr/>
        </p:nvSpPr>
        <p:spPr>
          <a:xfrm>
            <a:off x="10469880" y="4526280"/>
            <a:ext cx="299923" cy="299923"/>
          </a:xfrm>
          <a:prstGeom prst="ellipse">
            <a:avLst/>
          </a:prstGeom>
          <a:solidFill>
            <a:srgbClr val="7D5C55"/>
          </a:solidFill>
          <a:ln w="12700">
            <a:solidFill>
              <a:srgbClr val="7D5C55"/>
            </a:solidFill>
            <a:prstDash val="solid"/>
          </a:ln>
        </p:spPr>
      </p:sp>
      <p:sp>
        <p:nvSpPr>
          <p:cNvPr id="121" name="Shape 119"/>
          <p:cNvSpPr/>
          <p:nvPr/>
        </p:nvSpPr>
        <p:spPr>
          <a:xfrm>
            <a:off x="10835640" y="4526280"/>
            <a:ext cx="299923" cy="299923"/>
          </a:xfrm>
          <a:prstGeom prst="ellipse">
            <a:avLst/>
          </a:prstGeom>
          <a:solidFill>
            <a:srgbClr val="5F585F"/>
          </a:solidFill>
          <a:ln w="12700">
            <a:solidFill>
              <a:srgbClr val="5F585F"/>
            </a:solidFill>
            <a:prstDash val="solid"/>
          </a:ln>
        </p:spPr>
      </p:sp>
      <p:sp>
        <p:nvSpPr>
          <p:cNvPr id="122" name="Shape 120"/>
          <p:cNvSpPr/>
          <p:nvPr/>
        </p:nvSpPr>
        <p:spPr>
          <a:xfrm>
            <a:off x="11201400" y="4526280"/>
            <a:ext cx="299923" cy="299923"/>
          </a:xfrm>
          <a:prstGeom prst="ellipse">
            <a:avLst/>
          </a:prstGeom>
          <a:solidFill>
            <a:srgbClr val="3F546A"/>
          </a:solidFill>
          <a:ln w="12700">
            <a:solidFill>
              <a:srgbClr val="3F546A"/>
            </a:solidFill>
            <a:prstDash val="solid"/>
          </a:ln>
        </p:spPr>
      </p:sp>
      <p:sp>
        <p:nvSpPr>
          <p:cNvPr id="123" name="Shape 121"/>
          <p:cNvSpPr/>
          <p:nvPr/>
        </p:nvSpPr>
        <p:spPr>
          <a:xfrm>
            <a:off x="6812280" y="4892040"/>
            <a:ext cx="299923" cy="299923"/>
          </a:xfrm>
          <a:prstGeom prst="ellipse">
            <a:avLst/>
          </a:prstGeom>
          <a:solidFill>
            <a:srgbClr val="34536E"/>
          </a:solidFill>
          <a:ln w="12700">
            <a:solidFill>
              <a:srgbClr val="34536E"/>
            </a:solidFill>
            <a:prstDash val="solid"/>
          </a:ln>
        </p:spPr>
      </p:sp>
      <p:sp>
        <p:nvSpPr>
          <p:cNvPr id="124" name="Shape 122"/>
          <p:cNvSpPr/>
          <p:nvPr/>
        </p:nvSpPr>
        <p:spPr>
          <a:xfrm>
            <a:off x="7178040" y="4892040"/>
            <a:ext cx="299923" cy="299923"/>
          </a:xfrm>
          <a:prstGeom prst="ellipse">
            <a:avLst/>
          </a:prstGeom>
          <a:solidFill>
            <a:srgbClr val="40556A"/>
          </a:solidFill>
          <a:ln w="12700">
            <a:solidFill>
              <a:srgbClr val="40556A"/>
            </a:solidFill>
            <a:prstDash val="solid"/>
          </a:ln>
        </p:spPr>
      </p:sp>
      <p:sp>
        <p:nvSpPr>
          <p:cNvPr id="125" name="Shape 123"/>
          <p:cNvSpPr/>
          <p:nvPr/>
        </p:nvSpPr>
        <p:spPr>
          <a:xfrm>
            <a:off x="7543800" y="4892040"/>
            <a:ext cx="299923" cy="299923"/>
          </a:xfrm>
          <a:prstGeom prst="ellipse">
            <a:avLst/>
          </a:prstGeom>
          <a:solidFill>
            <a:srgbClr val="5A5861"/>
          </a:solidFill>
          <a:ln w="12700">
            <a:solidFill>
              <a:srgbClr val="5A5861"/>
            </a:solidFill>
            <a:prstDash val="solid"/>
          </a:ln>
        </p:spPr>
      </p:sp>
      <p:sp>
        <p:nvSpPr>
          <p:cNvPr id="126" name="Shape 124"/>
          <p:cNvSpPr/>
          <p:nvPr/>
        </p:nvSpPr>
        <p:spPr>
          <a:xfrm>
            <a:off x="7909560" y="4892040"/>
            <a:ext cx="299923" cy="299923"/>
          </a:xfrm>
          <a:prstGeom prst="ellipse">
            <a:avLst/>
          </a:prstGeom>
          <a:solidFill>
            <a:srgbClr val="705B59"/>
          </a:solidFill>
          <a:ln w="12700">
            <a:solidFill>
              <a:srgbClr val="705B59"/>
            </a:solidFill>
            <a:prstDash val="solid"/>
          </a:ln>
        </p:spPr>
      </p:sp>
      <p:sp>
        <p:nvSpPr>
          <p:cNvPr id="127" name="Shape 125"/>
          <p:cNvSpPr/>
          <p:nvPr/>
        </p:nvSpPr>
        <p:spPr>
          <a:xfrm>
            <a:off x="8275320" y="4892040"/>
            <a:ext cx="299923" cy="299923"/>
          </a:xfrm>
          <a:prstGeom prst="ellipse">
            <a:avLst/>
          </a:prstGeom>
          <a:solidFill>
            <a:srgbClr val="825D53"/>
          </a:solidFill>
          <a:ln w="12700">
            <a:solidFill>
              <a:srgbClr val="825D53"/>
            </a:solidFill>
            <a:prstDash val="solid"/>
          </a:ln>
        </p:spPr>
      </p:sp>
      <p:sp>
        <p:nvSpPr>
          <p:cNvPr id="128" name="Shape 126"/>
          <p:cNvSpPr/>
          <p:nvPr/>
        </p:nvSpPr>
        <p:spPr>
          <a:xfrm>
            <a:off x="8641080" y="4892040"/>
            <a:ext cx="299923" cy="299923"/>
          </a:xfrm>
          <a:prstGeom prst="ellipse">
            <a:avLst/>
          </a:prstGeom>
          <a:solidFill>
            <a:srgbClr val="8D5E4F"/>
          </a:solidFill>
          <a:ln w="12700">
            <a:solidFill>
              <a:srgbClr val="8D5E4F"/>
            </a:solidFill>
            <a:prstDash val="solid"/>
          </a:ln>
        </p:spPr>
      </p:sp>
      <p:sp>
        <p:nvSpPr>
          <p:cNvPr id="129" name="Shape 127"/>
          <p:cNvSpPr/>
          <p:nvPr/>
        </p:nvSpPr>
        <p:spPr>
          <a:xfrm>
            <a:off x="9006840" y="4892040"/>
            <a:ext cx="299923" cy="299923"/>
          </a:xfrm>
          <a:prstGeom prst="ellipse">
            <a:avLst/>
          </a:prstGeom>
          <a:solidFill>
            <a:srgbClr val="905F4E"/>
          </a:solidFill>
          <a:ln w="12700">
            <a:solidFill>
              <a:srgbClr val="905F4E"/>
            </a:solidFill>
            <a:prstDash val="solid"/>
          </a:ln>
        </p:spPr>
      </p:sp>
      <p:sp>
        <p:nvSpPr>
          <p:cNvPr id="130" name="Shape 128"/>
          <p:cNvSpPr/>
          <p:nvPr/>
        </p:nvSpPr>
        <p:spPr>
          <a:xfrm>
            <a:off x="9372600" y="4892040"/>
            <a:ext cx="299923" cy="299923"/>
          </a:xfrm>
          <a:prstGeom prst="ellipse">
            <a:avLst/>
          </a:prstGeom>
          <a:solidFill>
            <a:srgbClr val="8D5E4F"/>
          </a:solidFill>
          <a:ln w="12700">
            <a:solidFill>
              <a:srgbClr val="8D5E4F"/>
            </a:solidFill>
            <a:prstDash val="solid"/>
          </a:ln>
        </p:spPr>
      </p:sp>
      <p:sp>
        <p:nvSpPr>
          <p:cNvPr id="131" name="Shape 129"/>
          <p:cNvSpPr/>
          <p:nvPr/>
        </p:nvSpPr>
        <p:spPr>
          <a:xfrm>
            <a:off x="9738360" y="4892040"/>
            <a:ext cx="299923" cy="299923"/>
          </a:xfrm>
          <a:prstGeom prst="ellipse">
            <a:avLst/>
          </a:prstGeom>
          <a:solidFill>
            <a:srgbClr val="825D53"/>
          </a:solidFill>
          <a:ln w="12700">
            <a:solidFill>
              <a:srgbClr val="825D53"/>
            </a:solidFill>
            <a:prstDash val="solid"/>
          </a:ln>
        </p:spPr>
      </p:sp>
      <p:sp>
        <p:nvSpPr>
          <p:cNvPr id="132" name="Shape 130"/>
          <p:cNvSpPr/>
          <p:nvPr/>
        </p:nvSpPr>
        <p:spPr>
          <a:xfrm>
            <a:off x="10104120" y="4892040"/>
            <a:ext cx="299923" cy="299923"/>
          </a:xfrm>
          <a:prstGeom prst="ellipse">
            <a:avLst/>
          </a:prstGeom>
          <a:solidFill>
            <a:srgbClr val="705B59"/>
          </a:solidFill>
          <a:ln w="12700">
            <a:solidFill>
              <a:srgbClr val="705B59"/>
            </a:solidFill>
            <a:prstDash val="solid"/>
          </a:ln>
        </p:spPr>
      </p:sp>
      <p:sp>
        <p:nvSpPr>
          <p:cNvPr id="133" name="Shape 131"/>
          <p:cNvSpPr/>
          <p:nvPr/>
        </p:nvSpPr>
        <p:spPr>
          <a:xfrm>
            <a:off x="10469880" y="4892040"/>
            <a:ext cx="299923" cy="299923"/>
          </a:xfrm>
          <a:prstGeom prst="ellipse">
            <a:avLst/>
          </a:prstGeom>
          <a:solidFill>
            <a:srgbClr val="5A5861"/>
          </a:solidFill>
          <a:ln w="12700">
            <a:solidFill>
              <a:srgbClr val="5A5861"/>
            </a:solidFill>
            <a:prstDash val="solid"/>
          </a:ln>
        </p:spPr>
      </p:sp>
      <p:sp>
        <p:nvSpPr>
          <p:cNvPr id="134" name="Shape 132"/>
          <p:cNvSpPr/>
          <p:nvPr/>
        </p:nvSpPr>
        <p:spPr>
          <a:xfrm>
            <a:off x="10835640" y="4892040"/>
            <a:ext cx="299923" cy="299923"/>
          </a:xfrm>
          <a:prstGeom prst="ellipse">
            <a:avLst/>
          </a:prstGeom>
          <a:solidFill>
            <a:srgbClr val="40556A"/>
          </a:solidFill>
          <a:ln w="12700">
            <a:solidFill>
              <a:srgbClr val="40556A"/>
            </a:solidFill>
            <a:prstDash val="solid"/>
          </a:ln>
        </p:spPr>
      </p:sp>
      <p:sp>
        <p:nvSpPr>
          <p:cNvPr id="135" name="Shape 133"/>
          <p:cNvSpPr/>
          <p:nvPr/>
        </p:nvSpPr>
        <p:spPr>
          <a:xfrm>
            <a:off x="11201400" y="4892040"/>
            <a:ext cx="299923" cy="299923"/>
          </a:xfrm>
          <a:prstGeom prst="ellipse">
            <a:avLst/>
          </a:prstGeom>
          <a:solidFill>
            <a:srgbClr val="34536E"/>
          </a:solidFill>
          <a:ln w="12700">
            <a:solidFill>
              <a:srgbClr val="34536E"/>
            </a:solidFill>
            <a:prstDash val="solid"/>
          </a:ln>
        </p:spPr>
      </p:sp>
      <p:sp>
        <p:nvSpPr>
          <p:cNvPr id="136" name="Shape 134"/>
          <p:cNvSpPr/>
          <p:nvPr/>
        </p:nvSpPr>
        <p:spPr>
          <a:xfrm>
            <a:off x="6748272" y="1536192"/>
            <a:ext cx="427939" cy="427939"/>
          </a:xfrm>
          <a:prstGeom prst="ellipse">
            <a:avLst/>
          </a:prstGeom>
          <a:ln w="31750">
            <a:solidFill>
              <a:srgbClr val="FFFFFF"/>
            </a:solidFill>
            <a:prstDash val="solid"/>
          </a:ln>
        </p:spPr>
      </p:sp>
      <p:sp>
        <p:nvSpPr>
          <p:cNvPr id="137" name="Shape 135"/>
          <p:cNvSpPr/>
          <p:nvPr/>
        </p:nvSpPr>
        <p:spPr>
          <a:xfrm>
            <a:off x="11137392" y="4828032"/>
            <a:ext cx="427939" cy="427939"/>
          </a:xfrm>
          <a:prstGeom prst="ellipse">
            <a:avLst/>
          </a:prstGeom>
          <a:ln w="3175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PROBLEM UNDERSTANDING</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One pack, one hard day</a:t>
            </a:r>
            <a:endParaRPr lang="en-US" sz="3400" dirty="0"/>
          </a:p>
        </p:txBody>
      </p:sp>
      <p:sp>
        <p:nvSpPr>
          <p:cNvPr id="4" name="Shape 2"/>
          <p:cNvSpPr/>
          <p:nvPr/>
        </p:nvSpPr>
        <p:spPr>
          <a:xfrm>
            <a:off x="548640" y="1600200"/>
            <a:ext cx="548640" cy="548640"/>
          </a:xfrm>
          <a:prstGeom prst="ellipse">
            <a:avLst/>
          </a:prstGeom>
          <a:solidFill>
            <a:srgbClr val="D9480F"/>
          </a:solidFill>
          <a:ln w="12700">
            <a:solidFill>
              <a:srgbClr val="D9480F"/>
            </a:solidFill>
            <a:prstDash val="solid"/>
          </a:ln>
        </p:spPr>
      </p:sp>
      <p:pic>
        <p:nvPicPr>
          <p:cNvPr id="5" name="Image 0" descr="preencoded.png">    </p:cNvPr>
          <p:cNvPicPr>
            <a:picLocks noChangeAspect="1"/>
          </p:cNvPicPr>
          <p:nvPr/>
        </p:nvPicPr>
        <p:blipFill>
          <a:blip r:embed="rId1"/>
          <a:stretch>
            <a:fillRect/>
          </a:stretch>
        </p:blipFill>
        <p:spPr>
          <a:xfrm>
            <a:off x="680314" y="1731874"/>
            <a:ext cx="285293" cy="285293"/>
          </a:xfrm>
          <a:prstGeom prst="rect">
            <a:avLst/>
          </a:prstGeom>
        </p:spPr>
      </p:pic>
      <p:sp>
        <p:nvSpPr>
          <p:cNvPr id="6" name="Text 3"/>
          <p:cNvSpPr/>
          <p:nvPr/>
        </p:nvSpPr>
        <p:spPr>
          <a:xfrm>
            <a:off x="1280160" y="1554480"/>
            <a:ext cx="3246120" cy="1280160"/>
          </a:xfrm>
          <a:prstGeom prst="rect">
            <a:avLst/>
          </a:prstGeom>
          <a:noFill/>
          <a:ln/>
        </p:spPr>
        <p:txBody>
          <a:bodyPr wrap="square" lIns="0" tIns="0" rIns="0" bIns="0" rtlCol="0" anchor="t"/>
          <a:lstStyle/>
          <a:p>
            <a:pPr indent="0" marL="0">
              <a:spcAft>
                <a:spcPts val="400"/>
              </a:spcAft>
              <a:buNone/>
            </a:pPr>
            <a:r>
              <a:rPr lang="en-US" sz="1700" b="1" dirty="0">
                <a:solidFill>
                  <a:srgbClr val="14202B"/>
                </a:solidFill>
                <a:latin typeface="Calibri" pitchFamily="34" charset="0"/>
                <a:ea typeface="Calibri" pitchFamily="34" charset="-122"/>
                <a:cs typeface="Calibri" pitchFamily="34" charset="-120"/>
              </a:rPr>
              <a:t>Application</a:t>
            </a:r>
            <a:endParaRPr lang="en-US" sz="1700" dirty="0"/>
          </a:p>
          <a:p>
            <a:pPr indent="0" marL="0">
              <a:spcAft>
                <a:spcPts val="400"/>
              </a:spcAft>
              <a:buNone/>
            </a:pPr>
            <a:r>
              <a:rPr lang="en-US" sz="1400" dirty="0">
                <a:solidFill>
                  <a:srgbClr val="46525E"/>
                </a:solidFill>
                <a:latin typeface="Calibri" pitchFamily="34" charset="0"/>
                <a:ea typeface="Calibri" pitchFamily="34" charset="-122"/>
                <a:cs typeface="Calibri" pitchFamily="34" charset="-120"/>
              </a:rPr>
              <a:t>48 V pack for an urban e-scooter. Baseline: 13S10P NMC 21700, 2,263 Wh usable.</a:t>
            </a:r>
            <a:endParaRPr lang="en-US" sz="1700" dirty="0"/>
          </a:p>
        </p:txBody>
      </p:sp>
      <p:sp>
        <p:nvSpPr>
          <p:cNvPr id="7" name="Shape 4"/>
          <p:cNvSpPr/>
          <p:nvPr/>
        </p:nvSpPr>
        <p:spPr>
          <a:xfrm>
            <a:off x="548640" y="3063240"/>
            <a:ext cx="548640" cy="548640"/>
          </a:xfrm>
          <a:prstGeom prst="ellipse">
            <a:avLst/>
          </a:prstGeom>
          <a:solidFill>
            <a:srgbClr val="D9480F"/>
          </a:solidFill>
          <a:ln w="12700">
            <a:solidFill>
              <a:srgbClr val="D9480F"/>
            </a:solidFill>
            <a:prstDash val="solid"/>
          </a:ln>
        </p:spPr>
      </p:sp>
      <p:pic>
        <p:nvPicPr>
          <p:cNvPr id="8" name="Image 1" descr="preencoded.png">    </p:cNvPr>
          <p:cNvPicPr>
            <a:picLocks noChangeAspect="1"/>
          </p:cNvPicPr>
          <p:nvPr/>
        </p:nvPicPr>
        <p:blipFill>
          <a:blip r:embed="rId2"/>
          <a:stretch>
            <a:fillRect/>
          </a:stretch>
        </p:blipFill>
        <p:spPr>
          <a:xfrm>
            <a:off x="680314" y="3194914"/>
            <a:ext cx="285293" cy="285293"/>
          </a:xfrm>
          <a:prstGeom prst="rect">
            <a:avLst/>
          </a:prstGeom>
        </p:spPr>
      </p:pic>
      <p:sp>
        <p:nvSpPr>
          <p:cNvPr id="9" name="Text 5"/>
          <p:cNvSpPr/>
          <p:nvPr/>
        </p:nvSpPr>
        <p:spPr>
          <a:xfrm>
            <a:off x="1280160" y="3017520"/>
            <a:ext cx="3246120" cy="1280160"/>
          </a:xfrm>
          <a:prstGeom prst="rect">
            <a:avLst/>
          </a:prstGeom>
          <a:noFill/>
          <a:ln/>
        </p:spPr>
        <p:txBody>
          <a:bodyPr wrap="square" lIns="0" tIns="0" rIns="0" bIns="0" rtlCol="0" anchor="t"/>
          <a:lstStyle/>
          <a:p>
            <a:pPr indent="0" marL="0">
              <a:spcAft>
                <a:spcPts val="400"/>
              </a:spcAft>
              <a:buNone/>
            </a:pPr>
            <a:r>
              <a:rPr lang="en-US" sz="1700" b="1" dirty="0">
                <a:solidFill>
                  <a:srgbClr val="14202B"/>
                </a:solidFill>
                <a:latin typeface="Calibri" pitchFamily="34" charset="0"/>
                <a:ea typeface="Calibri" pitchFamily="34" charset="-122"/>
                <a:cs typeface="Calibri" pitchFamily="34" charset="-120"/>
              </a:rPr>
              <a:t>Operating case</a:t>
            </a:r>
            <a:endParaRPr lang="en-US" sz="1700" dirty="0"/>
          </a:p>
          <a:p>
            <a:pPr indent="0" marL="0">
              <a:spcAft>
                <a:spcPts val="400"/>
              </a:spcAft>
              <a:buNone/>
            </a:pPr>
            <a:r>
              <a:rPr lang="en-US" sz="1400" dirty="0">
                <a:solidFill>
                  <a:srgbClr val="46525E"/>
                </a:solidFill>
                <a:latin typeface="Calibri" pitchFamily="34" charset="0"/>
                <a:ea typeface="Calibri" pitchFamily="34" charset="-122"/>
                <a:cs typeface="Calibri" pitchFamily="34" charset="-120"/>
              </a:rPr>
              <a:t>40 °C ambient. Plugged in straight after the ride, so the charge starts from the pack’s end-of-ride state.</a:t>
            </a:r>
            <a:endParaRPr lang="en-US" sz="1700" dirty="0"/>
          </a:p>
        </p:txBody>
      </p:sp>
      <p:sp>
        <p:nvSpPr>
          <p:cNvPr id="10" name="Shape 6"/>
          <p:cNvSpPr/>
          <p:nvPr/>
        </p:nvSpPr>
        <p:spPr>
          <a:xfrm>
            <a:off x="548640" y="4526280"/>
            <a:ext cx="548640" cy="548640"/>
          </a:xfrm>
          <a:prstGeom prst="ellipse">
            <a:avLst/>
          </a:prstGeom>
          <a:solidFill>
            <a:srgbClr val="D9480F"/>
          </a:solidFill>
          <a:ln w="12700">
            <a:solidFill>
              <a:srgbClr val="D9480F"/>
            </a:solidFill>
            <a:prstDash val="solid"/>
          </a:ln>
        </p:spPr>
      </p:sp>
      <p:pic>
        <p:nvPicPr>
          <p:cNvPr id="11" name="Image 2" descr="preencoded.png">    </p:cNvPr>
          <p:cNvPicPr>
            <a:picLocks noChangeAspect="1"/>
          </p:cNvPicPr>
          <p:nvPr/>
        </p:nvPicPr>
        <p:blipFill>
          <a:blip r:embed="rId3"/>
          <a:stretch>
            <a:fillRect/>
          </a:stretch>
        </p:blipFill>
        <p:spPr>
          <a:xfrm>
            <a:off x="680314" y="4657954"/>
            <a:ext cx="285293" cy="285293"/>
          </a:xfrm>
          <a:prstGeom prst="rect">
            <a:avLst/>
          </a:prstGeom>
        </p:spPr>
      </p:pic>
      <p:sp>
        <p:nvSpPr>
          <p:cNvPr id="12" name="Text 7"/>
          <p:cNvSpPr/>
          <p:nvPr/>
        </p:nvSpPr>
        <p:spPr>
          <a:xfrm>
            <a:off x="1280160" y="4480560"/>
            <a:ext cx="3246120" cy="1280160"/>
          </a:xfrm>
          <a:prstGeom prst="rect">
            <a:avLst/>
          </a:prstGeom>
          <a:noFill/>
          <a:ln/>
        </p:spPr>
        <p:txBody>
          <a:bodyPr wrap="square" lIns="0" tIns="0" rIns="0" bIns="0" rtlCol="0" anchor="t"/>
          <a:lstStyle/>
          <a:p>
            <a:pPr indent="0" marL="0">
              <a:spcAft>
                <a:spcPts val="400"/>
              </a:spcAft>
              <a:buNone/>
            </a:pPr>
            <a:r>
              <a:rPr lang="en-US" sz="1700" b="1" dirty="0">
                <a:solidFill>
                  <a:srgbClr val="14202B"/>
                </a:solidFill>
                <a:latin typeface="Calibri" pitchFamily="34" charset="0"/>
                <a:ea typeface="Calibri" pitchFamily="34" charset="-122"/>
                <a:cs typeface="Calibri" pitchFamily="34" charset="-120"/>
              </a:rPr>
              <a:t>Scope boundary</a:t>
            </a:r>
            <a:endParaRPr lang="en-US" sz="1700" dirty="0"/>
          </a:p>
          <a:p>
            <a:pPr indent="0" marL="0">
              <a:spcAft>
                <a:spcPts val="400"/>
              </a:spcAft>
              <a:buNone/>
            </a:pPr>
            <a:r>
              <a:rPr lang="en-US" sz="1400" dirty="0">
                <a:solidFill>
                  <a:srgbClr val="46525E"/>
                </a:solidFill>
                <a:latin typeface="Calibri" pitchFamily="34" charset="0"/>
                <a:ea typeface="Calibri" pitchFamily="34" charset="-122"/>
                <a:cs typeface="Calibri" pitchFamily="34" charset="-120"/>
              </a:rPr>
              <a:t>One low-voltage pack: cells, cooling, sensing, protection and BMS control. No high-voltage system.</a:t>
            </a:r>
            <a:endParaRPr lang="en-US" sz="17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800600" y="1554480"/>
          <a:ext cx="6839712" cy="914400"/>
        </p:xfrm>
        <a:graphic>
          <a:graphicData uri="http://schemas.openxmlformats.org/drawingml/2006/table">
            <a:tbl>
              <a:tblPr/>
              <a:tblGrid>
                <a:gridCol w="868680"/>
                <a:gridCol w="3474720"/>
                <a:gridCol w="1508760"/>
                <a:gridCol w="987552"/>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Requirement</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Limit</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REQ-01</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Nominal voltage fits 48 V controller</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44–56 V</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must</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REQ-02</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Usable energy, urban cycle at 40 °C</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 2,000 Wh</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must</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REQ-03</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CE6DA"/>
                    </a:solidFill>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Cell temperature while charging</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CE6DA"/>
                    </a:solidFill>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 45 °C</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CE6DA"/>
                    </a:solidFill>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must</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CE6DA"/>
                    </a:solidFill>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REQ-04</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Cell temperature while riding</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 55 °C</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must</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REQ-05</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CE6DA"/>
                    </a:solidFill>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Charge time, plug-in → 80 %</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CE6DA"/>
                    </a:solidFill>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 120 min</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CE6DA"/>
                    </a:solidFill>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should</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CE6DA"/>
                    </a:solidFill>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REQ-06</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Cell-to-cell temperature spread</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 5 K</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should</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REQ-07</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CE6DA"/>
                    </a:solidFill>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Blind spot: hottest cell − BMS view</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CE6DA"/>
                    </a:solidFill>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 3 K</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CE6DA"/>
                    </a:solidFill>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should</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FCE6DA"/>
                    </a:solidFill>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REQ-08</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Pack mass</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 16 kg</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should</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REQ-09</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Pack volume</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 12 L</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should</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REQ-10</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Pack cost</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 ₹60,000</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should</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347472">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REQ-11</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Cycle life in hot climate</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 1,000 cycles</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200" dirty="0">
                          <a:solidFill>
                            <a:srgbClr val="14202B"/>
                          </a:solidFill>
                          <a:latin typeface="Calibri" pitchFamily="34" charset="0"/>
                          <a:ea typeface="Calibri" pitchFamily="34" charset="-122"/>
                          <a:cs typeface="Calibri" pitchFamily="34" charset="-120"/>
                        </a:rPr>
                        <a:t>should</a:t>
                      </a:r>
                      <a:endParaRPr lang="en-US" sz="1200" dirty="0">
                        <a:latin typeface="Calibri" charset="0"/>
                        <a:ea typeface="Calibri" charset="0"/>
                        <a:cs typeface="Calibri" charset="0"/>
                      </a:endParaRPr>
                    </a:p>
                  </a:txBody>
                  <a:tcPr marL="73152" marR="73152"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bl>
          </a:graphicData>
        </a:graphic>
      </p:graphicFrame>
      <p:sp>
        <p:nvSpPr>
          <p:cNvPr id="14" name="Text 8"/>
          <p:cNvSpPr/>
          <p:nvPr/>
        </p:nvSpPr>
        <p:spPr>
          <a:xfrm>
            <a:off x="4800600" y="5806440"/>
            <a:ext cx="6839712" cy="274320"/>
          </a:xfrm>
          <a:prstGeom prst="rect">
            <a:avLst/>
          </a:prstGeom>
          <a:noFill/>
          <a:ln/>
        </p:spPr>
        <p:txBody>
          <a:bodyPr wrap="square" lIns="0" tIns="0" rIns="0" bIns="0" rtlCol="0" anchor="ctr"/>
          <a:lstStyle/>
          <a:p>
            <a:pPr indent="0" marL="0">
              <a:buNone/>
            </a:pPr>
            <a:r>
              <a:rPr lang="en-US" sz="1100" i="1" dirty="0">
                <a:solidFill>
                  <a:srgbClr val="66717C"/>
                </a:solidFill>
                <a:latin typeface="Calibri" pitchFamily="34" charset="0"/>
                <a:ea typeface="Calibri" pitchFamily="34" charset="-122"/>
                <a:cs typeface="Calibri" pitchFamily="34" charset="-120"/>
              </a:rPr>
              <a:t>Shaded rows: where the baseline gets into trouble.</a:t>
            </a:r>
            <a:endParaRPr lang="en-US" sz="1100" dirty="0"/>
          </a:p>
        </p:txBody>
      </p:sp>
      <p:sp>
        <p:nvSpPr>
          <p:cNvPr id="15" name="Text 9"/>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PackForge · requirements from studies/escooter_48v/study.json</a:t>
            </a:r>
            <a:endParaRPr lang="en-US" sz="1000" dirty="0"/>
          </a:p>
        </p:txBody>
      </p:sp>
      <p:sp>
        <p:nvSpPr>
          <p:cNvPr id="16" name="Text 10"/>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THE PROBLEM · BASELINE AFTER A RIDE</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The BMS can’t see the hottest cell</a:t>
            </a:r>
            <a:endParaRPr lang="en-US" sz="3400" dirty="0"/>
          </a:p>
        </p:txBody>
      </p:sp>
      <p:sp>
        <p:nvSpPr>
          <p:cNvPr id="4" name="Text 2"/>
          <p:cNvSpPr/>
          <p:nvPr/>
        </p:nvSpPr>
        <p:spPr>
          <a:xfrm>
            <a:off x="548640" y="1645920"/>
            <a:ext cx="2514600" cy="868680"/>
          </a:xfrm>
          <a:prstGeom prst="rect">
            <a:avLst/>
          </a:prstGeom>
          <a:noFill/>
          <a:ln/>
        </p:spPr>
        <p:txBody>
          <a:bodyPr wrap="square" lIns="0" tIns="0" rIns="0" bIns="0" rtlCol="0" anchor="ctr"/>
          <a:lstStyle/>
          <a:p>
            <a:pPr indent="0" marL="0">
              <a:buNone/>
            </a:pPr>
            <a:r>
              <a:rPr lang="en-US" sz="4800" b="1" dirty="0">
                <a:solidFill>
                  <a:srgbClr val="D9480F"/>
                </a:solidFill>
                <a:latin typeface="Cambria" pitchFamily="34" charset="0"/>
                <a:ea typeface="Cambria" pitchFamily="34" charset="-122"/>
                <a:cs typeface="Cambria" pitchFamily="34" charset="-120"/>
              </a:rPr>
              <a:t>3.2 K</a:t>
            </a:r>
            <a:endParaRPr lang="en-US" sz="4800" dirty="0"/>
          </a:p>
        </p:txBody>
      </p:sp>
      <p:sp>
        <p:nvSpPr>
          <p:cNvPr id="5" name="Text 3"/>
          <p:cNvSpPr/>
          <p:nvPr/>
        </p:nvSpPr>
        <p:spPr>
          <a:xfrm>
            <a:off x="3154680" y="1645920"/>
            <a:ext cx="3108960" cy="868680"/>
          </a:xfrm>
          <a:prstGeom prst="rect">
            <a:avLst/>
          </a:prstGeom>
          <a:noFill/>
          <a:ln/>
        </p:spPr>
        <p:txBody>
          <a:bodyPr wrap="square" lIns="0" tIns="0" rIns="0" bIns="0" rtlCol="0" anchor="ctr"/>
          <a:lstStyle/>
          <a:p>
            <a:pPr indent="0" marL="0">
              <a:buNone/>
            </a:pPr>
            <a:r>
              <a:rPr lang="en-US" sz="1400" dirty="0">
                <a:solidFill>
                  <a:srgbClr val="46525E"/>
                </a:solidFill>
                <a:latin typeface="Calibri" pitchFamily="34" charset="0"/>
                <a:ea typeface="Calibri" pitchFamily="34" charset="-122"/>
                <a:cs typeface="Calibri" pitchFamily="34" charset="-120"/>
              </a:rPr>
              <a:t>The hottest cell runs this far above what the two NTCs read. REQ-07 allows 3 K.</a:t>
            </a:r>
            <a:endParaRPr lang="en-US" sz="1400" dirty="0"/>
          </a:p>
        </p:txBody>
      </p:sp>
      <p:sp>
        <p:nvSpPr>
          <p:cNvPr id="6" name="Text 4"/>
          <p:cNvSpPr/>
          <p:nvPr/>
        </p:nvSpPr>
        <p:spPr>
          <a:xfrm>
            <a:off x="548640" y="2788920"/>
            <a:ext cx="2514600" cy="868680"/>
          </a:xfrm>
          <a:prstGeom prst="rect">
            <a:avLst/>
          </a:prstGeom>
          <a:noFill/>
          <a:ln/>
        </p:spPr>
        <p:txBody>
          <a:bodyPr wrap="square" lIns="0" tIns="0" rIns="0" bIns="0" rtlCol="0" anchor="ctr"/>
          <a:lstStyle/>
          <a:p>
            <a:pPr indent="0" marL="0">
              <a:buNone/>
            </a:pPr>
            <a:r>
              <a:rPr lang="en-US" sz="4800" b="1" dirty="0">
                <a:solidFill>
                  <a:srgbClr val="D9480F"/>
                </a:solidFill>
                <a:latin typeface="Cambria" pitchFamily="34" charset="0"/>
                <a:ea typeface="Cambria" pitchFamily="34" charset="-122"/>
                <a:cs typeface="Cambria" pitchFamily="34" charset="-120"/>
              </a:rPr>
              <a:t>48 min</a:t>
            </a:r>
            <a:endParaRPr lang="en-US" sz="4800" dirty="0"/>
          </a:p>
        </p:txBody>
      </p:sp>
      <p:sp>
        <p:nvSpPr>
          <p:cNvPr id="7" name="Text 5"/>
          <p:cNvSpPr/>
          <p:nvPr/>
        </p:nvSpPr>
        <p:spPr>
          <a:xfrm>
            <a:off x="3154680" y="2788920"/>
            <a:ext cx="3108960" cy="868680"/>
          </a:xfrm>
          <a:prstGeom prst="rect">
            <a:avLst/>
          </a:prstGeom>
          <a:noFill/>
          <a:ln/>
        </p:spPr>
        <p:txBody>
          <a:bodyPr wrap="square" lIns="0" tIns="0" rIns="0" bIns="0" rtlCol="0" anchor="ctr"/>
          <a:lstStyle/>
          <a:p>
            <a:pPr indent="0" marL="0">
              <a:buNone/>
            </a:pPr>
            <a:r>
              <a:rPr lang="en-US" sz="1400" dirty="0">
                <a:solidFill>
                  <a:srgbClr val="46525E"/>
                </a:solidFill>
                <a:latin typeface="Calibri" pitchFamily="34" charset="0"/>
                <a:ea typeface="Calibri" pitchFamily="34" charset="-122"/>
                <a:cs typeface="Calibri" pitchFamily="34" charset="-120"/>
              </a:rPr>
              <a:t>Thermal hold after plug-in: no current until the sensors cool into the derate window.</a:t>
            </a:r>
            <a:endParaRPr lang="en-US" sz="1400" dirty="0"/>
          </a:p>
        </p:txBody>
      </p:sp>
      <p:sp>
        <p:nvSpPr>
          <p:cNvPr id="8" name="Text 6"/>
          <p:cNvSpPr/>
          <p:nvPr/>
        </p:nvSpPr>
        <p:spPr>
          <a:xfrm>
            <a:off x="548640" y="3931920"/>
            <a:ext cx="2514600" cy="868680"/>
          </a:xfrm>
          <a:prstGeom prst="rect">
            <a:avLst/>
          </a:prstGeom>
          <a:noFill/>
          <a:ln/>
        </p:spPr>
        <p:txBody>
          <a:bodyPr wrap="square" lIns="0" tIns="0" rIns="0" bIns="0" rtlCol="0" anchor="ctr"/>
          <a:lstStyle/>
          <a:p>
            <a:pPr indent="0" marL="0">
              <a:buNone/>
            </a:pPr>
            <a:r>
              <a:rPr lang="en-US" sz="4800" b="1" dirty="0">
                <a:solidFill>
                  <a:srgbClr val="D9480F"/>
                </a:solidFill>
                <a:latin typeface="Cambria" pitchFamily="34" charset="0"/>
                <a:ea typeface="Cambria" pitchFamily="34" charset="-122"/>
                <a:cs typeface="Cambria" pitchFamily="34" charset="-120"/>
              </a:rPr>
              <a:t>47.6 °C</a:t>
            </a:r>
            <a:endParaRPr lang="en-US" sz="4800" dirty="0"/>
          </a:p>
        </p:txBody>
      </p:sp>
      <p:sp>
        <p:nvSpPr>
          <p:cNvPr id="9" name="Text 7"/>
          <p:cNvSpPr/>
          <p:nvPr/>
        </p:nvSpPr>
        <p:spPr>
          <a:xfrm>
            <a:off x="3154680" y="3931920"/>
            <a:ext cx="3108960" cy="868680"/>
          </a:xfrm>
          <a:prstGeom prst="rect">
            <a:avLst/>
          </a:prstGeom>
          <a:noFill/>
          <a:ln/>
        </p:spPr>
        <p:txBody>
          <a:bodyPr wrap="square" lIns="0" tIns="0" rIns="0" bIns="0" rtlCol="0" anchor="ctr"/>
          <a:lstStyle/>
          <a:p>
            <a:pPr indent="0" marL="0">
              <a:buNone/>
            </a:pPr>
            <a:r>
              <a:rPr lang="en-US" sz="1400" dirty="0">
                <a:solidFill>
                  <a:srgbClr val="46525E"/>
                </a:solidFill>
                <a:latin typeface="Calibri" pitchFamily="34" charset="0"/>
                <a:ea typeface="Calibri" pitchFamily="34" charset="-122"/>
                <a:cs typeface="Calibri" pitchFamily="34" charset="-120"/>
              </a:rPr>
              <a:t>Then interior cells charge above their 45 °C limit. REQ-03 fails, and nothing on the BMS shows it.</a:t>
            </a:r>
            <a:endParaRPr lang="en-US" sz="1400" dirty="0"/>
          </a:p>
        </p:txBody>
      </p:sp>
      <p:sp>
        <p:nvSpPr>
          <p:cNvPr id="10" name="Text 8"/>
          <p:cNvSpPr/>
          <p:nvPr/>
        </p:nvSpPr>
        <p:spPr>
          <a:xfrm>
            <a:off x="548640" y="5166360"/>
            <a:ext cx="5760720" cy="731520"/>
          </a:xfrm>
          <a:prstGeom prst="rect">
            <a:avLst/>
          </a:prstGeom>
          <a:noFill/>
          <a:ln/>
        </p:spPr>
        <p:txBody>
          <a:bodyPr wrap="square" lIns="0" tIns="0" rIns="0" bIns="0" rtlCol="0" anchor="ctr"/>
          <a:lstStyle/>
          <a:p>
            <a:pPr indent="0" marL="0">
              <a:buNone/>
            </a:pPr>
            <a:r>
              <a:rPr lang="en-US" sz="1600" i="1" dirty="0">
                <a:solidFill>
                  <a:srgbClr val="14202B"/>
                </a:solidFill>
                <a:latin typeface="Cambria" pitchFamily="34" charset="0"/>
                <a:ea typeface="Cambria" pitchFamily="34" charset="-122"/>
                <a:cs typeface="Cambria" pitchFamily="34" charset="-120"/>
              </a:rPr>
              <a:t>The brief’s “propagates unpredictably from cell to system” — visible only with cell-level modelling.</a:t>
            </a:r>
            <a:endParaRPr lang="en-US" sz="1600" dirty="0"/>
          </a:p>
        </p:txBody>
      </p:sp>
      <p:sp>
        <p:nvSpPr>
          <p:cNvPr id="11" name="Shape 9"/>
          <p:cNvSpPr/>
          <p:nvPr/>
        </p:nvSpPr>
        <p:spPr>
          <a:xfrm>
            <a:off x="6812280" y="1645920"/>
            <a:ext cx="299923" cy="299923"/>
          </a:xfrm>
          <a:prstGeom prst="ellipse">
            <a:avLst/>
          </a:prstGeom>
          <a:solidFill>
            <a:srgbClr val="9DBFDB"/>
          </a:solidFill>
          <a:ln w="12700">
            <a:solidFill>
              <a:srgbClr val="9DBFDB"/>
            </a:solidFill>
            <a:prstDash val="solid"/>
          </a:ln>
        </p:spPr>
      </p:sp>
      <p:sp>
        <p:nvSpPr>
          <p:cNvPr id="12" name="Shape 10"/>
          <p:cNvSpPr/>
          <p:nvPr/>
        </p:nvSpPr>
        <p:spPr>
          <a:xfrm>
            <a:off x="7178040" y="1645920"/>
            <a:ext cx="299923" cy="299923"/>
          </a:xfrm>
          <a:prstGeom prst="ellipse">
            <a:avLst/>
          </a:prstGeom>
          <a:solidFill>
            <a:srgbClr val="A3BDD3"/>
          </a:solidFill>
          <a:ln w="12700">
            <a:solidFill>
              <a:srgbClr val="A3BDD3"/>
            </a:solidFill>
            <a:prstDash val="solid"/>
          </a:ln>
        </p:spPr>
      </p:sp>
      <p:sp>
        <p:nvSpPr>
          <p:cNvPr id="13" name="Shape 11"/>
          <p:cNvSpPr/>
          <p:nvPr/>
        </p:nvSpPr>
        <p:spPr>
          <a:xfrm>
            <a:off x="7543800" y="1645920"/>
            <a:ext cx="299923" cy="299923"/>
          </a:xfrm>
          <a:prstGeom prst="ellipse">
            <a:avLst/>
          </a:prstGeom>
          <a:solidFill>
            <a:srgbClr val="B0B8C2"/>
          </a:solidFill>
          <a:ln w="12700">
            <a:solidFill>
              <a:srgbClr val="B0B8C2"/>
            </a:solidFill>
            <a:prstDash val="solid"/>
          </a:ln>
        </p:spPr>
      </p:sp>
      <p:sp>
        <p:nvSpPr>
          <p:cNvPr id="14" name="Shape 12"/>
          <p:cNvSpPr/>
          <p:nvPr/>
        </p:nvSpPr>
        <p:spPr>
          <a:xfrm>
            <a:off x="7909560" y="1645920"/>
            <a:ext cx="299923" cy="299923"/>
          </a:xfrm>
          <a:prstGeom prst="ellipse">
            <a:avLst/>
          </a:prstGeom>
          <a:solidFill>
            <a:srgbClr val="BBB4B4"/>
          </a:solidFill>
          <a:ln w="12700">
            <a:solidFill>
              <a:srgbClr val="BBB4B4"/>
            </a:solidFill>
            <a:prstDash val="solid"/>
          </a:ln>
        </p:spPr>
      </p:sp>
      <p:sp>
        <p:nvSpPr>
          <p:cNvPr id="15" name="Shape 13"/>
          <p:cNvSpPr/>
          <p:nvPr/>
        </p:nvSpPr>
        <p:spPr>
          <a:xfrm>
            <a:off x="8275320" y="1645920"/>
            <a:ext cx="299923" cy="299923"/>
          </a:xfrm>
          <a:prstGeom prst="ellipse">
            <a:avLst/>
          </a:prstGeom>
          <a:solidFill>
            <a:srgbClr val="C4B1A9"/>
          </a:solidFill>
          <a:ln w="12700">
            <a:solidFill>
              <a:srgbClr val="C4B1A9"/>
            </a:solidFill>
            <a:prstDash val="solid"/>
          </a:ln>
        </p:spPr>
      </p:sp>
      <p:sp>
        <p:nvSpPr>
          <p:cNvPr id="16" name="Shape 14"/>
          <p:cNvSpPr/>
          <p:nvPr/>
        </p:nvSpPr>
        <p:spPr>
          <a:xfrm>
            <a:off x="8641080" y="1645920"/>
            <a:ext cx="299923" cy="299923"/>
          </a:xfrm>
          <a:prstGeom prst="ellipse">
            <a:avLst/>
          </a:prstGeom>
          <a:solidFill>
            <a:srgbClr val="CAAFA1"/>
          </a:solidFill>
          <a:ln w="12700">
            <a:solidFill>
              <a:srgbClr val="CAAFA1"/>
            </a:solidFill>
            <a:prstDash val="solid"/>
          </a:ln>
        </p:spPr>
      </p:sp>
      <p:sp>
        <p:nvSpPr>
          <p:cNvPr id="17" name="Shape 15"/>
          <p:cNvSpPr/>
          <p:nvPr/>
        </p:nvSpPr>
        <p:spPr>
          <a:xfrm>
            <a:off x="9006840" y="1645920"/>
            <a:ext cx="299923" cy="299923"/>
          </a:xfrm>
          <a:prstGeom prst="ellipse">
            <a:avLst/>
          </a:prstGeom>
          <a:solidFill>
            <a:srgbClr val="CCAE9F"/>
          </a:solidFill>
          <a:ln w="12700">
            <a:solidFill>
              <a:srgbClr val="CCAE9F"/>
            </a:solidFill>
            <a:prstDash val="solid"/>
          </a:ln>
        </p:spPr>
      </p:sp>
      <p:sp>
        <p:nvSpPr>
          <p:cNvPr id="18" name="Shape 16"/>
          <p:cNvSpPr/>
          <p:nvPr/>
        </p:nvSpPr>
        <p:spPr>
          <a:xfrm>
            <a:off x="9372600" y="1645920"/>
            <a:ext cx="299923" cy="299923"/>
          </a:xfrm>
          <a:prstGeom prst="ellipse">
            <a:avLst/>
          </a:prstGeom>
          <a:solidFill>
            <a:srgbClr val="CAAFA1"/>
          </a:solidFill>
          <a:ln w="12700">
            <a:solidFill>
              <a:srgbClr val="CAAFA1"/>
            </a:solidFill>
            <a:prstDash val="solid"/>
          </a:ln>
        </p:spPr>
      </p:sp>
      <p:sp>
        <p:nvSpPr>
          <p:cNvPr id="19" name="Shape 17"/>
          <p:cNvSpPr/>
          <p:nvPr/>
        </p:nvSpPr>
        <p:spPr>
          <a:xfrm>
            <a:off x="9738360" y="1645920"/>
            <a:ext cx="299923" cy="299923"/>
          </a:xfrm>
          <a:prstGeom prst="ellipse">
            <a:avLst/>
          </a:prstGeom>
          <a:solidFill>
            <a:srgbClr val="C4B1A9"/>
          </a:solidFill>
          <a:ln w="12700">
            <a:solidFill>
              <a:srgbClr val="C4B1A9"/>
            </a:solidFill>
            <a:prstDash val="solid"/>
          </a:ln>
        </p:spPr>
      </p:sp>
      <p:sp>
        <p:nvSpPr>
          <p:cNvPr id="20" name="Shape 18"/>
          <p:cNvSpPr/>
          <p:nvPr/>
        </p:nvSpPr>
        <p:spPr>
          <a:xfrm>
            <a:off x="10104120" y="1645920"/>
            <a:ext cx="299923" cy="299923"/>
          </a:xfrm>
          <a:prstGeom prst="ellipse">
            <a:avLst/>
          </a:prstGeom>
          <a:solidFill>
            <a:srgbClr val="BBB4B4"/>
          </a:solidFill>
          <a:ln w="12700">
            <a:solidFill>
              <a:srgbClr val="BBB4B4"/>
            </a:solidFill>
            <a:prstDash val="solid"/>
          </a:ln>
        </p:spPr>
      </p:sp>
      <p:sp>
        <p:nvSpPr>
          <p:cNvPr id="21" name="Shape 19"/>
          <p:cNvSpPr/>
          <p:nvPr/>
        </p:nvSpPr>
        <p:spPr>
          <a:xfrm>
            <a:off x="10469880" y="1645920"/>
            <a:ext cx="299923" cy="299923"/>
          </a:xfrm>
          <a:prstGeom prst="ellipse">
            <a:avLst/>
          </a:prstGeom>
          <a:solidFill>
            <a:srgbClr val="B0B8C2"/>
          </a:solidFill>
          <a:ln w="12700">
            <a:solidFill>
              <a:srgbClr val="B0B8C2"/>
            </a:solidFill>
            <a:prstDash val="solid"/>
          </a:ln>
        </p:spPr>
      </p:sp>
      <p:sp>
        <p:nvSpPr>
          <p:cNvPr id="22" name="Shape 20"/>
          <p:cNvSpPr/>
          <p:nvPr/>
        </p:nvSpPr>
        <p:spPr>
          <a:xfrm>
            <a:off x="10835640" y="1645920"/>
            <a:ext cx="299923" cy="299923"/>
          </a:xfrm>
          <a:prstGeom prst="ellipse">
            <a:avLst/>
          </a:prstGeom>
          <a:solidFill>
            <a:srgbClr val="A3BDD3"/>
          </a:solidFill>
          <a:ln w="12700">
            <a:solidFill>
              <a:srgbClr val="A3BDD3"/>
            </a:solidFill>
            <a:prstDash val="solid"/>
          </a:ln>
        </p:spPr>
      </p:sp>
      <p:sp>
        <p:nvSpPr>
          <p:cNvPr id="23" name="Shape 21"/>
          <p:cNvSpPr/>
          <p:nvPr/>
        </p:nvSpPr>
        <p:spPr>
          <a:xfrm>
            <a:off x="11201400" y="1645920"/>
            <a:ext cx="299923" cy="299923"/>
          </a:xfrm>
          <a:prstGeom prst="ellipse">
            <a:avLst/>
          </a:prstGeom>
          <a:solidFill>
            <a:srgbClr val="9DBFDB"/>
          </a:solidFill>
          <a:ln w="12700">
            <a:solidFill>
              <a:srgbClr val="9DBFDB"/>
            </a:solidFill>
            <a:prstDash val="solid"/>
          </a:ln>
        </p:spPr>
      </p:sp>
      <p:sp>
        <p:nvSpPr>
          <p:cNvPr id="24" name="Shape 22"/>
          <p:cNvSpPr/>
          <p:nvPr/>
        </p:nvSpPr>
        <p:spPr>
          <a:xfrm>
            <a:off x="6812280" y="2011680"/>
            <a:ext cx="299923" cy="299923"/>
          </a:xfrm>
          <a:prstGeom prst="ellipse">
            <a:avLst/>
          </a:prstGeom>
          <a:solidFill>
            <a:srgbClr val="A3BDD4"/>
          </a:solidFill>
          <a:ln w="12700">
            <a:solidFill>
              <a:srgbClr val="A3BDD4"/>
            </a:solidFill>
            <a:prstDash val="solid"/>
          </a:ln>
        </p:spPr>
      </p:sp>
      <p:sp>
        <p:nvSpPr>
          <p:cNvPr id="25" name="Shape 23"/>
          <p:cNvSpPr/>
          <p:nvPr/>
        </p:nvSpPr>
        <p:spPr>
          <a:xfrm>
            <a:off x="7178040" y="2011680"/>
            <a:ext cx="299923" cy="299923"/>
          </a:xfrm>
          <a:prstGeom prst="ellipse">
            <a:avLst/>
          </a:prstGeom>
          <a:solidFill>
            <a:srgbClr val="B3B7BF"/>
          </a:solidFill>
          <a:ln w="12700">
            <a:solidFill>
              <a:srgbClr val="B3B7BF"/>
            </a:solidFill>
            <a:prstDash val="solid"/>
          </a:ln>
        </p:spPr>
      </p:sp>
      <p:sp>
        <p:nvSpPr>
          <p:cNvPr id="26" name="Shape 24"/>
          <p:cNvSpPr/>
          <p:nvPr/>
        </p:nvSpPr>
        <p:spPr>
          <a:xfrm>
            <a:off x="7543800" y="2011680"/>
            <a:ext cx="299923" cy="299923"/>
          </a:xfrm>
          <a:prstGeom prst="ellipse">
            <a:avLst/>
          </a:prstGeom>
          <a:solidFill>
            <a:srgbClr val="C2B2AC"/>
          </a:solidFill>
          <a:ln w="12700">
            <a:solidFill>
              <a:srgbClr val="C2B2AC"/>
            </a:solidFill>
            <a:prstDash val="solid"/>
          </a:ln>
        </p:spPr>
      </p:sp>
      <p:sp>
        <p:nvSpPr>
          <p:cNvPr id="27" name="Shape 25"/>
          <p:cNvSpPr/>
          <p:nvPr/>
        </p:nvSpPr>
        <p:spPr>
          <a:xfrm>
            <a:off x="7909560" y="2011680"/>
            <a:ext cx="299923" cy="299923"/>
          </a:xfrm>
          <a:prstGeom prst="ellipse">
            <a:avLst/>
          </a:prstGeom>
          <a:solidFill>
            <a:srgbClr val="CFAD9B"/>
          </a:solidFill>
          <a:ln w="12700">
            <a:solidFill>
              <a:srgbClr val="CFAD9B"/>
            </a:solidFill>
            <a:prstDash val="solid"/>
          </a:ln>
        </p:spPr>
      </p:sp>
      <p:sp>
        <p:nvSpPr>
          <p:cNvPr id="28" name="Shape 26"/>
          <p:cNvSpPr/>
          <p:nvPr/>
        </p:nvSpPr>
        <p:spPr>
          <a:xfrm>
            <a:off x="8275320" y="2011680"/>
            <a:ext cx="299923" cy="299923"/>
          </a:xfrm>
          <a:prstGeom prst="ellipse">
            <a:avLst/>
          </a:prstGeom>
          <a:solidFill>
            <a:srgbClr val="D9A98D"/>
          </a:solidFill>
          <a:ln w="12700">
            <a:solidFill>
              <a:srgbClr val="D9A98D"/>
            </a:solidFill>
            <a:prstDash val="solid"/>
          </a:ln>
        </p:spPr>
      </p:sp>
      <p:sp>
        <p:nvSpPr>
          <p:cNvPr id="29" name="Shape 27"/>
          <p:cNvSpPr/>
          <p:nvPr/>
        </p:nvSpPr>
        <p:spPr>
          <a:xfrm>
            <a:off x="8641080" y="2011680"/>
            <a:ext cx="299923" cy="299923"/>
          </a:xfrm>
          <a:prstGeom prst="ellipse">
            <a:avLst/>
          </a:prstGeom>
          <a:solidFill>
            <a:srgbClr val="E0A784"/>
          </a:solidFill>
          <a:ln w="12700">
            <a:solidFill>
              <a:srgbClr val="E0A784"/>
            </a:solidFill>
            <a:prstDash val="solid"/>
          </a:ln>
        </p:spPr>
      </p:sp>
      <p:sp>
        <p:nvSpPr>
          <p:cNvPr id="30" name="Shape 28"/>
          <p:cNvSpPr/>
          <p:nvPr/>
        </p:nvSpPr>
        <p:spPr>
          <a:xfrm>
            <a:off x="9006840" y="2011680"/>
            <a:ext cx="299923" cy="299923"/>
          </a:xfrm>
          <a:prstGeom prst="ellipse">
            <a:avLst/>
          </a:prstGeom>
          <a:solidFill>
            <a:srgbClr val="E3A681"/>
          </a:solidFill>
          <a:ln w="12700">
            <a:solidFill>
              <a:srgbClr val="E3A681"/>
            </a:solidFill>
            <a:prstDash val="solid"/>
          </a:ln>
        </p:spPr>
      </p:sp>
      <p:sp>
        <p:nvSpPr>
          <p:cNvPr id="31" name="Shape 29"/>
          <p:cNvSpPr/>
          <p:nvPr/>
        </p:nvSpPr>
        <p:spPr>
          <a:xfrm>
            <a:off x="9372600" y="2011680"/>
            <a:ext cx="299923" cy="299923"/>
          </a:xfrm>
          <a:prstGeom prst="ellipse">
            <a:avLst/>
          </a:prstGeom>
          <a:solidFill>
            <a:srgbClr val="E0A784"/>
          </a:solidFill>
          <a:ln w="12700">
            <a:solidFill>
              <a:srgbClr val="E0A784"/>
            </a:solidFill>
            <a:prstDash val="solid"/>
          </a:ln>
        </p:spPr>
      </p:sp>
      <p:sp>
        <p:nvSpPr>
          <p:cNvPr id="32" name="Shape 30"/>
          <p:cNvSpPr/>
          <p:nvPr/>
        </p:nvSpPr>
        <p:spPr>
          <a:xfrm>
            <a:off x="9738360" y="2011680"/>
            <a:ext cx="299923" cy="299923"/>
          </a:xfrm>
          <a:prstGeom prst="ellipse">
            <a:avLst/>
          </a:prstGeom>
          <a:solidFill>
            <a:srgbClr val="D9A98D"/>
          </a:solidFill>
          <a:ln w="12700">
            <a:solidFill>
              <a:srgbClr val="D9A98D"/>
            </a:solidFill>
            <a:prstDash val="solid"/>
          </a:ln>
        </p:spPr>
      </p:sp>
      <p:sp>
        <p:nvSpPr>
          <p:cNvPr id="33" name="Shape 31"/>
          <p:cNvSpPr/>
          <p:nvPr/>
        </p:nvSpPr>
        <p:spPr>
          <a:xfrm>
            <a:off x="10104120" y="2011680"/>
            <a:ext cx="299923" cy="299923"/>
          </a:xfrm>
          <a:prstGeom prst="ellipse">
            <a:avLst/>
          </a:prstGeom>
          <a:solidFill>
            <a:srgbClr val="CFAD9B"/>
          </a:solidFill>
          <a:ln w="12700">
            <a:solidFill>
              <a:srgbClr val="CFAD9B"/>
            </a:solidFill>
            <a:prstDash val="solid"/>
          </a:ln>
        </p:spPr>
      </p:sp>
      <p:sp>
        <p:nvSpPr>
          <p:cNvPr id="34" name="Shape 32"/>
          <p:cNvSpPr/>
          <p:nvPr/>
        </p:nvSpPr>
        <p:spPr>
          <a:xfrm>
            <a:off x="10469880" y="2011680"/>
            <a:ext cx="299923" cy="299923"/>
          </a:xfrm>
          <a:prstGeom prst="ellipse">
            <a:avLst/>
          </a:prstGeom>
          <a:solidFill>
            <a:srgbClr val="C2B2AC"/>
          </a:solidFill>
          <a:ln w="12700">
            <a:solidFill>
              <a:srgbClr val="C2B2AC"/>
            </a:solidFill>
            <a:prstDash val="solid"/>
          </a:ln>
        </p:spPr>
      </p:sp>
      <p:sp>
        <p:nvSpPr>
          <p:cNvPr id="35" name="Shape 33"/>
          <p:cNvSpPr/>
          <p:nvPr/>
        </p:nvSpPr>
        <p:spPr>
          <a:xfrm>
            <a:off x="10835640" y="2011680"/>
            <a:ext cx="299923" cy="299923"/>
          </a:xfrm>
          <a:prstGeom prst="ellipse">
            <a:avLst/>
          </a:prstGeom>
          <a:solidFill>
            <a:srgbClr val="B3B7BF"/>
          </a:solidFill>
          <a:ln w="12700">
            <a:solidFill>
              <a:srgbClr val="B3B7BF"/>
            </a:solidFill>
            <a:prstDash val="solid"/>
          </a:ln>
        </p:spPr>
      </p:sp>
      <p:sp>
        <p:nvSpPr>
          <p:cNvPr id="36" name="Shape 34"/>
          <p:cNvSpPr/>
          <p:nvPr/>
        </p:nvSpPr>
        <p:spPr>
          <a:xfrm>
            <a:off x="11201400" y="2011680"/>
            <a:ext cx="299923" cy="299923"/>
          </a:xfrm>
          <a:prstGeom prst="ellipse">
            <a:avLst/>
          </a:prstGeom>
          <a:solidFill>
            <a:srgbClr val="A3BDD4"/>
          </a:solidFill>
          <a:ln w="12700">
            <a:solidFill>
              <a:srgbClr val="A3BDD4"/>
            </a:solidFill>
            <a:prstDash val="solid"/>
          </a:ln>
        </p:spPr>
      </p:sp>
      <p:sp>
        <p:nvSpPr>
          <p:cNvPr id="37" name="Shape 35"/>
          <p:cNvSpPr/>
          <p:nvPr/>
        </p:nvSpPr>
        <p:spPr>
          <a:xfrm>
            <a:off x="6812280" y="2377440"/>
            <a:ext cx="299923" cy="299923"/>
          </a:xfrm>
          <a:prstGeom prst="ellipse">
            <a:avLst/>
          </a:prstGeom>
          <a:solidFill>
            <a:srgbClr val="AEB9C5"/>
          </a:solidFill>
          <a:ln w="12700">
            <a:solidFill>
              <a:srgbClr val="AEB9C5"/>
            </a:solidFill>
            <a:prstDash val="solid"/>
          </a:ln>
        </p:spPr>
      </p:sp>
      <p:sp>
        <p:nvSpPr>
          <p:cNvPr id="38" name="Shape 36"/>
          <p:cNvSpPr/>
          <p:nvPr/>
        </p:nvSpPr>
        <p:spPr>
          <a:xfrm>
            <a:off x="7178040" y="2377440"/>
            <a:ext cx="299923" cy="299923"/>
          </a:xfrm>
          <a:prstGeom prst="ellipse">
            <a:avLst/>
          </a:prstGeom>
          <a:solidFill>
            <a:srgbClr val="C0B3AE"/>
          </a:solidFill>
          <a:ln w="12700">
            <a:solidFill>
              <a:srgbClr val="C0B3AE"/>
            </a:solidFill>
            <a:prstDash val="solid"/>
          </a:ln>
        </p:spPr>
      </p:sp>
      <p:sp>
        <p:nvSpPr>
          <p:cNvPr id="39" name="Shape 37"/>
          <p:cNvSpPr/>
          <p:nvPr/>
        </p:nvSpPr>
        <p:spPr>
          <a:xfrm>
            <a:off x="7543800" y="2377440"/>
            <a:ext cx="299923" cy="299923"/>
          </a:xfrm>
          <a:prstGeom prst="ellipse">
            <a:avLst/>
          </a:prstGeom>
          <a:solidFill>
            <a:srgbClr val="D0AC98"/>
          </a:solidFill>
          <a:ln w="12700">
            <a:solidFill>
              <a:srgbClr val="D0AC98"/>
            </a:solidFill>
            <a:prstDash val="solid"/>
          </a:ln>
        </p:spPr>
      </p:sp>
      <p:sp>
        <p:nvSpPr>
          <p:cNvPr id="40" name="Shape 38"/>
          <p:cNvSpPr/>
          <p:nvPr/>
        </p:nvSpPr>
        <p:spPr>
          <a:xfrm>
            <a:off x="7909560" y="2377440"/>
            <a:ext cx="299923" cy="299923"/>
          </a:xfrm>
          <a:prstGeom prst="ellipse">
            <a:avLst/>
          </a:prstGeom>
          <a:solidFill>
            <a:srgbClr val="E0A784"/>
          </a:solidFill>
          <a:ln w="12700">
            <a:solidFill>
              <a:srgbClr val="E0A784"/>
            </a:solidFill>
            <a:prstDash val="solid"/>
          </a:ln>
        </p:spPr>
      </p:sp>
      <p:sp>
        <p:nvSpPr>
          <p:cNvPr id="41" name="Shape 39"/>
          <p:cNvSpPr/>
          <p:nvPr/>
        </p:nvSpPr>
        <p:spPr>
          <a:xfrm>
            <a:off x="8275320" y="2377440"/>
            <a:ext cx="299923" cy="299923"/>
          </a:xfrm>
          <a:prstGeom prst="ellipse">
            <a:avLst/>
          </a:prstGeom>
          <a:solidFill>
            <a:srgbClr val="E59D73"/>
          </a:solidFill>
          <a:ln w="12700">
            <a:solidFill>
              <a:srgbClr val="E59D73"/>
            </a:solidFill>
            <a:prstDash val="solid"/>
          </a:ln>
        </p:spPr>
      </p:sp>
      <p:sp>
        <p:nvSpPr>
          <p:cNvPr id="42" name="Shape 40"/>
          <p:cNvSpPr/>
          <p:nvPr/>
        </p:nvSpPr>
        <p:spPr>
          <a:xfrm>
            <a:off x="8641080" y="2377440"/>
            <a:ext cx="299923" cy="299923"/>
          </a:xfrm>
          <a:prstGeom prst="ellipse">
            <a:avLst/>
          </a:prstGeom>
          <a:solidFill>
            <a:srgbClr val="E19165"/>
          </a:solidFill>
          <a:ln w="12700">
            <a:solidFill>
              <a:srgbClr val="E19165"/>
            </a:solidFill>
            <a:prstDash val="solid"/>
          </a:ln>
        </p:spPr>
      </p:sp>
      <p:sp>
        <p:nvSpPr>
          <p:cNvPr id="43" name="Shape 41"/>
          <p:cNvSpPr/>
          <p:nvPr/>
        </p:nvSpPr>
        <p:spPr>
          <a:xfrm>
            <a:off x="9006840" y="2377440"/>
            <a:ext cx="299923" cy="299923"/>
          </a:xfrm>
          <a:prstGeom prst="ellipse">
            <a:avLst/>
          </a:prstGeom>
          <a:solidFill>
            <a:srgbClr val="DF8D60"/>
          </a:solidFill>
          <a:ln w="12700">
            <a:solidFill>
              <a:srgbClr val="DF8D60"/>
            </a:solidFill>
            <a:prstDash val="solid"/>
          </a:ln>
        </p:spPr>
      </p:sp>
      <p:sp>
        <p:nvSpPr>
          <p:cNvPr id="44" name="Shape 42"/>
          <p:cNvSpPr/>
          <p:nvPr/>
        </p:nvSpPr>
        <p:spPr>
          <a:xfrm>
            <a:off x="9372600" y="2377440"/>
            <a:ext cx="299923" cy="299923"/>
          </a:xfrm>
          <a:prstGeom prst="ellipse">
            <a:avLst/>
          </a:prstGeom>
          <a:solidFill>
            <a:srgbClr val="E19165"/>
          </a:solidFill>
          <a:ln w="12700">
            <a:solidFill>
              <a:srgbClr val="E19165"/>
            </a:solidFill>
            <a:prstDash val="solid"/>
          </a:ln>
        </p:spPr>
      </p:sp>
      <p:sp>
        <p:nvSpPr>
          <p:cNvPr id="45" name="Shape 43"/>
          <p:cNvSpPr/>
          <p:nvPr/>
        </p:nvSpPr>
        <p:spPr>
          <a:xfrm>
            <a:off x="9738360" y="2377440"/>
            <a:ext cx="299923" cy="299923"/>
          </a:xfrm>
          <a:prstGeom prst="ellipse">
            <a:avLst/>
          </a:prstGeom>
          <a:solidFill>
            <a:srgbClr val="E59D73"/>
          </a:solidFill>
          <a:ln w="12700">
            <a:solidFill>
              <a:srgbClr val="E59D73"/>
            </a:solidFill>
            <a:prstDash val="solid"/>
          </a:ln>
        </p:spPr>
      </p:sp>
      <p:sp>
        <p:nvSpPr>
          <p:cNvPr id="46" name="Shape 44"/>
          <p:cNvSpPr/>
          <p:nvPr/>
        </p:nvSpPr>
        <p:spPr>
          <a:xfrm>
            <a:off x="10104120" y="2377440"/>
            <a:ext cx="299923" cy="299923"/>
          </a:xfrm>
          <a:prstGeom prst="ellipse">
            <a:avLst/>
          </a:prstGeom>
          <a:solidFill>
            <a:srgbClr val="E0A784"/>
          </a:solidFill>
          <a:ln w="12700">
            <a:solidFill>
              <a:srgbClr val="E0A784"/>
            </a:solidFill>
            <a:prstDash val="solid"/>
          </a:ln>
        </p:spPr>
      </p:sp>
      <p:sp>
        <p:nvSpPr>
          <p:cNvPr id="47" name="Shape 45"/>
          <p:cNvSpPr/>
          <p:nvPr/>
        </p:nvSpPr>
        <p:spPr>
          <a:xfrm>
            <a:off x="10469880" y="2377440"/>
            <a:ext cx="299923" cy="299923"/>
          </a:xfrm>
          <a:prstGeom prst="ellipse">
            <a:avLst/>
          </a:prstGeom>
          <a:solidFill>
            <a:srgbClr val="D0AC98"/>
          </a:solidFill>
          <a:ln w="12700">
            <a:solidFill>
              <a:srgbClr val="D0AC98"/>
            </a:solidFill>
            <a:prstDash val="solid"/>
          </a:ln>
        </p:spPr>
      </p:sp>
      <p:sp>
        <p:nvSpPr>
          <p:cNvPr id="48" name="Shape 46"/>
          <p:cNvSpPr/>
          <p:nvPr/>
        </p:nvSpPr>
        <p:spPr>
          <a:xfrm>
            <a:off x="10835640" y="2377440"/>
            <a:ext cx="299923" cy="299923"/>
          </a:xfrm>
          <a:prstGeom prst="ellipse">
            <a:avLst/>
          </a:prstGeom>
          <a:solidFill>
            <a:srgbClr val="C0B3AE"/>
          </a:solidFill>
          <a:ln w="12700">
            <a:solidFill>
              <a:srgbClr val="C0B3AE"/>
            </a:solidFill>
            <a:prstDash val="solid"/>
          </a:ln>
        </p:spPr>
      </p:sp>
      <p:sp>
        <p:nvSpPr>
          <p:cNvPr id="49" name="Shape 47"/>
          <p:cNvSpPr/>
          <p:nvPr/>
        </p:nvSpPr>
        <p:spPr>
          <a:xfrm>
            <a:off x="11201400" y="2377440"/>
            <a:ext cx="299923" cy="299923"/>
          </a:xfrm>
          <a:prstGeom prst="ellipse">
            <a:avLst/>
          </a:prstGeom>
          <a:solidFill>
            <a:srgbClr val="AEB9C5"/>
          </a:solidFill>
          <a:ln w="12700">
            <a:solidFill>
              <a:srgbClr val="AEB9C5"/>
            </a:solidFill>
            <a:prstDash val="solid"/>
          </a:ln>
        </p:spPr>
      </p:sp>
      <p:sp>
        <p:nvSpPr>
          <p:cNvPr id="50" name="Shape 48"/>
          <p:cNvSpPr/>
          <p:nvPr/>
        </p:nvSpPr>
        <p:spPr>
          <a:xfrm>
            <a:off x="6812280" y="2743200"/>
            <a:ext cx="299923" cy="299923"/>
          </a:xfrm>
          <a:prstGeom prst="ellipse">
            <a:avLst/>
          </a:prstGeom>
          <a:solidFill>
            <a:srgbClr val="B6B6BA"/>
          </a:solidFill>
          <a:ln w="12700">
            <a:solidFill>
              <a:srgbClr val="B6B6BA"/>
            </a:solidFill>
            <a:prstDash val="solid"/>
          </a:ln>
        </p:spPr>
      </p:sp>
      <p:sp>
        <p:nvSpPr>
          <p:cNvPr id="51" name="Shape 49"/>
          <p:cNvSpPr/>
          <p:nvPr/>
        </p:nvSpPr>
        <p:spPr>
          <a:xfrm>
            <a:off x="7178040" y="2743200"/>
            <a:ext cx="299923" cy="299923"/>
          </a:xfrm>
          <a:prstGeom prst="ellipse">
            <a:avLst/>
          </a:prstGeom>
          <a:solidFill>
            <a:srgbClr val="C9AFA2"/>
          </a:solidFill>
          <a:ln w="12700">
            <a:solidFill>
              <a:srgbClr val="C9AFA2"/>
            </a:solidFill>
            <a:prstDash val="solid"/>
          </a:ln>
        </p:spPr>
      </p:sp>
      <p:sp>
        <p:nvSpPr>
          <p:cNvPr id="52" name="Shape 50"/>
          <p:cNvSpPr/>
          <p:nvPr/>
        </p:nvSpPr>
        <p:spPr>
          <a:xfrm>
            <a:off x="7543800" y="2743200"/>
            <a:ext cx="299923" cy="299923"/>
          </a:xfrm>
          <a:prstGeom prst="ellipse">
            <a:avLst/>
          </a:prstGeom>
          <a:solidFill>
            <a:srgbClr val="DCA88A"/>
          </a:solidFill>
          <a:ln w="12700">
            <a:solidFill>
              <a:srgbClr val="DCA88A"/>
            </a:solidFill>
            <a:prstDash val="solid"/>
          </a:ln>
        </p:spPr>
      </p:sp>
      <p:sp>
        <p:nvSpPr>
          <p:cNvPr id="53" name="Shape 51"/>
          <p:cNvSpPr/>
          <p:nvPr/>
        </p:nvSpPr>
        <p:spPr>
          <a:xfrm>
            <a:off x="7909560" y="2743200"/>
            <a:ext cx="299923" cy="299923"/>
          </a:xfrm>
          <a:prstGeom prst="ellipse">
            <a:avLst/>
          </a:prstGeom>
          <a:solidFill>
            <a:srgbClr val="E59C72"/>
          </a:solidFill>
          <a:ln w="12700">
            <a:solidFill>
              <a:srgbClr val="E59C72"/>
            </a:solidFill>
            <a:prstDash val="solid"/>
          </a:ln>
        </p:spPr>
      </p:sp>
      <p:sp>
        <p:nvSpPr>
          <p:cNvPr id="54" name="Shape 52"/>
          <p:cNvSpPr/>
          <p:nvPr/>
        </p:nvSpPr>
        <p:spPr>
          <a:xfrm>
            <a:off x="8275320" y="2743200"/>
            <a:ext cx="299923" cy="299923"/>
          </a:xfrm>
          <a:prstGeom prst="ellipse">
            <a:avLst/>
          </a:prstGeom>
          <a:solidFill>
            <a:srgbClr val="DD8759"/>
          </a:solidFill>
          <a:ln w="12700">
            <a:solidFill>
              <a:srgbClr val="DD8759"/>
            </a:solidFill>
            <a:prstDash val="solid"/>
          </a:ln>
        </p:spPr>
      </p:sp>
      <p:sp>
        <p:nvSpPr>
          <p:cNvPr id="55" name="Shape 53"/>
          <p:cNvSpPr/>
          <p:nvPr/>
        </p:nvSpPr>
        <p:spPr>
          <a:xfrm>
            <a:off x="8641080" y="2743200"/>
            <a:ext cx="299923" cy="299923"/>
          </a:xfrm>
          <a:prstGeom prst="ellipse">
            <a:avLst/>
          </a:prstGeom>
          <a:solidFill>
            <a:srgbClr val="D67646"/>
          </a:solidFill>
          <a:ln w="12700">
            <a:solidFill>
              <a:srgbClr val="D67646"/>
            </a:solidFill>
            <a:prstDash val="solid"/>
          </a:ln>
        </p:spPr>
      </p:sp>
      <p:sp>
        <p:nvSpPr>
          <p:cNvPr id="56" name="Shape 54"/>
          <p:cNvSpPr/>
          <p:nvPr/>
        </p:nvSpPr>
        <p:spPr>
          <a:xfrm>
            <a:off x="9006840" y="2743200"/>
            <a:ext cx="299923" cy="299923"/>
          </a:xfrm>
          <a:prstGeom prst="ellipse">
            <a:avLst/>
          </a:prstGeom>
          <a:solidFill>
            <a:srgbClr val="D36F3F"/>
          </a:solidFill>
          <a:ln w="12700">
            <a:solidFill>
              <a:srgbClr val="D36F3F"/>
            </a:solidFill>
            <a:prstDash val="solid"/>
          </a:ln>
        </p:spPr>
      </p:sp>
      <p:sp>
        <p:nvSpPr>
          <p:cNvPr id="57" name="Shape 55"/>
          <p:cNvSpPr/>
          <p:nvPr/>
        </p:nvSpPr>
        <p:spPr>
          <a:xfrm>
            <a:off x="9372600" y="2743200"/>
            <a:ext cx="299923" cy="299923"/>
          </a:xfrm>
          <a:prstGeom prst="ellipse">
            <a:avLst/>
          </a:prstGeom>
          <a:solidFill>
            <a:srgbClr val="D67646"/>
          </a:solidFill>
          <a:ln w="12700">
            <a:solidFill>
              <a:srgbClr val="D67646"/>
            </a:solidFill>
            <a:prstDash val="solid"/>
          </a:ln>
        </p:spPr>
      </p:sp>
      <p:sp>
        <p:nvSpPr>
          <p:cNvPr id="58" name="Shape 56"/>
          <p:cNvSpPr/>
          <p:nvPr/>
        </p:nvSpPr>
        <p:spPr>
          <a:xfrm>
            <a:off x="9738360" y="2743200"/>
            <a:ext cx="299923" cy="299923"/>
          </a:xfrm>
          <a:prstGeom prst="ellipse">
            <a:avLst/>
          </a:prstGeom>
          <a:solidFill>
            <a:srgbClr val="DD8759"/>
          </a:solidFill>
          <a:ln w="12700">
            <a:solidFill>
              <a:srgbClr val="DD8759"/>
            </a:solidFill>
            <a:prstDash val="solid"/>
          </a:ln>
        </p:spPr>
      </p:sp>
      <p:sp>
        <p:nvSpPr>
          <p:cNvPr id="59" name="Shape 57"/>
          <p:cNvSpPr/>
          <p:nvPr/>
        </p:nvSpPr>
        <p:spPr>
          <a:xfrm>
            <a:off x="10104120" y="2743200"/>
            <a:ext cx="299923" cy="299923"/>
          </a:xfrm>
          <a:prstGeom prst="ellipse">
            <a:avLst/>
          </a:prstGeom>
          <a:solidFill>
            <a:srgbClr val="E59C72"/>
          </a:solidFill>
          <a:ln w="12700">
            <a:solidFill>
              <a:srgbClr val="E59C72"/>
            </a:solidFill>
            <a:prstDash val="solid"/>
          </a:ln>
        </p:spPr>
      </p:sp>
      <p:sp>
        <p:nvSpPr>
          <p:cNvPr id="60" name="Shape 58"/>
          <p:cNvSpPr/>
          <p:nvPr/>
        </p:nvSpPr>
        <p:spPr>
          <a:xfrm>
            <a:off x="10469880" y="2743200"/>
            <a:ext cx="299923" cy="299923"/>
          </a:xfrm>
          <a:prstGeom prst="ellipse">
            <a:avLst/>
          </a:prstGeom>
          <a:solidFill>
            <a:srgbClr val="DCA88A"/>
          </a:solidFill>
          <a:ln w="12700">
            <a:solidFill>
              <a:srgbClr val="DCA88A"/>
            </a:solidFill>
            <a:prstDash val="solid"/>
          </a:ln>
        </p:spPr>
      </p:sp>
      <p:sp>
        <p:nvSpPr>
          <p:cNvPr id="61" name="Shape 59"/>
          <p:cNvSpPr/>
          <p:nvPr/>
        </p:nvSpPr>
        <p:spPr>
          <a:xfrm>
            <a:off x="10835640" y="2743200"/>
            <a:ext cx="299923" cy="299923"/>
          </a:xfrm>
          <a:prstGeom prst="ellipse">
            <a:avLst/>
          </a:prstGeom>
          <a:solidFill>
            <a:srgbClr val="C9AFA2"/>
          </a:solidFill>
          <a:ln w="12700">
            <a:solidFill>
              <a:srgbClr val="C9AFA2"/>
            </a:solidFill>
            <a:prstDash val="solid"/>
          </a:ln>
        </p:spPr>
      </p:sp>
      <p:sp>
        <p:nvSpPr>
          <p:cNvPr id="62" name="Shape 60"/>
          <p:cNvSpPr/>
          <p:nvPr/>
        </p:nvSpPr>
        <p:spPr>
          <a:xfrm>
            <a:off x="11201400" y="2743200"/>
            <a:ext cx="299923" cy="299923"/>
          </a:xfrm>
          <a:prstGeom prst="ellipse">
            <a:avLst/>
          </a:prstGeom>
          <a:solidFill>
            <a:srgbClr val="B6B6BA"/>
          </a:solidFill>
          <a:ln w="12700">
            <a:solidFill>
              <a:srgbClr val="B6B6BA"/>
            </a:solidFill>
            <a:prstDash val="solid"/>
          </a:ln>
        </p:spPr>
      </p:sp>
      <p:sp>
        <p:nvSpPr>
          <p:cNvPr id="63" name="Shape 61"/>
          <p:cNvSpPr/>
          <p:nvPr/>
        </p:nvSpPr>
        <p:spPr>
          <a:xfrm>
            <a:off x="6812280" y="3108960"/>
            <a:ext cx="299923" cy="299923"/>
          </a:xfrm>
          <a:prstGeom prst="ellipse">
            <a:avLst/>
          </a:prstGeom>
          <a:solidFill>
            <a:srgbClr val="BAB4B5"/>
          </a:solidFill>
          <a:ln w="12700">
            <a:solidFill>
              <a:srgbClr val="BAB4B5"/>
            </a:solidFill>
            <a:prstDash val="solid"/>
          </a:ln>
        </p:spPr>
      </p:sp>
      <p:sp>
        <p:nvSpPr>
          <p:cNvPr id="64" name="Shape 62"/>
          <p:cNvSpPr/>
          <p:nvPr/>
        </p:nvSpPr>
        <p:spPr>
          <a:xfrm>
            <a:off x="7178040" y="3108960"/>
            <a:ext cx="299923" cy="299923"/>
          </a:xfrm>
          <a:prstGeom prst="ellipse">
            <a:avLst/>
          </a:prstGeom>
          <a:solidFill>
            <a:srgbClr val="CEAD9B"/>
          </a:solidFill>
          <a:ln w="12700">
            <a:solidFill>
              <a:srgbClr val="CEAD9B"/>
            </a:solidFill>
            <a:prstDash val="solid"/>
          </a:ln>
        </p:spPr>
      </p:sp>
      <p:sp>
        <p:nvSpPr>
          <p:cNvPr id="65" name="Shape 63"/>
          <p:cNvSpPr/>
          <p:nvPr/>
        </p:nvSpPr>
        <p:spPr>
          <a:xfrm>
            <a:off x="7543800" y="3108960"/>
            <a:ext cx="299923" cy="299923"/>
          </a:xfrm>
          <a:prstGeom prst="ellipse">
            <a:avLst/>
          </a:prstGeom>
          <a:solidFill>
            <a:srgbClr val="E2A682"/>
          </a:solidFill>
          <a:ln w="12700">
            <a:solidFill>
              <a:srgbClr val="E2A682"/>
            </a:solidFill>
            <a:prstDash val="solid"/>
          </a:ln>
        </p:spPr>
      </p:sp>
      <p:sp>
        <p:nvSpPr>
          <p:cNvPr id="66" name="Shape 64"/>
          <p:cNvSpPr/>
          <p:nvPr/>
        </p:nvSpPr>
        <p:spPr>
          <a:xfrm>
            <a:off x="7909560" y="3108960"/>
            <a:ext cx="299923" cy="299923"/>
          </a:xfrm>
          <a:prstGeom prst="ellipse">
            <a:avLst/>
          </a:prstGeom>
          <a:solidFill>
            <a:srgbClr val="E19266"/>
          </a:solidFill>
          <a:ln w="12700">
            <a:solidFill>
              <a:srgbClr val="E19266"/>
            </a:solidFill>
            <a:prstDash val="solid"/>
          </a:ln>
        </p:spPr>
      </p:sp>
      <p:sp>
        <p:nvSpPr>
          <p:cNvPr id="67" name="Shape 65"/>
          <p:cNvSpPr/>
          <p:nvPr/>
        </p:nvSpPr>
        <p:spPr>
          <a:xfrm>
            <a:off x="8275320" y="3108960"/>
            <a:ext cx="299923" cy="299923"/>
          </a:xfrm>
          <a:prstGeom prst="ellipse">
            <a:avLst/>
          </a:prstGeom>
          <a:solidFill>
            <a:srgbClr val="D77849"/>
          </a:solidFill>
          <a:ln w="12700">
            <a:solidFill>
              <a:srgbClr val="D77849"/>
            </a:solidFill>
            <a:prstDash val="solid"/>
          </a:ln>
        </p:spPr>
      </p:sp>
      <p:sp>
        <p:nvSpPr>
          <p:cNvPr id="68" name="Shape 66"/>
          <p:cNvSpPr/>
          <p:nvPr/>
        </p:nvSpPr>
        <p:spPr>
          <a:xfrm>
            <a:off x="8641080" y="3108960"/>
            <a:ext cx="299923" cy="299923"/>
          </a:xfrm>
          <a:prstGeom prst="ellipse">
            <a:avLst/>
          </a:prstGeom>
          <a:solidFill>
            <a:srgbClr val="CE5F2E"/>
          </a:solidFill>
          <a:ln w="12700">
            <a:solidFill>
              <a:srgbClr val="CE5F2E"/>
            </a:solidFill>
            <a:prstDash val="solid"/>
          </a:ln>
        </p:spPr>
      </p:sp>
      <p:sp>
        <p:nvSpPr>
          <p:cNvPr id="69" name="Shape 67"/>
          <p:cNvSpPr/>
          <p:nvPr/>
        </p:nvSpPr>
        <p:spPr>
          <a:xfrm>
            <a:off x="9006840" y="3108960"/>
            <a:ext cx="299923" cy="299923"/>
          </a:xfrm>
          <a:prstGeom prst="ellipse">
            <a:avLst/>
          </a:prstGeom>
          <a:solidFill>
            <a:srgbClr val="C8501D"/>
          </a:solidFill>
          <a:ln w="12700">
            <a:solidFill>
              <a:srgbClr val="C8501D"/>
            </a:solidFill>
            <a:prstDash val="solid"/>
          </a:ln>
        </p:spPr>
      </p:sp>
      <p:sp>
        <p:nvSpPr>
          <p:cNvPr id="70" name="Shape 68"/>
          <p:cNvSpPr/>
          <p:nvPr/>
        </p:nvSpPr>
        <p:spPr>
          <a:xfrm>
            <a:off x="9372600" y="3108960"/>
            <a:ext cx="299923" cy="299923"/>
          </a:xfrm>
          <a:prstGeom prst="ellipse">
            <a:avLst/>
          </a:prstGeom>
          <a:solidFill>
            <a:srgbClr val="CE5F2E"/>
          </a:solidFill>
          <a:ln w="12700">
            <a:solidFill>
              <a:srgbClr val="CE5F2E"/>
            </a:solidFill>
            <a:prstDash val="solid"/>
          </a:ln>
        </p:spPr>
      </p:sp>
      <p:sp>
        <p:nvSpPr>
          <p:cNvPr id="71" name="Shape 69"/>
          <p:cNvSpPr/>
          <p:nvPr/>
        </p:nvSpPr>
        <p:spPr>
          <a:xfrm>
            <a:off x="9738360" y="3108960"/>
            <a:ext cx="299923" cy="299923"/>
          </a:xfrm>
          <a:prstGeom prst="ellipse">
            <a:avLst/>
          </a:prstGeom>
          <a:solidFill>
            <a:srgbClr val="D77849"/>
          </a:solidFill>
          <a:ln w="12700">
            <a:solidFill>
              <a:srgbClr val="D77849"/>
            </a:solidFill>
            <a:prstDash val="solid"/>
          </a:ln>
        </p:spPr>
      </p:sp>
      <p:sp>
        <p:nvSpPr>
          <p:cNvPr id="72" name="Shape 70"/>
          <p:cNvSpPr/>
          <p:nvPr/>
        </p:nvSpPr>
        <p:spPr>
          <a:xfrm>
            <a:off x="10104120" y="3108960"/>
            <a:ext cx="299923" cy="299923"/>
          </a:xfrm>
          <a:prstGeom prst="ellipse">
            <a:avLst/>
          </a:prstGeom>
          <a:solidFill>
            <a:srgbClr val="E19266"/>
          </a:solidFill>
          <a:ln w="12700">
            <a:solidFill>
              <a:srgbClr val="E19266"/>
            </a:solidFill>
            <a:prstDash val="solid"/>
          </a:ln>
        </p:spPr>
      </p:sp>
      <p:sp>
        <p:nvSpPr>
          <p:cNvPr id="73" name="Shape 71"/>
          <p:cNvSpPr/>
          <p:nvPr/>
        </p:nvSpPr>
        <p:spPr>
          <a:xfrm>
            <a:off x="10469880" y="3108960"/>
            <a:ext cx="299923" cy="299923"/>
          </a:xfrm>
          <a:prstGeom prst="ellipse">
            <a:avLst/>
          </a:prstGeom>
          <a:solidFill>
            <a:srgbClr val="E2A682"/>
          </a:solidFill>
          <a:ln w="12700">
            <a:solidFill>
              <a:srgbClr val="E2A682"/>
            </a:solidFill>
            <a:prstDash val="solid"/>
          </a:ln>
        </p:spPr>
      </p:sp>
      <p:sp>
        <p:nvSpPr>
          <p:cNvPr id="74" name="Shape 72"/>
          <p:cNvSpPr/>
          <p:nvPr/>
        </p:nvSpPr>
        <p:spPr>
          <a:xfrm>
            <a:off x="10835640" y="3108960"/>
            <a:ext cx="299923" cy="299923"/>
          </a:xfrm>
          <a:prstGeom prst="ellipse">
            <a:avLst/>
          </a:prstGeom>
          <a:solidFill>
            <a:srgbClr val="CEAD9B"/>
          </a:solidFill>
          <a:ln w="12700">
            <a:solidFill>
              <a:srgbClr val="CEAD9B"/>
            </a:solidFill>
            <a:prstDash val="solid"/>
          </a:ln>
        </p:spPr>
      </p:sp>
      <p:sp>
        <p:nvSpPr>
          <p:cNvPr id="75" name="Shape 73"/>
          <p:cNvSpPr/>
          <p:nvPr/>
        </p:nvSpPr>
        <p:spPr>
          <a:xfrm>
            <a:off x="11201400" y="3108960"/>
            <a:ext cx="299923" cy="299923"/>
          </a:xfrm>
          <a:prstGeom prst="ellipse">
            <a:avLst/>
          </a:prstGeom>
          <a:solidFill>
            <a:srgbClr val="BAB4B5"/>
          </a:solidFill>
          <a:ln w="12700">
            <a:solidFill>
              <a:srgbClr val="BAB4B5"/>
            </a:solidFill>
            <a:prstDash val="solid"/>
          </a:ln>
        </p:spPr>
      </p:sp>
      <p:sp>
        <p:nvSpPr>
          <p:cNvPr id="76" name="Shape 74"/>
          <p:cNvSpPr/>
          <p:nvPr/>
        </p:nvSpPr>
        <p:spPr>
          <a:xfrm>
            <a:off x="6812280" y="3474720"/>
            <a:ext cx="299923" cy="299923"/>
          </a:xfrm>
          <a:prstGeom prst="ellipse">
            <a:avLst/>
          </a:prstGeom>
          <a:solidFill>
            <a:srgbClr val="BAB4B5"/>
          </a:solidFill>
          <a:ln w="12700">
            <a:solidFill>
              <a:srgbClr val="BAB4B5"/>
            </a:solidFill>
            <a:prstDash val="solid"/>
          </a:ln>
        </p:spPr>
      </p:sp>
      <p:sp>
        <p:nvSpPr>
          <p:cNvPr id="77" name="Shape 75"/>
          <p:cNvSpPr/>
          <p:nvPr/>
        </p:nvSpPr>
        <p:spPr>
          <a:xfrm>
            <a:off x="7178040" y="3474720"/>
            <a:ext cx="299923" cy="299923"/>
          </a:xfrm>
          <a:prstGeom prst="ellipse">
            <a:avLst/>
          </a:prstGeom>
          <a:solidFill>
            <a:srgbClr val="CEAD9B"/>
          </a:solidFill>
          <a:ln w="12700">
            <a:solidFill>
              <a:srgbClr val="CEAD9B"/>
            </a:solidFill>
            <a:prstDash val="solid"/>
          </a:ln>
        </p:spPr>
      </p:sp>
      <p:sp>
        <p:nvSpPr>
          <p:cNvPr id="78" name="Shape 76"/>
          <p:cNvSpPr/>
          <p:nvPr/>
        </p:nvSpPr>
        <p:spPr>
          <a:xfrm>
            <a:off x="7543800" y="3474720"/>
            <a:ext cx="299923" cy="299923"/>
          </a:xfrm>
          <a:prstGeom prst="ellipse">
            <a:avLst/>
          </a:prstGeom>
          <a:solidFill>
            <a:srgbClr val="E2A682"/>
          </a:solidFill>
          <a:ln w="12700">
            <a:solidFill>
              <a:srgbClr val="E2A682"/>
            </a:solidFill>
            <a:prstDash val="solid"/>
          </a:ln>
        </p:spPr>
      </p:sp>
      <p:sp>
        <p:nvSpPr>
          <p:cNvPr id="79" name="Shape 77"/>
          <p:cNvSpPr/>
          <p:nvPr/>
        </p:nvSpPr>
        <p:spPr>
          <a:xfrm>
            <a:off x="7909560" y="3474720"/>
            <a:ext cx="299923" cy="299923"/>
          </a:xfrm>
          <a:prstGeom prst="ellipse">
            <a:avLst/>
          </a:prstGeom>
          <a:solidFill>
            <a:srgbClr val="E19266"/>
          </a:solidFill>
          <a:ln w="12700">
            <a:solidFill>
              <a:srgbClr val="E19266"/>
            </a:solidFill>
            <a:prstDash val="solid"/>
          </a:ln>
        </p:spPr>
      </p:sp>
      <p:sp>
        <p:nvSpPr>
          <p:cNvPr id="80" name="Shape 78"/>
          <p:cNvSpPr/>
          <p:nvPr/>
        </p:nvSpPr>
        <p:spPr>
          <a:xfrm>
            <a:off x="8275320" y="3474720"/>
            <a:ext cx="299923" cy="299923"/>
          </a:xfrm>
          <a:prstGeom prst="ellipse">
            <a:avLst/>
          </a:prstGeom>
          <a:solidFill>
            <a:srgbClr val="D77849"/>
          </a:solidFill>
          <a:ln w="12700">
            <a:solidFill>
              <a:srgbClr val="D77849"/>
            </a:solidFill>
            <a:prstDash val="solid"/>
          </a:ln>
        </p:spPr>
      </p:sp>
      <p:sp>
        <p:nvSpPr>
          <p:cNvPr id="81" name="Shape 79"/>
          <p:cNvSpPr/>
          <p:nvPr/>
        </p:nvSpPr>
        <p:spPr>
          <a:xfrm>
            <a:off x="8641080" y="3474720"/>
            <a:ext cx="299923" cy="299923"/>
          </a:xfrm>
          <a:prstGeom prst="ellipse">
            <a:avLst/>
          </a:prstGeom>
          <a:solidFill>
            <a:srgbClr val="CE5F2E"/>
          </a:solidFill>
          <a:ln w="12700">
            <a:solidFill>
              <a:srgbClr val="CE5F2E"/>
            </a:solidFill>
            <a:prstDash val="solid"/>
          </a:ln>
        </p:spPr>
      </p:sp>
      <p:sp>
        <p:nvSpPr>
          <p:cNvPr id="82" name="Shape 80"/>
          <p:cNvSpPr/>
          <p:nvPr/>
        </p:nvSpPr>
        <p:spPr>
          <a:xfrm>
            <a:off x="9006840" y="3474720"/>
            <a:ext cx="299923" cy="299923"/>
          </a:xfrm>
          <a:prstGeom prst="ellipse">
            <a:avLst/>
          </a:prstGeom>
          <a:solidFill>
            <a:srgbClr val="C8501D"/>
          </a:solidFill>
          <a:ln w="12700">
            <a:solidFill>
              <a:srgbClr val="C8501D"/>
            </a:solidFill>
            <a:prstDash val="solid"/>
          </a:ln>
        </p:spPr>
      </p:sp>
      <p:sp>
        <p:nvSpPr>
          <p:cNvPr id="83" name="Shape 81"/>
          <p:cNvSpPr/>
          <p:nvPr/>
        </p:nvSpPr>
        <p:spPr>
          <a:xfrm>
            <a:off x="9372600" y="3474720"/>
            <a:ext cx="299923" cy="299923"/>
          </a:xfrm>
          <a:prstGeom prst="ellipse">
            <a:avLst/>
          </a:prstGeom>
          <a:solidFill>
            <a:srgbClr val="CE5F2E"/>
          </a:solidFill>
          <a:ln w="12700">
            <a:solidFill>
              <a:srgbClr val="CE5F2E"/>
            </a:solidFill>
            <a:prstDash val="solid"/>
          </a:ln>
        </p:spPr>
      </p:sp>
      <p:sp>
        <p:nvSpPr>
          <p:cNvPr id="84" name="Shape 82"/>
          <p:cNvSpPr/>
          <p:nvPr/>
        </p:nvSpPr>
        <p:spPr>
          <a:xfrm>
            <a:off x="9738360" y="3474720"/>
            <a:ext cx="299923" cy="299923"/>
          </a:xfrm>
          <a:prstGeom prst="ellipse">
            <a:avLst/>
          </a:prstGeom>
          <a:solidFill>
            <a:srgbClr val="D77849"/>
          </a:solidFill>
          <a:ln w="12700">
            <a:solidFill>
              <a:srgbClr val="D77849"/>
            </a:solidFill>
            <a:prstDash val="solid"/>
          </a:ln>
        </p:spPr>
      </p:sp>
      <p:sp>
        <p:nvSpPr>
          <p:cNvPr id="85" name="Shape 83"/>
          <p:cNvSpPr/>
          <p:nvPr/>
        </p:nvSpPr>
        <p:spPr>
          <a:xfrm>
            <a:off x="10104120" y="3474720"/>
            <a:ext cx="299923" cy="299923"/>
          </a:xfrm>
          <a:prstGeom prst="ellipse">
            <a:avLst/>
          </a:prstGeom>
          <a:solidFill>
            <a:srgbClr val="E19266"/>
          </a:solidFill>
          <a:ln w="12700">
            <a:solidFill>
              <a:srgbClr val="E19266"/>
            </a:solidFill>
            <a:prstDash val="solid"/>
          </a:ln>
        </p:spPr>
      </p:sp>
      <p:sp>
        <p:nvSpPr>
          <p:cNvPr id="86" name="Shape 84"/>
          <p:cNvSpPr/>
          <p:nvPr/>
        </p:nvSpPr>
        <p:spPr>
          <a:xfrm>
            <a:off x="10469880" y="3474720"/>
            <a:ext cx="299923" cy="299923"/>
          </a:xfrm>
          <a:prstGeom prst="ellipse">
            <a:avLst/>
          </a:prstGeom>
          <a:solidFill>
            <a:srgbClr val="E2A682"/>
          </a:solidFill>
          <a:ln w="12700">
            <a:solidFill>
              <a:srgbClr val="E2A682"/>
            </a:solidFill>
            <a:prstDash val="solid"/>
          </a:ln>
        </p:spPr>
      </p:sp>
      <p:sp>
        <p:nvSpPr>
          <p:cNvPr id="87" name="Shape 85"/>
          <p:cNvSpPr/>
          <p:nvPr/>
        </p:nvSpPr>
        <p:spPr>
          <a:xfrm>
            <a:off x="10835640" y="3474720"/>
            <a:ext cx="299923" cy="299923"/>
          </a:xfrm>
          <a:prstGeom prst="ellipse">
            <a:avLst/>
          </a:prstGeom>
          <a:solidFill>
            <a:srgbClr val="CEAD9B"/>
          </a:solidFill>
          <a:ln w="12700">
            <a:solidFill>
              <a:srgbClr val="CEAD9B"/>
            </a:solidFill>
            <a:prstDash val="solid"/>
          </a:ln>
        </p:spPr>
      </p:sp>
      <p:sp>
        <p:nvSpPr>
          <p:cNvPr id="88" name="Shape 86"/>
          <p:cNvSpPr/>
          <p:nvPr/>
        </p:nvSpPr>
        <p:spPr>
          <a:xfrm>
            <a:off x="11201400" y="3474720"/>
            <a:ext cx="299923" cy="299923"/>
          </a:xfrm>
          <a:prstGeom prst="ellipse">
            <a:avLst/>
          </a:prstGeom>
          <a:solidFill>
            <a:srgbClr val="BAB4B5"/>
          </a:solidFill>
          <a:ln w="12700">
            <a:solidFill>
              <a:srgbClr val="BAB4B5"/>
            </a:solidFill>
            <a:prstDash val="solid"/>
          </a:ln>
        </p:spPr>
      </p:sp>
      <p:sp>
        <p:nvSpPr>
          <p:cNvPr id="89" name="Shape 87"/>
          <p:cNvSpPr/>
          <p:nvPr/>
        </p:nvSpPr>
        <p:spPr>
          <a:xfrm>
            <a:off x="6812280" y="3840480"/>
            <a:ext cx="299923" cy="299923"/>
          </a:xfrm>
          <a:prstGeom prst="ellipse">
            <a:avLst/>
          </a:prstGeom>
          <a:solidFill>
            <a:srgbClr val="B6B6BA"/>
          </a:solidFill>
          <a:ln w="12700">
            <a:solidFill>
              <a:srgbClr val="B6B6BA"/>
            </a:solidFill>
            <a:prstDash val="solid"/>
          </a:ln>
        </p:spPr>
      </p:sp>
      <p:sp>
        <p:nvSpPr>
          <p:cNvPr id="90" name="Shape 88"/>
          <p:cNvSpPr/>
          <p:nvPr/>
        </p:nvSpPr>
        <p:spPr>
          <a:xfrm>
            <a:off x="7178040" y="3840480"/>
            <a:ext cx="299923" cy="299923"/>
          </a:xfrm>
          <a:prstGeom prst="ellipse">
            <a:avLst/>
          </a:prstGeom>
          <a:solidFill>
            <a:srgbClr val="C9AFA2"/>
          </a:solidFill>
          <a:ln w="12700">
            <a:solidFill>
              <a:srgbClr val="C9AFA2"/>
            </a:solidFill>
            <a:prstDash val="solid"/>
          </a:ln>
        </p:spPr>
      </p:sp>
      <p:sp>
        <p:nvSpPr>
          <p:cNvPr id="91" name="Shape 89"/>
          <p:cNvSpPr/>
          <p:nvPr/>
        </p:nvSpPr>
        <p:spPr>
          <a:xfrm>
            <a:off x="7543800" y="3840480"/>
            <a:ext cx="299923" cy="299923"/>
          </a:xfrm>
          <a:prstGeom prst="ellipse">
            <a:avLst/>
          </a:prstGeom>
          <a:solidFill>
            <a:srgbClr val="DCA88A"/>
          </a:solidFill>
          <a:ln w="12700">
            <a:solidFill>
              <a:srgbClr val="DCA88A"/>
            </a:solidFill>
            <a:prstDash val="solid"/>
          </a:ln>
        </p:spPr>
      </p:sp>
      <p:sp>
        <p:nvSpPr>
          <p:cNvPr id="92" name="Shape 90"/>
          <p:cNvSpPr/>
          <p:nvPr/>
        </p:nvSpPr>
        <p:spPr>
          <a:xfrm>
            <a:off x="7909560" y="3840480"/>
            <a:ext cx="299923" cy="299923"/>
          </a:xfrm>
          <a:prstGeom prst="ellipse">
            <a:avLst/>
          </a:prstGeom>
          <a:solidFill>
            <a:srgbClr val="E59C72"/>
          </a:solidFill>
          <a:ln w="12700">
            <a:solidFill>
              <a:srgbClr val="E59C72"/>
            </a:solidFill>
            <a:prstDash val="solid"/>
          </a:ln>
        </p:spPr>
      </p:sp>
      <p:sp>
        <p:nvSpPr>
          <p:cNvPr id="93" name="Shape 91"/>
          <p:cNvSpPr/>
          <p:nvPr/>
        </p:nvSpPr>
        <p:spPr>
          <a:xfrm>
            <a:off x="8275320" y="3840480"/>
            <a:ext cx="299923" cy="299923"/>
          </a:xfrm>
          <a:prstGeom prst="ellipse">
            <a:avLst/>
          </a:prstGeom>
          <a:solidFill>
            <a:srgbClr val="DD8759"/>
          </a:solidFill>
          <a:ln w="12700">
            <a:solidFill>
              <a:srgbClr val="DD8759"/>
            </a:solidFill>
            <a:prstDash val="solid"/>
          </a:ln>
        </p:spPr>
      </p:sp>
      <p:sp>
        <p:nvSpPr>
          <p:cNvPr id="94" name="Shape 92"/>
          <p:cNvSpPr/>
          <p:nvPr/>
        </p:nvSpPr>
        <p:spPr>
          <a:xfrm>
            <a:off x="8641080" y="3840480"/>
            <a:ext cx="299923" cy="299923"/>
          </a:xfrm>
          <a:prstGeom prst="ellipse">
            <a:avLst/>
          </a:prstGeom>
          <a:solidFill>
            <a:srgbClr val="D67646"/>
          </a:solidFill>
          <a:ln w="12700">
            <a:solidFill>
              <a:srgbClr val="D67646"/>
            </a:solidFill>
            <a:prstDash val="solid"/>
          </a:ln>
        </p:spPr>
      </p:sp>
      <p:sp>
        <p:nvSpPr>
          <p:cNvPr id="95" name="Shape 93"/>
          <p:cNvSpPr/>
          <p:nvPr/>
        </p:nvSpPr>
        <p:spPr>
          <a:xfrm>
            <a:off x="9006840" y="3840480"/>
            <a:ext cx="299923" cy="299923"/>
          </a:xfrm>
          <a:prstGeom prst="ellipse">
            <a:avLst/>
          </a:prstGeom>
          <a:solidFill>
            <a:srgbClr val="D36F3F"/>
          </a:solidFill>
          <a:ln w="12700">
            <a:solidFill>
              <a:srgbClr val="D36F3F"/>
            </a:solidFill>
            <a:prstDash val="solid"/>
          </a:ln>
        </p:spPr>
      </p:sp>
      <p:sp>
        <p:nvSpPr>
          <p:cNvPr id="96" name="Shape 94"/>
          <p:cNvSpPr/>
          <p:nvPr/>
        </p:nvSpPr>
        <p:spPr>
          <a:xfrm>
            <a:off x="9372600" y="3840480"/>
            <a:ext cx="299923" cy="299923"/>
          </a:xfrm>
          <a:prstGeom prst="ellipse">
            <a:avLst/>
          </a:prstGeom>
          <a:solidFill>
            <a:srgbClr val="D67646"/>
          </a:solidFill>
          <a:ln w="12700">
            <a:solidFill>
              <a:srgbClr val="D67646"/>
            </a:solidFill>
            <a:prstDash val="solid"/>
          </a:ln>
        </p:spPr>
      </p:sp>
      <p:sp>
        <p:nvSpPr>
          <p:cNvPr id="97" name="Shape 95"/>
          <p:cNvSpPr/>
          <p:nvPr/>
        </p:nvSpPr>
        <p:spPr>
          <a:xfrm>
            <a:off x="9738360" y="3840480"/>
            <a:ext cx="299923" cy="299923"/>
          </a:xfrm>
          <a:prstGeom prst="ellipse">
            <a:avLst/>
          </a:prstGeom>
          <a:solidFill>
            <a:srgbClr val="DD8759"/>
          </a:solidFill>
          <a:ln w="12700">
            <a:solidFill>
              <a:srgbClr val="DD8759"/>
            </a:solidFill>
            <a:prstDash val="solid"/>
          </a:ln>
        </p:spPr>
      </p:sp>
      <p:sp>
        <p:nvSpPr>
          <p:cNvPr id="98" name="Shape 96"/>
          <p:cNvSpPr/>
          <p:nvPr/>
        </p:nvSpPr>
        <p:spPr>
          <a:xfrm>
            <a:off x="10104120" y="3840480"/>
            <a:ext cx="299923" cy="299923"/>
          </a:xfrm>
          <a:prstGeom prst="ellipse">
            <a:avLst/>
          </a:prstGeom>
          <a:solidFill>
            <a:srgbClr val="E59C72"/>
          </a:solidFill>
          <a:ln w="12700">
            <a:solidFill>
              <a:srgbClr val="E59C72"/>
            </a:solidFill>
            <a:prstDash val="solid"/>
          </a:ln>
        </p:spPr>
      </p:sp>
      <p:sp>
        <p:nvSpPr>
          <p:cNvPr id="99" name="Shape 97"/>
          <p:cNvSpPr/>
          <p:nvPr/>
        </p:nvSpPr>
        <p:spPr>
          <a:xfrm>
            <a:off x="10469880" y="3840480"/>
            <a:ext cx="299923" cy="299923"/>
          </a:xfrm>
          <a:prstGeom prst="ellipse">
            <a:avLst/>
          </a:prstGeom>
          <a:solidFill>
            <a:srgbClr val="DCA88A"/>
          </a:solidFill>
          <a:ln w="12700">
            <a:solidFill>
              <a:srgbClr val="DCA88A"/>
            </a:solidFill>
            <a:prstDash val="solid"/>
          </a:ln>
        </p:spPr>
      </p:sp>
      <p:sp>
        <p:nvSpPr>
          <p:cNvPr id="100" name="Shape 98"/>
          <p:cNvSpPr/>
          <p:nvPr/>
        </p:nvSpPr>
        <p:spPr>
          <a:xfrm>
            <a:off x="10835640" y="3840480"/>
            <a:ext cx="299923" cy="299923"/>
          </a:xfrm>
          <a:prstGeom prst="ellipse">
            <a:avLst/>
          </a:prstGeom>
          <a:solidFill>
            <a:srgbClr val="C9AFA2"/>
          </a:solidFill>
          <a:ln w="12700">
            <a:solidFill>
              <a:srgbClr val="C9AFA2"/>
            </a:solidFill>
            <a:prstDash val="solid"/>
          </a:ln>
        </p:spPr>
      </p:sp>
      <p:sp>
        <p:nvSpPr>
          <p:cNvPr id="101" name="Shape 99"/>
          <p:cNvSpPr/>
          <p:nvPr/>
        </p:nvSpPr>
        <p:spPr>
          <a:xfrm>
            <a:off x="11201400" y="3840480"/>
            <a:ext cx="299923" cy="299923"/>
          </a:xfrm>
          <a:prstGeom prst="ellipse">
            <a:avLst/>
          </a:prstGeom>
          <a:solidFill>
            <a:srgbClr val="B6B6BA"/>
          </a:solidFill>
          <a:ln w="12700">
            <a:solidFill>
              <a:srgbClr val="B6B6BA"/>
            </a:solidFill>
            <a:prstDash val="solid"/>
          </a:ln>
        </p:spPr>
      </p:sp>
      <p:sp>
        <p:nvSpPr>
          <p:cNvPr id="102" name="Shape 100"/>
          <p:cNvSpPr/>
          <p:nvPr/>
        </p:nvSpPr>
        <p:spPr>
          <a:xfrm>
            <a:off x="6812280" y="4206240"/>
            <a:ext cx="299923" cy="299923"/>
          </a:xfrm>
          <a:prstGeom prst="ellipse">
            <a:avLst/>
          </a:prstGeom>
          <a:solidFill>
            <a:srgbClr val="AEB9C5"/>
          </a:solidFill>
          <a:ln w="12700">
            <a:solidFill>
              <a:srgbClr val="AEB9C5"/>
            </a:solidFill>
            <a:prstDash val="solid"/>
          </a:ln>
        </p:spPr>
      </p:sp>
      <p:sp>
        <p:nvSpPr>
          <p:cNvPr id="103" name="Shape 101"/>
          <p:cNvSpPr/>
          <p:nvPr/>
        </p:nvSpPr>
        <p:spPr>
          <a:xfrm>
            <a:off x="7178040" y="4206240"/>
            <a:ext cx="299923" cy="299923"/>
          </a:xfrm>
          <a:prstGeom prst="ellipse">
            <a:avLst/>
          </a:prstGeom>
          <a:solidFill>
            <a:srgbClr val="C0B3AE"/>
          </a:solidFill>
          <a:ln w="12700">
            <a:solidFill>
              <a:srgbClr val="C0B3AE"/>
            </a:solidFill>
            <a:prstDash val="solid"/>
          </a:ln>
        </p:spPr>
      </p:sp>
      <p:sp>
        <p:nvSpPr>
          <p:cNvPr id="104" name="Shape 102"/>
          <p:cNvSpPr/>
          <p:nvPr/>
        </p:nvSpPr>
        <p:spPr>
          <a:xfrm>
            <a:off x="7543800" y="4206240"/>
            <a:ext cx="299923" cy="299923"/>
          </a:xfrm>
          <a:prstGeom prst="ellipse">
            <a:avLst/>
          </a:prstGeom>
          <a:solidFill>
            <a:srgbClr val="D0AC98"/>
          </a:solidFill>
          <a:ln w="12700">
            <a:solidFill>
              <a:srgbClr val="D0AC98"/>
            </a:solidFill>
            <a:prstDash val="solid"/>
          </a:ln>
        </p:spPr>
      </p:sp>
      <p:sp>
        <p:nvSpPr>
          <p:cNvPr id="105" name="Shape 103"/>
          <p:cNvSpPr/>
          <p:nvPr/>
        </p:nvSpPr>
        <p:spPr>
          <a:xfrm>
            <a:off x="7909560" y="4206240"/>
            <a:ext cx="299923" cy="299923"/>
          </a:xfrm>
          <a:prstGeom prst="ellipse">
            <a:avLst/>
          </a:prstGeom>
          <a:solidFill>
            <a:srgbClr val="E0A784"/>
          </a:solidFill>
          <a:ln w="12700">
            <a:solidFill>
              <a:srgbClr val="E0A784"/>
            </a:solidFill>
            <a:prstDash val="solid"/>
          </a:ln>
        </p:spPr>
      </p:sp>
      <p:sp>
        <p:nvSpPr>
          <p:cNvPr id="106" name="Shape 104"/>
          <p:cNvSpPr/>
          <p:nvPr/>
        </p:nvSpPr>
        <p:spPr>
          <a:xfrm>
            <a:off x="8275320" y="4206240"/>
            <a:ext cx="299923" cy="299923"/>
          </a:xfrm>
          <a:prstGeom prst="ellipse">
            <a:avLst/>
          </a:prstGeom>
          <a:solidFill>
            <a:srgbClr val="E59D73"/>
          </a:solidFill>
          <a:ln w="12700">
            <a:solidFill>
              <a:srgbClr val="E59D73"/>
            </a:solidFill>
            <a:prstDash val="solid"/>
          </a:ln>
        </p:spPr>
      </p:sp>
      <p:sp>
        <p:nvSpPr>
          <p:cNvPr id="107" name="Shape 105"/>
          <p:cNvSpPr/>
          <p:nvPr/>
        </p:nvSpPr>
        <p:spPr>
          <a:xfrm>
            <a:off x="8641080" y="4206240"/>
            <a:ext cx="299923" cy="299923"/>
          </a:xfrm>
          <a:prstGeom prst="ellipse">
            <a:avLst/>
          </a:prstGeom>
          <a:solidFill>
            <a:srgbClr val="E19165"/>
          </a:solidFill>
          <a:ln w="12700">
            <a:solidFill>
              <a:srgbClr val="E19165"/>
            </a:solidFill>
            <a:prstDash val="solid"/>
          </a:ln>
        </p:spPr>
      </p:sp>
      <p:sp>
        <p:nvSpPr>
          <p:cNvPr id="108" name="Shape 106"/>
          <p:cNvSpPr/>
          <p:nvPr/>
        </p:nvSpPr>
        <p:spPr>
          <a:xfrm>
            <a:off x="9006840" y="4206240"/>
            <a:ext cx="299923" cy="299923"/>
          </a:xfrm>
          <a:prstGeom prst="ellipse">
            <a:avLst/>
          </a:prstGeom>
          <a:solidFill>
            <a:srgbClr val="DF8D60"/>
          </a:solidFill>
          <a:ln w="12700">
            <a:solidFill>
              <a:srgbClr val="DF8D60"/>
            </a:solidFill>
            <a:prstDash val="solid"/>
          </a:ln>
        </p:spPr>
      </p:sp>
      <p:sp>
        <p:nvSpPr>
          <p:cNvPr id="109" name="Shape 107"/>
          <p:cNvSpPr/>
          <p:nvPr/>
        </p:nvSpPr>
        <p:spPr>
          <a:xfrm>
            <a:off x="9372600" y="4206240"/>
            <a:ext cx="299923" cy="299923"/>
          </a:xfrm>
          <a:prstGeom prst="ellipse">
            <a:avLst/>
          </a:prstGeom>
          <a:solidFill>
            <a:srgbClr val="E19165"/>
          </a:solidFill>
          <a:ln w="12700">
            <a:solidFill>
              <a:srgbClr val="E19165"/>
            </a:solidFill>
            <a:prstDash val="solid"/>
          </a:ln>
        </p:spPr>
      </p:sp>
      <p:sp>
        <p:nvSpPr>
          <p:cNvPr id="110" name="Shape 108"/>
          <p:cNvSpPr/>
          <p:nvPr/>
        </p:nvSpPr>
        <p:spPr>
          <a:xfrm>
            <a:off x="9738360" y="4206240"/>
            <a:ext cx="299923" cy="299923"/>
          </a:xfrm>
          <a:prstGeom prst="ellipse">
            <a:avLst/>
          </a:prstGeom>
          <a:solidFill>
            <a:srgbClr val="E59D73"/>
          </a:solidFill>
          <a:ln w="12700">
            <a:solidFill>
              <a:srgbClr val="E59D73"/>
            </a:solidFill>
            <a:prstDash val="solid"/>
          </a:ln>
        </p:spPr>
      </p:sp>
      <p:sp>
        <p:nvSpPr>
          <p:cNvPr id="111" name="Shape 109"/>
          <p:cNvSpPr/>
          <p:nvPr/>
        </p:nvSpPr>
        <p:spPr>
          <a:xfrm>
            <a:off x="10104120" y="4206240"/>
            <a:ext cx="299923" cy="299923"/>
          </a:xfrm>
          <a:prstGeom prst="ellipse">
            <a:avLst/>
          </a:prstGeom>
          <a:solidFill>
            <a:srgbClr val="E0A784"/>
          </a:solidFill>
          <a:ln w="12700">
            <a:solidFill>
              <a:srgbClr val="E0A784"/>
            </a:solidFill>
            <a:prstDash val="solid"/>
          </a:ln>
        </p:spPr>
      </p:sp>
      <p:sp>
        <p:nvSpPr>
          <p:cNvPr id="112" name="Shape 110"/>
          <p:cNvSpPr/>
          <p:nvPr/>
        </p:nvSpPr>
        <p:spPr>
          <a:xfrm>
            <a:off x="10469880" y="4206240"/>
            <a:ext cx="299923" cy="299923"/>
          </a:xfrm>
          <a:prstGeom prst="ellipse">
            <a:avLst/>
          </a:prstGeom>
          <a:solidFill>
            <a:srgbClr val="D0AC98"/>
          </a:solidFill>
          <a:ln w="12700">
            <a:solidFill>
              <a:srgbClr val="D0AC98"/>
            </a:solidFill>
            <a:prstDash val="solid"/>
          </a:ln>
        </p:spPr>
      </p:sp>
      <p:sp>
        <p:nvSpPr>
          <p:cNvPr id="113" name="Shape 111"/>
          <p:cNvSpPr/>
          <p:nvPr/>
        </p:nvSpPr>
        <p:spPr>
          <a:xfrm>
            <a:off x="10835640" y="4206240"/>
            <a:ext cx="299923" cy="299923"/>
          </a:xfrm>
          <a:prstGeom prst="ellipse">
            <a:avLst/>
          </a:prstGeom>
          <a:solidFill>
            <a:srgbClr val="C0B3AE"/>
          </a:solidFill>
          <a:ln w="12700">
            <a:solidFill>
              <a:srgbClr val="C0B3AE"/>
            </a:solidFill>
            <a:prstDash val="solid"/>
          </a:ln>
        </p:spPr>
      </p:sp>
      <p:sp>
        <p:nvSpPr>
          <p:cNvPr id="114" name="Shape 112"/>
          <p:cNvSpPr/>
          <p:nvPr/>
        </p:nvSpPr>
        <p:spPr>
          <a:xfrm>
            <a:off x="11201400" y="4206240"/>
            <a:ext cx="299923" cy="299923"/>
          </a:xfrm>
          <a:prstGeom prst="ellipse">
            <a:avLst/>
          </a:prstGeom>
          <a:solidFill>
            <a:srgbClr val="AEB9C5"/>
          </a:solidFill>
          <a:ln w="12700">
            <a:solidFill>
              <a:srgbClr val="AEB9C5"/>
            </a:solidFill>
            <a:prstDash val="solid"/>
          </a:ln>
        </p:spPr>
      </p:sp>
      <p:sp>
        <p:nvSpPr>
          <p:cNvPr id="115" name="Shape 113"/>
          <p:cNvSpPr/>
          <p:nvPr/>
        </p:nvSpPr>
        <p:spPr>
          <a:xfrm>
            <a:off x="6812280" y="4572000"/>
            <a:ext cx="299923" cy="299923"/>
          </a:xfrm>
          <a:prstGeom prst="ellipse">
            <a:avLst/>
          </a:prstGeom>
          <a:solidFill>
            <a:srgbClr val="A3BDD4"/>
          </a:solidFill>
          <a:ln w="12700">
            <a:solidFill>
              <a:srgbClr val="A3BDD4"/>
            </a:solidFill>
            <a:prstDash val="solid"/>
          </a:ln>
        </p:spPr>
      </p:sp>
      <p:sp>
        <p:nvSpPr>
          <p:cNvPr id="116" name="Shape 114"/>
          <p:cNvSpPr/>
          <p:nvPr/>
        </p:nvSpPr>
        <p:spPr>
          <a:xfrm>
            <a:off x="7178040" y="4572000"/>
            <a:ext cx="299923" cy="299923"/>
          </a:xfrm>
          <a:prstGeom prst="ellipse">
            <a:avLst/>
          </a:prstGeom>
          <a:solidFill>
            <a:srgbClr val="B3B7BF"/>
          </a:solidFill>
          <a:ln w="12700">
            <a:solidFill>
              <a:srgbClr val="B3B7BF"/>
            </a:solidFill>
            <a:prstDash val="solid"/>
          </a:ln>
        </p:spPr>
      </p:sp>
      <p:sp>
        <p:nvSpPr>
          <p:cNvPr id="117" name="Shape 115"/>
          <p:cNvSpPr/>
          <p:nvPr/>
        </p:nvSpPr>
        <p:spPr>
          <a:xfrm>
            <a:off x="7543800" y="4572000"/>
            <a:ext cx="299923" cy="299923"/>
          </a:xfrm>
          <a:prstGeom prst="ellipse">
            <a:avLst/>
          </a:prstGeom>
          <a:solidFill>
            <a:srgbClr val="C2B2AC"/>
          </a:solidFill>
          <a:ln w="12700">
            <a:solidFill>
              <a:srgbClr val="C2B2AC"/>
            </a:solidFill>
            <a:prstDash val="solid"/>
          </a:ln>
        </p:spPr>
      </p:sp>
      <p:sp>
        <p:nvSpPr>
          <p:cNvPr id="118" name="Shape 116"/>
          <p:cNvSpPr/>
          <p:nvPr/>
        </p:nvSpPr>
        <p:spPr>
          <a:xfrm>
            <a:off x="7909560" y="4572000"/>
            <a:ext cx="299923" cy="299923"/>
          </a:xfrm>
          <a:prstGeom prst="ellipse">
            <a:avLst/>
          </a:prstGeom>
          <a:solidFill>
            <a:srgbClr val="CFAD9B"/>
          </a:solidFill>
          <a:ln w="12700">
            <a:solidFill>
              <a:srgbClr val="CFAD9B"/>
            </a:solidFill>
            <a:prstDash val="solid"/>
          </a:ln>
        </p:spPr>
      </p:sp>
      <p:sp>
        <p:nvSpPr>
          <p:cNvPr id="119" name="Shape 117"/>
          <p:cNvSpPr/>
          <p:nvPr/>
        </p:nvSpPr>
        <p:spPr>
          <a:xfrm>
            <a:off x="8275320" y="4572000"/>
            <a:ext cx="299923" cy="299923"/>
          </a:xfrm>
          <a:prstGeom prst="ellipse">
            <a:avLst/>
          </a:prstGeom>
          <a:solidFill>
            <a:srgbClr val="D9A98D"/>
          </a:solidFill>
          <a:ln w="12700">
            <a:solidFill>
              <a:srgbClr val="D9A98D"/>
            </a:solidFill>
            <a:prstDash val="solid"/>
          </a:ln>
        </p:spPr>
      </p:sp>
      <p:sp>
        <p:nvSpPr>
          <p:cNvPr id="120" name="Shape 118"/>
          <p:cNvSpPr/>
          <p:nvPr/>
        </p:nvSpPr>
        <p:spPr>
          <a:xfrm>
            <a:off x="8641080" y="4572000"/>
            <a:ext cx="299923" cy="299923"/>
          </a:xfrm>
          <a:prstGeom prst="ellipse">
            <a:avLst/>
          </a:prstGeom>
          <a:solidFill>
            <a:srgbClr val="E0A784"/>
          </a:solidFill>
          <a:ln w="12700">
            <a:solidFill>
              <a:srgbClr val="E0A784"/>
            </a:solidFill>
            <a:prstDash val="solid"/>
          </a:ln>
        </p:spPr>
      </p:sp>
      <p:sp>
        <p:nvSpPr>
          <p:cNvPr id="121" name="Shape 119"/>
          <p:cNvSpPr/>
          <p:nvPr/>
        </p:nvSpPr>
        <p:spPr>
          <a:xfrm>
            <a:off x="9006840" y="4572000"/>
            <a:ext cx="299923" cy="299923"/>
          </a:xfrm>
          <a:prstGeom prst="ellipse">
            <a:avLst/>
          </a:prstGeom>
          <a:solidFill>
            <a:srgbClr val="E3A681"/>
          </a:solidFill>
          <a:ln w="12700">
            <a:solidFill>
              <a:srgbClr val="E3A681"/>
            </a:solidFill>
            <a:prstDash val="solid"/>
          </a:ln>
        </p:spPr>
      </p:sp>
      <p:sp>
        <p:nvSpPr>
          <p:cNvPr id="122" name="Shape 120"/>
          <p:cNvSpPr/>
          <p:nvPr/>
        </p:nvSpPr>
        <p:spPr>
          <a:xfrm>
            <a:off x="9372600" y="4572000"/>
            <a:ext cx="299923" cy="299923"/>
          </a:xfrm>
          <a:prstGeom prst="ellipse">
            <a:avLst/>
          </a:prstGeom>
          <a:solidFill>
            <a:srgbClr val="E0A784"/>
          </a:solidFill>
          <a:ln w="12700">
            <a:solidFill>
              <a:srgbClr val="E0A784"/>
            </a:solidFill>
            <a:prstDash val="solid"/>
          </a:ln>
        </p:spPr>
      </p:sp>
      <p:sp>
        <p:nvSpPr>
          <p:cNvPr id="123" name="Shape 121"/>
          <p:cNvSpPr/>
          <p:nvPr/>
        </p:nvSpPr>
        <p:spPr>
          <a:xfrm>
            <a:off x="9738360" y="4572000"/>
            <a:ext cx="299923" cy="299923"/>
          </a:xfrm>
          <a:prstGeom prst="ellipse">
            <a:avLst/>
          </a:prstGeom>
          <a:solidFill>
            <a:srgbClr val="D9A98D"/>
          </a:solidFill>
          <a:ln w="12700">
            <a:solidFill>
              <a:srgbClr val="D9A98D"/>
            </a:solidFill>
            <a:prstDash val="solid"/>
          </a:ln>
        </p:spPr>
      </p:sp>
      <p:sp>
        <p:nvSpPr>
          <p:cNvPr id="124" name="Shape 122"/>
          <p:cNvSpPr/>
          <p:nvPr/>
        </p:nvSpPr>
        <p:spPr>
          <a:xfrm>
            <a:off x="10104120" y="4572000"/>
            <a:ext cx="299923" cy="299923"/>
          </a:xfrm>
          <a:prstGeom prst="ellipse">
            <a:avLst/>
          </a:prstGeom>
          <a:solidFill>
            <a:srgbClr val="CFAD9B"/>
          </a:solidFill>
          <a:ln w="12700">
            <a:solidFill>
              <a:srgbClr val="CFAD9B"/>
            </a:solidFill>
            <a:prstDash val="solid"/>
          </a:ln>
        </p:spPr>
      </p:sp>
      <p:sp>
        <p:nvSpPr>
          <p:cNvPr id="125" name="Shape 123"/>
          <p:cNvSpPr/>
          <p:nvPr/>
        </p:nvSpPr>
        <p:spPr>
          <a:xfrm>
            <a:off x="10469880" y="4572000"/>
            <a:ext cx="299923" cy="299923"/>
          </a:xfrm>
          <a:prstGeom prst="ellipse">
            <a:avLst/>
          </a:prstGeom>
          <a:solidFill>
            <a:srgbClr val="C2B2AC"/>
          </a:solidFill>
          <a:ln w="12700">
            <a:solidFill>
              <a:srgbClr val="C2B2AC"/>
            </a:solidFill>
            <a:prstDash val="solid"/>
          </a:ln>
        </p:spPr>
      </p:sp>
      <p:sp>
        <p:nvSpPr>
          <p:cNvPr id="126" name="Shape 124"/>
          <p:cNvSpPr/>
          <p:nvPr/>
        </p:nvSpPr>
        <p:spPr>
          <a:xfrm>
            <a:off x="10835640" y="4572000"/>
            <a:ext cx="299923" cy="299923"/>
          </a:xfrm>
          <a:prstGeom prst="ellipse">
            <a:avLst/>
          </a:prstGeom>
          <a:solidFill>
            <a:srgbClr val="B3B7BF"/>
          </a:solidFill>
          <a:ln w="12700">
            <a:solidFill>
              <a:srgbClr val="B3B7BF"/>
            </a:solidFill>
            <a:prstDash val="solid"/>
          </a:ln>
        </p:spPr>
      </p:sp>
      <p:sp>
        <p:nvSpPr>
          <p:cNvPr id="127" name="Shape 125"/>
          <p:cNvSpPr/>
          <p:nvPr/>
        </p:nvSpPr>
        <p:spPr>
          <a:xfrm>
            <a:off x="11201400" y="4572000"/>
            <a:ext cx="299923" cy="299923"/>
          </a:xfrm>
          <a:prstGeom prst="ellipse">
            <a:avLst/>
          </a:prstGeom>
          <a:solidFill>
            <a:srgbClr val="A3BDD4"/>
          </a:solidFill>
          <a:ln w="12700">
            <a:solidFill>
              <a:srgbClr val="A3BDD4"/>
            </a:solidFill>
            <a:prstDash val="solid"/>
          </a:ln>
        </p:spPr>
      </p:sp>
      <p:sp>
        <p:nvSpPr>
          <p:cNvPr id="128" name="Shape 126"/>
          <p:cNvSpPr/>
          <p:nvPr/>
        </p:nvSpPr>
        <p:spPr>
          <a:xfrm>
            <a:off x="6812280" y="4937760"/>
            <a:ext cx="299923" cy="299923"/>
          </a:xfrm>
          <a:prstGeom prst="ellipse">
            <a:avLst/>
          </a:prstGeom>
          <a:solidFill>
            <a:srgbClr val="9DBFDB"/>
          </a:solidFill>
          <a:ln w="12700">
            <a:solidFill>
              <a:srgbClr val="9DBFDB"/>
            </a:solidFill>
            <a:prstDash val="solid"/>
          </a:ln>
        </p:spPr>
      </p:sp>
      <p:sp>
        <p:nvSpPr>
          <p:cNvPr id="129" name="Shape 127"/>
          <p:cNvSpPr/>
          <p:nvPr/>
        </p:nvSpPr>
        <p:spPr>
          <a:xfrm>
            <a:off x="7178040" y="4937760"/>
            <a:ext cx="299923" cy="299923"/>
          </a:xfrm>
          <a:prstGeom prst="ellipse">
            <a:avLst/>
          </a:prstGeom>
          <a:solidFill>
            <a:srgbClr val="A3BDD3"/>
          </a:solidFill>
          <a:ln w="12700">
            <a:solidFill>
              <a:srgbClr val="A3BDD3"/>
            </a:solidFill>
            <a:prstDash val="solid"/>
          </a:ln>
        </p:spPr>
      </p:sp>
      <p:sp>
        <p:nvSpPr>
          <p:cNvPr id="130" name="Shape 128"/>
          <p:cNvSpPr/>
          <p:nvPr/>
        </p:nvSpPr>
        <p:spPr>
          <a:xfrm>
            <a:off x="7543800" y="4937760"/>
            <a:ext cx="299923" cy="299923"/>
          </a:xfrm>
          <a:prstGeom prst="ellipse">
            <a:avLst/>
          </a:prstGeom>
          <a:solidFill>
            <a:srgbClr val="B0B8C2"/>
          </a:solidFill>
          <a:ln w="12700">
            <a:solidFill>
              <a:srgbClr val="B0B8C2"/>
            </a:solidFill>
            <a:prstDash val="solid"/>
          </a:ln>
        </p:spPr>
      </p:sp>
      <p:sp>
        <p:nvSpPr>
          <p:cNvPr id="131" name="Shape 129"/>
          <p:cNvSpPr/>
          <p:nvPr/>
        </p:nvSpPr>
        <p:spPr>
          <a:xfrm>
            <a:off x="7909560" y="4937760"/>
            <a:ext cx="299923" cy="299923"/>
          </a:xfrm>
          <a:prstGeom prst="ellipse">
            <a:avLst/>
          </a:prstGeom>
          <a:solidFill>
            <a:srgbClr val="BBB4B4"/>
          </a:solidFill>
          <a:ln w="12700">
            <a:solidFill>
              <a:srgbClr val="BBB4B4"/>
            </a:solidFill>
            <a:prstDash val="solid"/>
          </a:ln>
        </p:spPr>
      </p:sp>
      <p:sp>
        <p:nvSpPr>
          <p:cNvPr id="132" name="Shape 130"/>
          <p:cNvSpPr/>
          <p:nvPr/>
        </p:nvSpPr>
        <p:spPr>
          <a:xfrm>
            <a:off x="8275320" y="4937760"/>
            <a:ext cx="299923" cy="299923"/>
          </a:xfrm>
          <a:prstGeom prst="ellipse">
            <a:avLst/>
          </a:prstGeom>
          <a:solidFill>
            <a:srgbClr val="C4B1A9"/>
          </a:solidFill>
          <a:ln w="12700">
            <a:solidFill>
              <a:srgbClr val="C4B1A9"/>
            </a:solidFill>
            <a:prstDash val="solid"/>
          </a:ln>
        </p:spPr>
      </p:sp>
      <p:sp>
        <p:nvSpPr>
          <p:cNvPr id="133" name="Shape 131"/>
          <p:cNvSpPr/>
          <p:nvPr/>
        </p:nvSpPr>
        <p:spPr>
          <a:xfrm>
            <a:off x="8641080" y="4937760"/>
            <a:ext cx="299923" cy="299923"/>
          </a:xfrm>
          <a:prstGeom prst="ellipse">
            <a:avLst/>
          </a:prstGeom>
          <a:solidFill>
            <a:srgbClr val="CAAFA1"/>
          </a:solidFill>
          <a:ln w="12700">
            <a:solidFill>
              <a:srgbClr val="CAAFA1"/>
            </a:solidFill>
            <a:prstDash val="solid"/>
          </a:ln>
        </p:spPr>
      </p:sp>
      <p:sp>
        <p:nvSpPr>
          <p:cNvPr id="134" name="Shape 132"/>
          <p:cNvSpPr/>
          <p:nvPr/>
        </p:nvSpPr>
        <p:spPr>
          <a:xfrm>
            <a:off x="9006840" y="4937760"/>
            <a:ext cx="299923" cy="299923"/>
          </a:xfrm>
          <a:prstGeom prst="ellipse">
            <a:avLst/>
          </a:prstGeom>
          <a:solidFill>
            <a:srgbClr val="CCAE9F"/>
          </a:solidFill>
          <a:ln w="12700">
            <a:solidFill>
              <a:srgbClr val="CCAE9F"/>
            </a:solidFill>
            <a:prstDash val="solid"/>
          </a:ln>
        </p:spPr>
      </p:sp>
      <p:sp>
        <p:nvSpPr>
          <p:cNvPr id="135" name="Shape 133"/>
          <p:cNvSpPr/>
          <p:nvPr/>
        </p:nvSpPr>
        <p:spPr>
          <a:xfrm>
            <a:off x="9372600" y="4937760"/>
            <a:ext cx="299923" cy="299923"/>
          </a:xfrm>
          <a:prstGeom prst="ellipse">
            <a:avLst/>
          </a:prstGeom>
          <a:solidFill>
            <a:srgbClr val="CAAFA1"/>
          </a:solidFill>
          <a:ln w="12700">
            <a:solidFill>
              <a:srgbClr val="CAAFA1"/>
            </a:solidFill>
            <a:prstDash val="solid"/>
          </a:ln>
        </p:spPr>
      </p:sp>
      <p:sp>
        <p:nvSpPr>
          <p:cNvPr id="136" name="Shape 134"/>
          <p:cNvSpPr/>
          <p:nvPr/>
        </p:nvSpPr>
        <p:spPr>
          <a:xfrm>
            <a:off x="9738360" y="4937760"/>
            <a:ext cx="299923" cy="299923"/>
          </a:xfrm>
          <a:prstGeom prst="ellipse">
            <a:avLst/>
          </a:prstGeom>
          <a:solidFill>
            <a:srgbClr val="C4B1A9"/>
          </a:solidFill>
          <a:ln w="12700">
            <a:solidFill>
              <a:srgbClr val="C4B1A9"/>
            </a:solidFill>
            <a:prstDash val="solid"/>
          </a:ln>
        </p:spPr>
      </p:sp>
      <p:sp>
        <p:nvSpPr>
          <p:cNvPr id="137" name="Shape 135"/>
          <p:cNvSpPr/>
          <p:nvPr/>
        </p:nvSpPr>
        <p:spPr>
          <a:xfrm>
            <a:off x="10104120" y="4937760"/>
            <a:ext cx="299923" cy="299923"/>
          </a:xfrm>
          <a:prstGeom prst="ellipse">
            <a:avLst/>
          </a:prstGeom>
          <a:solidFill>
            <a:srgbClr val="BBB4B4"/>
          </a:solidFill>
          <a:ln w="12700">
            <a:solidFill>
              <a:srgbClr val="BBB4B4"/>
            </a:solidFill>
            <a:prstDash val="solid"/>
          </a:ln>
        </p:spPr>
      </p:sp>
      <p:sp>
        <p:nvSpPr>
          <p:cNvPr id="138" name="Shape 136"/>
          <p:cNvSpPr/>
          <p:nvPr/>
        </p:nvSpPr>
        <p:spPr>
          <a:xfrm>
            <a:off x="10469880" y="4937760"/>
            <a:ext cx="299923" cy="299923"/>
          </a:xfrm>
          <a:prstGeom prst="ellipse">
            <a:avLst/>
          </a:prstGeom>
          <a:solidFill>
            <a:srgbClr val="B0B8C2"/>
          </a:solidFill>
          <a:ln w="12700">
            <a:solidFill>
              <a:srgbClr val="B0B8C2"/>
            </a:solidFill>
            <a:prstDash val="solid"/>
          </a:ln>
        </p:spPr>
      </p:sp>
      <p:sp>
        <p:nvSpPr>
          <p:cNvPr id="139" name="Shape 137"/>
          <p:cNvSpPr/>
          <p:nvPr/>
        </p:nvSpPr>
        <p:spPr>
          <a:xfrm>
            <a:off x="10835640" y="4937760"/>
            <a:ext cx="299923" cy="299923"/>
          </a:xfrm>
          <a:prstGeom prst="ellipse">
            <a:avLst/>
          </a:prstGeom>
          <a:solidFill>
            <a:srgbClr val="A3BDD3"/>
          </a:solidFill>
          <a:ln w="12700">
            <a:solidFill>
              <a:srgbClr val="A3BDD3"/>
            </a:solidFill>
            <a:prstDash val="solid"/>
          </a:ln>
        </p:spPr>
      </p:sp>
      <p:sp>
        <p:nvSpPr>
          <p:cNvPr id="140" name="Shape 138"/>
          <p:cNvSpPr/>
          <p:nvPr/>
        </p:nvSpPr>
        <p:spPr>
          <a:xfrm>
            <a:off x="11201400" y="4937760"/>
            <a:ext cx="299923" cy="299923"/>
          </a:xfrm>
          <a:prstGeom prst="ellipse">
            <a:avLst/>
          </a:prstGeom>
          <a:solidFill>
            <a:srgbClr val="9DBFDB"/>
          </a:solidFill>
          <a:ln w="12700">
            <a:solidFill>
              <a:srgbClr val="9DBFDB"/>
            </a:solidFill>
            <a:prstDash val="solid"/>
          </a:ln>
        </p:spPr>
      </p:sp>
      <p:sp>
        <p:nvSpPr>
          <p:cNvPr id="141" name="Shape 139"/>
          <p:cNvSpPr/>
          <p:nvPr/>
        </p:nvSpPr>
        <p:spPr>
          <a:xfrm>
            <a:off x="6748272" y="1581912"/>
            <a:ext cx="427939" cy="427939"/>
          </a:xfrm>
          <a:prstGeom prst="ellipse">
            <a:avLst/>
          </a:prstGeom>
          <a:ln w="31750">
            <a:solidFill>
              <a:srgbClr val="14202B"/>
            </a:solidFill>
            <a:prstDash val="solid"/>
          </a:ln>
        </p:spPr>
      </p:sp>
      <p:sp>
        <p:nvSpPr>
          <p:cNvPr id="142" name="Shape 140"/>
          <p:cNvSpPr/>
          <p:nvPr/>
        </p:nvSpPr>
        <p:spPr>
          <a:xfrm>
            <a:off x="11137392" y="4873752"/>
            <a:ext cx="427939" cy="427939"/>
          </a:xfrm>
          <a:prstGeom prst="ellipse">
            <a:avLst/>
          </a:prstGeom>
          <a:ln w="31750">
            <a:solidFill>
              <a:srgbClr val="14202B"/>
            </a:solidFill>
            <a:prstDash val="solid"/>
          </a:ln>
        </p:spPr>
      </p:sp>
      <p:sp>
        <p:nvSpPr>
          <p:cNvPr id="143" name="Text 141"/>
          <p:cNvSpPr/>
          <p:nvPr/>
        </p:nvSpPr>
        <p:spPr>
          <a:xfrm>
            <a:off x="6812280" y="5394960"/>
            <a:ext cx="4800600" cy="548640"/>
          </a:xfrm>
          <a:prstGeom prst="rect">
            <a:avLst/>
          </a:prstGeom>
          <a:noFill/>
          <a:ln/>
        </p:spPr>
        <p:txBody>
          <a:bodyPr wrap="square" lIns="0" tIns="0" rIns="0" bIns="0" rtlCol="0" anchor="ctr"/>
          <a:lstStyle/>
          <a:p>
            <a:pPr indent="0" marL="0">
              <a:buNone/>
            </a:pPr>
            <a:r>
              <a:rPr lang="en-US" sz="1100" dirty="0">
                <a:solidFill>
                  <a:srgbClr val="66717C"/>
                </a:solidFill>
                <a:latin typeface="Calibri" pitchFamily="34" charset="0"/>
                <a:ea typeface="Calibri" pitchFamily="34" charset="-122"/>
                <a:cs typeface="Calibri" pitchFamily="34" charset="-120"/>
              </a:rPr>
              <a:t>Illustrative 13S10P pack. Rings: the two BMS sensors, on cooler corner cells. The simulated field is in the app’s Heat map tab.</a:t>
            </a:r>
            <a:endParaRPr lang="en-US" sz="1100" dirty="0"/>
          </a:p>
        </p:txBody>
      </p:sp>
      <p:sp>
        <p:nvSpPr>
          <p:cNvPr id="144" name="Text 142"/>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Source: PackForge CLI run, baseline, charge after drive at 40 °C ambient</a:t>
            </a:r>
            <a:endParaRPr lang="en-US" sz="1000" dirty="0"/>
          </a:p>
        </p:txBody>
      </p:sp>
      <p:sp>
        <p:nvSpPr>
          <p:cNvPr id="145" name="Text 143"/>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THE PHYSICS LIMIT</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No firmware beats the passive floor</a:t>
            </a:r>
            <a:endParaRPr lang="en-US" sz="3400" dirty="0"/>
          </a:p>
        </p:txBody>
      </p:sp>
      <p:sp>
        <p:nvSpPr>
          <p:cNvPr id="4" name="Shape 2"/>
          <p:cNvSpPr/>
          <p:nvPr/>
        </p:nvSpPr>
        <p:spPr>
          <a:xfrm>
            <a:off x="548640" y="1645920"/>
            <a:ext cx="3227832" cy="1325880"/>
          </a:xfrm>
          <a:prstGeom prst="roundRect">
            <a:avLst>
              <a:gd name="adj" fmla="val 5517"/>
            </a:avLst>
          </a:prstGeom>
          <a:solidFill>
            <a:srgbClr val="F2F4F7"/>
          </a:solidFill>
          <a:ln w="12700">
            <a:solidFill>
              <a:srgbClr val="F2F4F7"/>
            </a:solidFill>
            <a:prstDash val="solid"/>
          </a:ln>
        </p:spPr>
      </p:sp>
      <p:sp>
        <p:nvSpPr>
          <p:cNvPr id="5" name="Text 3"/>
          <p:cNvSpPr/>
          <p:nvPr/>
        </p:nvSpPr>
        <p:spPr>
          <a:xfrm>
            <a:off x="822960" y="1737360"/>
            <a:ext cx="2743200" cy="1143000"/>
          </a:xfrm>
          <a:prstGeom prst="rect">
            <a:avLst/>
          </a:prstGeom>
          <a:noFill/>
          <a:ln/>
        </p:spPr>
        <p:txBody>
          <a:bodyPr wrap="square" lIns="0" tIns="0" rIns="0" bIns="0" rtlCol="0" anchor="ctr"/>
          <a:lstStyle/>
          <a:p>
            <a:pPr indent="0" marL="0">
              <a:buNone/>
            </a:pPr>
            <a:r>
              <a:rPr lang="en-US" sz="3600" b="1" dirty="0">
                <a:solidFill>
                  <a:srgbClr val="2B6CB0"/>
                </a:solidFill>
                <a:latin typeface="Cambria" pitchFamily="34" charset="0"/>
                <a:ea typeface="Cambria" pitchFamily="34" charset="-122"/>
                <a:cs typeface="Cambria" pitchFamily="34" charset="-120"/>
              </a:rPr>
              <a:t>40 °C</a:t>
            </a:r>
            <a:endParaRPr lang="en-US" sz="3600" dirty="0"/>
          </a:p>
          <a:p>
            <a:pPr indent="0" marL="0">
              <a:buNone/>
            </a:pPr>
            <a:r>
              <a:rPr lang="en-US" sz="1400" dirty="0">
                <a:solidFill>
                  <a:srgbClr val="46525E"/>
                </a:solidFill>
                <a:latin typeface="Calibri" pitchFamily="34" charset="0"/>
                <a:ea typeface="Calibri" pitchFamily="34" charset="-122"/>
                <a:cs typeface="Calibri" pitchFamily="34" charset="-120"/>
              </a:rPr>
              <a:t>ambient</a:t>
            </a:r>
            <a:endParaRPr lang="en-US" sz="3600" dirty="0"/>
          </a:p>
        </p:txBody>
      </p:sp>
      <p:sp>
        <p:nvSpPr>
          <p:cNvPr id="6" name="Shape 4"/>
          <p:cNvSpPr/>
          <p:nvPr/>
        </p:nvSpPr>
        <p:spPr>
          <a:xfrm>
            <a:off x="4480560" y="1645920"/>
            <a:ext cx="3227832" cy="1325880"/>
          </a:xfrm>
          <a:prstGeom prst="roundRect">
            <a:avLst>
              <a:gd name="adj" fmla="val 5517"/>
            </a:avLst>
          </a:prstGeom>
          <a:solidFill>
            <a:srgbClr val="F2F4F7"/>
          </a:solidFill>
          <a:ln w="12700">
            <a:solidFill>
              <a:srgbClr val="F2F4F7"/>
            </a:solidFill>
            <a:prstDash val="solid"/>
          </a:ln>
        </p:spPr>
      </p:sp>
      <p:sp>
        <p:nvSpPr>
          <p:cNvPr id="7" name="Text 5"/>
          <p:cNvSpPr/>
          <p:nvPr/>
        </p:nvSpPr>
        <p:spPr>
          <a:xfrm>
            <a:off x="4754880" y="1737360"/>
            <a:ext cx="2743200" cy="1143000"/>
          </a:xfrm>
          <a:prstGeom prst="rect">
            <a:avLst/>
          </a:prstGeom>
          <a:noFill/>
          <a:ln/>
        </p:spPr>
        <p:txBody>
          <a:bodyPr wrap="square" lIns="0" tIns="0" rIns="0" bIns="0" rtlCol="0" anchor="ctr"/>
          <a:lstStyle/>
          <a:p>
            <a:pPr indent="0" marL="0">
              <a:buNone/>
            </a:pPr>
            <a:r>
              <a:rPr lang="en-US" sz="3600" b="1" dirty="0">
                <a:solidFill>
                  <a:srgbClr val="D9480F"/>
                </a:solidFill>
                <a:latin typeface="Cambria" pitchFamily="34" charset="0"/>
                <a:ea typeface="Cambria" pitchFamily="34" charset="-122"/>
                <a:cs typeface="Cambria" pitchFamily="34" charset="-120"/>
              </a:rPr>
              <a:t>5 K</a:t>
            </a:r>
            <a:endParaRPr lang="en-US" sz="3600" dirty="0"/>
          </a:p>
          <a:p>
            <a:pPr indent="0" marL="0">
              <a:buNone/>
            </a:pPr>
            <a:r>
              <a:rPr lang="en-US" sz="1400" dirty="0">
                <a:solidFill>
                  <a:srgbClr val="46525E"/>
                </a:solidFill>
                <a:latin typeface="Calibri" pitchFamily="34" charset="0"/>
                <a:ea typeface="Calibri" pitchFamily="34" charset="-122"/>
                <a:cs typeface="Calibri" pitchFamily="34" charset="-120"/>
              </a:rPr>
              <a:t>headroom for all the charge heat</a:t>
            </a:r>
            <a:endParaRPr lang="en-US" sz="3600" dirty="0"/>
          </a:p>
        </p:txBody>
      </p:sp>
      <p:sp>
        <p:nvSpPr>
          <p:cNvPr id="8" name="Shape 6"/>
          <p:cNvSpPr/>
          <p:nvPr/>
        </p:nvSpPr>
        <p:spPr>
          <a:xfrm>
            <a:off x="8412480" y="1645920"/>
            <a:ext cx="3227832" cy="1325880"/>
          </a:xfrm>
          <a:prstGeom prst="roundRect">
            <a:avLst>
              <a:gd name="adj" fmla="val 5517"/>
            </a:avLst>
          </a:prstGeom>
          <a:solidFill>
            <a:srgbClr val="F2F4F7"/>
          </a:solidFill>
          <a:ln w="12700">
            <a:solidFill>
              <a:srgbClr val="F2F4F7"/>
            </a:solidFill>
            <a:prstDash val="solid"/>
          </a:ln>
        </p:spPr>
      </p:sp>
      <p:sp>
        <p:nvSpPr>
          <p:cNvPr id="9" name="Text 7"/>
          <p:cNvSpPr/>
          <p:nvPr/>
        </p:nvSpPr>
        <p:spPr>
          <a:xfrm>
            <a:off x="8686800" y="1737360"/>
            <a:ext cx="2743200" cy="1143000"/>
          </a:xfrm>
          <a:prstGeom prst="rect">
            <a:avLst/>
          </a:prstGeom>
          <a:noFill/>
          <a:ln/>
        </p:spPr>
        <p:txBody>
          <a:bodyPr wrap="square" lIns="0" tIns="0" rIns="0" bIns="0" rtlCol="0" anchor="ctr"/>
          <a:lstStyle/>
          <a:p>
            <a:pPr indent="0" marL="0">
              <a:buNone/>
            </a:pPr>
            <a:r>
              <a:rPr lang="en-US" sz="3600" b="1" dirty="0">
                <a:solidFill>
                  <a:srgbClr val="14202B"/>
                </a:solidFill>
                <a:latin typeface="Cambria" pitchFamily="34" charset="0"/>
                <a:ea typeface="Cambria" pitchFamily="34" charset="-122"/>
                <a:cs typeface="Cambria" pitchFamily="34" charset="-120"/>
              </a:rPr>
              <a:t>45 °C</a:t>
            </a:r>
            <a:endParaRPr lang="en-US" sz="3600" dirty="0"/>
          </a:p>
          <a:p>
            <a:pPr indent="0" marL="0">
              <a:buNone/>
            </a:pPr>
            <a:r>
              <a:rPr lang="en-US" sz="1400" dirty="0">
                <a:solidFill>
                  <a:srgbClr val="46525E"/>
                </a:solidFill>
                <a:latin typeface="Calibri" pitchFamily="34" charset="0"/>
                <a:ea typeface="Calibri" pitchFamily="34" charset="-122"/>
                <a:cs typeface="Calibri" pitchFamily="34" charset="-120"/>
              </a:rPr>
              <a:t>cell charge limit (REQ-03)</a:t>
            </a:r>
            <a:endParaRPr lang="en-US" sz="3600" dirty="0"/>
          </a:p>
        </p:txBody>
      </p:sp>
      <p:sp>
        <p:nvSpPr>
          <p:cNvPr id="10" name="Text 8"/>
          <p:cNvSpPr/>
          <p:nvPr/>
        </p:nvSpPr>
        <p:spPr>
          <a:xfrm>
            <a:off x="3840480" y="1645920"/>
            <a:ext cx="548640" cy="1325880"/>
          </a:xfrm>
          <a:prstGeom prst="rect">
            <a:avLst/>
          </a:prstGeom>
          <a:noFill/>
          <a:ln/>
        </p:spPr>
        <p:txBody>
          <a:bodyPr wrap="square" lIns="0" tIns="0" rIns="0" bIns="0" rtlCol="0" anchor="ctr"/>
          <a:lstStyle/>
          <a:p>
            <a:pPr algn="ctr" indent="0" marL="0">
              <a:buNone/>
            </a:pPr>
            <a:r>
              <a:rPr lang="en-US" sz="3600" dirty="0">
                <a:solidFill>
                  <a:srgbClr val="66717C"/>
                </a:solidFill>
                <a:latin typeface="Cambria" pitchFamily="34" charset="0"/>
                <a:ea typeface="Cambria" pitchFamily="34" charset="-122"/>
                <a:cs typeface="Cambria" pitchFamily="34" charset="-120"/>
              </a:rPr>
              <a:t>+</a:t>
            </a:r>
            <a:endParaRPr lang="en-US" sz="3600" dirty="0"/>
          </a:p>
        </p:txBody>
      </p:sp>
      <p:sp>
        <p:nvSpPr>
          <p:cNvPr id="11" name="Text 9"/>
          <p:cNvSpPr/>
          <p:nvPr/>
        </p:nvSpPr>
        <p:spPr>
          <a:xfrm>
            <a:off x="7772400" y="1645920"/>
            <a:ext cx="548640" cy="1325880"/>
          </a:xfrm>
          <a:prstGeom prst="rect">
            <a:avLst/>
          </a:prstGeom>
          <a:noFill/>
          <a:ln/>
        </p:spPr>
        <p:txBody>
          <a:bodyPr wrap="square" lIns="0" tIns="0" rIns="0" bIns="0" rtlCol="0" anchor="ctr"/>
          <a:lstStyle/>
          <a:p>
            <a:pPr algn="ctr" indent="0" marL="0">
              <a:buNone/>
            </a:pPr>
            <a:r>
              <a:rPr lang="en-US" sz="3600" dirty="0">
                <a:solidFill>
                  <a:srgbClr val="66717C"/>
                </a:solidFill>
                <a:latin typeface="Cambria" pitchFamily="34" charset="0"/>
                <a:ea typeface="Cambria" pitchFamily="34" charset="-122"/>
                <a:cs typeface="Cambria" pitchFamily="34" charset="-120"/>
              </a:rPr>
              <a:t>=</a:t>
            </a:r>
            <a:endParaRPr lang="en-US" sz="3600" dirty="0"/>
          </a:p>
        </p:txBody>
      </p:sp>
      <p:sp>
        <p:nvSpPr>
          <p:cNvPr id="12" name="Shape 10"/>
          <p:cNvSpPr/>
          <p:nvPr/>
        </p:nvSpPr>
        <p:spPr>
          <a:xfrm>
            <a:off x="548640" y="3291840"/>
            <a:ext cx="5394960" cy="1691640"/>
          </a:xfrm>
          <a:prstGeom prst="roundRect">
            <a:avLst>
              <a:gd name="adj" fmla="val 4324"/>
            </a:avLst>
          </a:prstGeom>
          <a:solidFill>
            <a:srgbClr val="14202B"/>
          </a:solidFill>
          <a:ln w="12700">
            <a:solidFill>
              <a:srgbClr val="14202B"/>
            </a:solidFill>
            <a:prstDash val="solid"/>
          </a:ln>
        </p:spPr>
      </p:sp>
      <p:sp>
        <p:nvSpPr>
          <p:cNvPr id="13" name="Text 11"/>
          <p:cNvSpPr/>
          <p:nvPr/>
        </p:nvSpPr>
        <p:spPr>
          <a:xfrm>
            <a:off x="868680" y="3383280"/>
            <a:ext cx="4754880" cy="1508760"/>
          </a:xfrm>
          <a:prstGeom prst="rect">
            <a:avLst/>
          </a:prstGeom>
          <a:noFill/>
          <a:ln/>
        </p:spPr>
        <p:txBody>
          <a:bodyPr wrap="square" lIns="0" tIns="0" rIns="0" bIns="0" rtlCol="0" anchor="ctr"/>
          <a:lstStyle/>
          <a:p>
            <a:pPr indent="0" marL="0">
              <a:spcAft>
                <a:spcPts val="400"/>
              </a:spcAft>
              <a:buNone/>
            </a:pPr>
            <a:r>
              <a:rPr lang="en-US" sz="3600" b="1" dirty="0">
                <a:solidFill>
                  <a:srgbClr val="F2874A"/>
                </a:solidFill>
                <a:latin typeface="Cambria" pitchFamily="34" charset="0"/>
                <a:ea typeface="Cambria" pitchFamily="34" charset="-122"/>
                <a:cs typeface="Cambria" pitchFamily="34" charset="-120"/>
              </a:rPr>
              <a:t>≥ 139 min</a:t>
            </a:r>
            <a:endParaRPr lang="en-US" sz="3600" dirty="0"/>
          </a:p>
          <a:p>
            <a:pPr indent="0" marL="0">
              <a:spcAft>
                <a:spcPts val="400"/>
              </a:spcAft>
              <a:buNone/>
            </a:pPr>
            <a:r>
              <a:rPr lang="en-US" sz="1400" dirty="0">
                <a:solidFill>
                  <a:srgbClr val="B9C4CC"/>
                </a:solidFill>
                <a:latin typeface="Calibri" pitchFamily="34" charset="0"/>
                <a:ea typeface="Calibri" pitchFamily="34" charset="-122"/>
                <a:cs typeface="Calibri" pitchFamily="34" charset="-120"/>
              </a:rPr>
              <a:t>Hand calc, 10 → 80 %, passive NMC pack, even from a cold start: full current to the limit, then the current that holds it there.</a:t>
            </a:r>
            <a:endParaRPr lang="en-US" sz="3600" dirty="0"/>
          </a:p>
        </p:txBody>
      </p:sp>
      <p:sp>
        <p:nvSpPr>
          <p:cNvPr id="14" name="Shape 12"/>
          <p:cNvSpPr/>
          <p:nvPr/>
        </p:nvSpPr>
        <p:spPr>
          <a:xfrm>
            <a:off x="6245352" y="3291840"/>
            <a:ext cx="5394960" cy="1691640"/>
          </a:xfrm>
          <a:prstGeom prst="roundRect">
            <a:avLst>
              <a:gd name="adj" fmla="val 4324"/>
            </a:avLst>
          </a:prstGeom>
          <a:solidFill>
            <a:srgbClr val="14202B"/>
          </a:solidFill>
          <a:ln w="12700">
            <a:solidFill>
              <a:srgbClr val="14202B"/>
            </a:solidFill>
            <a:prstDash val="solid"/>
          </a:ln>
        </p:spPr>
      </p:sp>
      <p:sp>
        <p:nvSpPr>
          <p:cNvPr id="15" name="Text 13"/>
          <p:cNvSpPr/>
          <p:nvPr/>
        </p:nvSpPr>
        <p:spPr>
          <a:xfrm>
            <a:off x="6565392" y="3383280"/>
            <a:ext cx="4754880" cy="1508760"/>
          </a:xfrm>
          <a:prstGeom prst="rect">
            <a:avLst/>
          </a:prstGeom>
          <a:noFill/>
          <a:ln/>
        </p:spPr>
        <p:txBody>
          <a:bodyPr wrap="square" lIns="0" tIns="0" rIns="0" bIns="0" rtlCol="0" anchor="ctr"/>
          <a:lstStyle/>
          <a:p>
            <a:pPr indent="0" marL="0">
              <a:spcAft>
                <a:spcPts val="400"/>
              </a:spcAft>
              <a:buNone/>
            </a:pPr>
            <a:r>
              <a:rPr lang="en-US" sz="3600" b="1" dirty="0">
                <a:solidFill>
                  <a:srgbClr val="FFFFFF"/>
                </a:solidFill>
                <a:latin typeface="Cambria" pitchFamily="34" charset="0"/>
                <a:ea typeface="Cambria" pitchFamily="34" charset="-122"/>
                <a:cs typeface="Cambria" pitchFamily="34" charset="-120"/>
              </a:rPr>
              <a:t>161 min</a:t>
            </a:r>
            <a:endParaRPr lang="en-US" sz="3600" dirty="0"/>
          </a:p>
          <a:p>
            <a:pPr indent="0" marL="0">
              <a:spcAft>
                <a:spcPts val="400"/>
              </a:spcAft>
              <a:buNone/>
            </a:pPr>
            <a:r>
              <a:rPr lang="en-US" sz="1400" dirty="0">
                <a:solidFill>
                  <a:srgbClr val="B9C4CC"/>
                </a:solidFill>
                <a:latin typeface="Calibri" pitchFamily="34" charset="0"/>
                <a:ea typeface="Calibri" pitchFamily="34" charset="-122"/>
                <a:cs typeface="Calibri" pitchFamily="34" charset="-120"/>
              </a:rPr>
              <a:t>Simulated 10 → 80 % after a ride. The sim and the independent bound agree; a test enforces it.</a:t>
            </a:r>
            <a:endParaRPr lang="en-US" sz="3600" dirty="0"/>
          </a:p>
        </p:txBody>
      </p:sp>
      <p:sp>
        <p:nvSpPr>
          <p:cNvPr id="16" name="Shape 14"/>
          <p:cNvSpPr/>
          <p:nvPr/>
        </p:nvSpPr>
        <p:spPr>
          <a:xfrm>
            <a:off x="548640" y="5303520"/>
            <a:ext cx="502920" cy="502920"/>
          </a:xfrm>
          <a:prstGeom prst="ellipse">
            <a:avLst/>
          </a:prstGeom>
          <a:solidFill>
            <a:srgbClr val="D9480F"/>
          </a:solidFill>
          <a:ln w="12700">
            <a:solidFill>
              <a:srgbClr val="D9480F"/>
            </a:solidFill>
            <a:prstDash val="solid"/>
          </a:ln>
        </p:spPr>
      </p:sp>
      <p:pic>
        <p:nvPicPr>
          <p:cNvPr id="17" name="Image 0" descr="preencoded.png">    </p:cNvPr>
          <p:cNvPicPr>
            <a:picLocks noChangeAspect="1"/>
          </p:cNvPicPr>
          <p:nvPr/>
        </p:nvPicPr>
        <p:blipFill>
          <a:blip r:embed="rId1"/>
          <a:stretch>
            <a:fillRect/>
          </a:stretch>
        </p:blipFill>
        <p:spPr>
          <a:xfrm>
            <a:off x="669341" y="5424221"/>
            <a:ext cx="261518" cy="261518"/>
          </a:xfrm>
          <a:prstGeom prst="rect">
            <a:avLst/>
          </a:prstGeom>
        </p:spPr>
      </p:pic>
      <p:sp>
        <p:nvSpPr>
          <p:cNvPr id="18" name="Text 15"/>
          <p:cNvSpPr/>
          <p:nvPr/>
        </p:nvSpPr>
        <p:spPr>
          <a:xfrm>
            <a:off x="1234440" y="5257800"/>
            <a:ext cx="10332720" cy="594360"/>
          </a:xfrm>
          <a:prstGeom prst="rect">
            <a:avLst/>
          </a:prstGeom>
          <a:noFill/>
          <a:ln/>
        </p:spPr>
        <p:txBody>
          <a:bodyPr wrap="square" lIns="0" tIns="0" rIns="0" bIns="0" rtlCol="0" anchor="ctr"/>
          <a:lstStyle/>
          <a:p>
            <a:pPr indent="0" marL="0">
              <a:buNone/>
            </a:pPr>
            <a:r>
              <a:rPr lang="en-US" sz="1600" dirty="0">
                <a:solidFill>
                  <a:srgbClr val="14202B"/>
                </a:solidFill>
                <a:latin typeface="Calibri" pitchFamily="34" charset="0"/>
                <a:ea typeface="Calibri" pitchFamily="34" charset="-122"/>
                <a:cs typeface="Calibri" pitchFamily="34" charset="-120"/>
              </a:rPr>
              <a:t>So the fix is hardware — better cooling (A) or a cooler-running cell (B). Firmware (C) can make charging safe, not faster.</a:t>
            </a:r>
            <a:endParaRPr lang="en-US" sz="1600" dirty="0"/>
          </a:p>
        </p:txBody>
      </p:sp>
      <p:sp>
        <p:nvSpPr>
          <p:cNvPr id="19" name="Text 16"/>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Source: PackForge CLI — thermal-limit charge bound (hand calc) vs simulated 10–80 % charge, baseline</a:t>
            </a:r>
            <a:endParaRPr lang="en-US" sz="1000" dirty="0"/>
          </a:p>
        </p:txBody>
      </p:sp>
      <p:sp>
        <p:nvSpPr>
          <p:cNvPr id="20" name="Text 17"/>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DESIRABILITY</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Built for people who design packs</a:t>
            </a:r>
            <a:endParaRPr lang="en-US" sz="3400" dirty="0"/>
          </a:p>
        </p:txBody>
      </p:sp>
      <p:sp>
        <p:nvSpPr>
          <p:cNvPr id="4" name="Shape 2"/>
          <p:cNvSpPr/>
          <p:nvPr/>
        </p:nvSpPr>
        <p:spPr>
          <a:xfrm>
            <a:off x="548640" y="1600200"/>
            <a:ext cx="5394960" cy="1508760"/>
          </a:xfrm>
          <a:prstGeom prst="roundRect">
            <a:avLst>
              <a:gd name="adj" fmla="val 4848"/>
            </a:avLst>
          </a:prstGeom>
          <a:solidFill>
            <a:srgbClr val="14202B"/>
          </a:solidFill>
          <a:ln w="12700">
            <a:solidFill>
              <a:srgbClr val="14202B"/>
            </a:solidFill>
            <a:prstDash val="solid"/>
          </a:ln>
        </p:spPr>
      </p:sp>
      <p:sp>
        <p:nvSpPr>
          <p:cNvPr id="5" name="Shape 3"/>
          <p:cNvSpPr/>
          <p:nvPr/>
        </p:nvSpPr>
        <p:spPr>
          <a:xfrm>
            <a:off x="822960" y="1874520"/>
            <a:ext cx="594360" cy="594360"/>
          </a:xfrm>
          <a:prstGeom prst="ellipse">
            <a:avLst/>
          </a:prstGeom>
          <a:solidFill>
            <a:srgbClr val="D9480F"/>
          </a:solidFill>
          <a:ln w="12700">
            <a:solidFill>
              <a:srgbClr val="D9480F"/>
            </a:solidFill>
            <a:prstDash val="solid"/>
          </a:ln>
        </p:spPr>
      </p:sp>
      <p:pic>
        <p:nvPicPr>
          <p:cNvPr id="6" name="Image 0" descr="preencoded.png">    </p:cNvPr>
          <p:cNvPicPr>
            <a:picLocks noChangeAspect="1"/>
          </p:cNvPicPr>
          <p:nvPr/>
        </p:nvPicPr>
        <p:blipFill>
          <a:blip r:embed="rId1"/>
          <a:stretch>
            <a:fillRect/>
          </a:stretch>
        </p:blipFill>
        <p:spPr>
          <a:xfrm>
            <a:off x="965606" y="2017166"/>
            <a:ext cx="309067" cy="309067"/>
          </a:xfrm>
          <a:prstGeom prst="rect">
            <a:avLst/>
          </a:prstGeom>
        </p:spPr>
      </p:pic>
      <p:sp>
        <p:nvSpPr>
          <p:cNvPr id="7" name="Text 4"/>
          <p:cNvSpPr/>
          <p:nvPr/>
        </p:nvSpPr>
        <p:spPr>
          <a:xfrm>
            <a:off x="1645920" y="1737360"/>
            <a:ext cx="4069080" cy="1234440"/>
          </a:xfrm>
          <a:prstGeom prst="rect">
            <a:avLst/>
          </a:prstGeom>
          <a:noFill/>
          <a:ln/>
        </p:spPr>
        <p:txBody>
          <a:bodyPr wrap="square" lIns="0" tIns="0" rIns="0" bIns="0" rtlCol="0" anchor="ctr"/>
          <a:lstStyle/>
          <a:p>
            <a:pPr indent="0" marL="0">
              <a:spcAft>
                <a:spcPts val="400"/>
              </a:spcAft>
              <a:buNone/>
            </a:pPr>
            <a:r>
              <a:rPr lang="en-US" sz="1800" b="1" dirty="0">
                <a:solidFill>
                  <a:srgbClr val="FFFFFF"/>
                </a:solidFill>
                <a:latin typeface="Calibri" pitchFamily="34" charset="0"/>
                <a:ea typeface="Calibri" pitchFamily="34" charset="-122"/>
                <a:cs typeface="Calibri" pitchFamily="34" charset="-120"/>
              </a:rPr>
              <a:t>Students and new engineers</a:t>
            </a:r>
            <a:endParaRPr lang="en-US" sz="1800" dirty="0"/>
          </a:p>
          <a:p>
            <a:pPr indent="0" marL="0">
              <a:spcAft>
                <a:spcPts val="400"/>
              </a:spcAft>
              <a:buNone/>
            </a:pPr>
            <a:r>
              <a:rPr lang="en-US" sz="1400" dirty="0">
                <a:solidFill>
                  <a:srgbClr val="B9C4CC"/>
                </a:solidFill>
                <a:latin typeface="Calibri" pitchFamily="34" charset="0"/>
                <a:ea typeface="Calibri" pitchFamily="34" charset="-122"/>
                <a:cs typeface="Calibri" pitchFamily="34" charset="-120"/>
              </a:rPr>
              <a:t>See why a design fails: every conflict comes with its cause chain across cell, thermal and BMS, plus candidate fixes.</a:t>
            </a:r>
            <a:endParaRPr lang="en-US" sz="1800" dirty="0"/>
          </a:p>
        </p:txBody>
      </p:sp>
      <p:sp>
        <p:nvSpPr>
          <p:cNvPr id="8" name="Shape 5"/>
          <p:cNvSpPr/>
          <p:nvPr/>
        </p:nvSpPr>
        <p:spPr>
          <a:xfrm>
            <a:off x="6245352" y="1600200"/>
            <a:ext cx="5394960" cy="1508760"/>
          </a:xfrm>
          <a:prstGeom prst="roundRect">
            <a:avLst>
              <a:gd name="adj" fmla="val 4848"/>
            </a:avLst>
          </a:prstGeom>
          <a:solidFill>
            <a:srgbClr val="14202B"/>
          </a:solidFill>
          <a:ln w="12700">
            <a:solidFill>
              <a:srgbClr val="14202B"/>
            </a:solidFill>
            <a:prstDash val="solid"/>
          </a:ln>
        </p:spPr>
      </p:sp>
      <p:sp>
        <p:nvSpPr>
          <p:cNvPr id="9" name="Shape 6"/>
          <p:cNvSpPr/>
          <p:nvPr/>
        </p:nvSpPr>
        <p:spPr>
          <a:xfrm>
            <a:off x="6519672" y="1874520"/>
            <a:ext cx="594360" cy="594360"/>
          </a:xfrm>
          <a:prstGeom prst="ellipse">
            <a:avLst/>
          </a:prstGeom>
          <a:solidFill>
            <a:srgbClr val="D9480F"/>
          </a:solidFill>
          <a:ln w="12700">
            <a:solidFill>
              <a:srgbClr val="D9480F"/>
            </a:solidFill>
            <a:prstDash val="solid"/>
          </a:ln>
        </p:spPr>
      </p:sp>
      <p:pic>
        <p:nvPicPr>
          <p:cNvPr id="10" name="Image 1" descr="preencoded.png">    </p:cNvPr>
          <p:cNvPicPr>
            <a:picLocks noChangeAspect="1"/>
          </p:cNvPicPr>
          <p:nvPr/>
        </p:nvPicPr>
        <p:blipFill>
          <a:blip r:embed="rId2"/>
          <a:stretch>
            <a:fillRect/>
          </a:stretch>
        </p:blipFill>
        <p:spPr>
          <a:xfrm>
            <a:off x="6662318" y="2017166"/>
            <a:ext cx="309067" cy="309067"/>
          </a:xfrm>
          <a:prstGeom prst="rect">
            <a:avLst/>
          </a:prstGeom>
        </p:spPr>
      </p:pic>
      <p:sp>
        <p:nvSpPr>
          <p:cNvPr id="11" name="Text 7"/>
          <p:cNvSpPr/>
          <p:nvPr/>
        </p:nvSpPr>
        <p:spPr>
          <a:xfrm>
            <a:off x="7342632" y="1737360"/>
            <a:ext cx="4069080" cy="1234440"/>
          </a:xfrm>
          <a:prstGeom prst="rect">
            <a:avLst/>
          </a:prstGeom>
          <a:noFill/>
          <a:ln/>
        </p:spPr>
        <p:txBody>
          <a:bodyPr wrap="square" lIns="0" tIns="0" rIns="0" bIns="0" rtlCol="0" anchor="ctr"/>
          <a:lstStyle/>
          <a:p>
            <a:pPr indent="0" marL="0">
              <a:spcAft>
                <a:spcPts val="400"/>
              </a:spcAft>
              <a:buNone/>
            </a:pPr>
            <a:r>
              <a:rPr lang="en-US" sz="1800" b="1" dirty="0">
                <a:solidFill>
                  <a:srgbClr val="FFFFFF"/>
                </a:solidFill>
                <a:latin typeface="Calibri" pitchFamily="34" charset="0"/>
                <a:ea typeface="Calibri" pitchFamily="34" charset="-122"/>
                <a:cs typeface="Calibri" pitchFamily="34" charset="-120"/>
              </a:rPr>
              <a:t>Pack engineers</a:t>
            </a:r>
            <a:endParaRPr lang="en-US" sz="1800" dirty="0"/>
          </a:p>
          <a:p>
            <a:pPr indent="0" marL="0">
              <a:spcAft>
                <a:spcPts val="400"/>
              </a:spcAft>
              <a:buNone/>
            </a:pPr>
            <a:r>
              <a:rPr lang="en-US" sz="1400" dirty="0">
                <a:solidFill>
                  <a:srgbClr val="B9C4CC"/>
                </a:solidFill>
                <a:latin typeface="Calibri" pitchFamily="34" charset="0"/>
                <a:ea typeface="Calibri" pitchFamily="34" charset="-122"/>
                <a:cs typeface="Calibri" pitchFamily="34" charset="-120"/>
              </a:rPr>
              <a:t>Screen design options before hardware: same requirements, same scenarios, ranked with evidence levels and risks stated.</a:t>
            </a:r>
            <a:endParaRPr lang="en-US" sz="1800" dirty="0"/>
          </a:p>
        </p:txBody>
      </p:sp>
      <p:sp>
        <p:nvSpPr>
          <p:cNvPr id="12" name="Text 8"/>
          <p:cNvSpPr/>
          <p:nvPr/>
        </p:nvSpPr>
        <p:spPr>
          <a:xfrm>
            <a:off x="548640" y="3429000"/>
            <a:ext cx="5486400" cy="274320"/>
          </a:xfrm>
          <a:prstGeom prst="rect">
            <a:avLst/>
          </a:prstGeom>
          <a:noFill/>
          <a:ln/>
        </p:spPr>
        <p:txBody>
          <a:bodyPr wrap="square" lIns="0" tIns="0" rIns="0" bIns="0" rtlCol="0" anchor="ctr"/>
          <a:lstStyle/>
          <a:p>
            <a:pPr indent="0" marL="0">
              <a:buNone/>
            </a:pPr>
            <a:r>
              <a:rPr lang="en-US" sz="1200" b="1" spc="200" kern="0" dirty="0">
                <a:solidFill>
                  <a:srgbClr val="66717C"/>
                </a:solidFill>
                <a:latin typeface="Calibri" pitchFamily="34" charset="0"/>
                <a:ea typeface="Calibri" pitchFamily="34" charset="-122"/>
                <a:cs typeface="Calibri" pitchFamily="34" charset="-120"/>
              </a:rPr>
              <a:t>PAIN POINTS WE REMOVE</a:t>
            </a:r>
            <a:endParaRPr lang="en-US" sz="1200" dirty="0"/>
          </a:p>
        </p:txBody>
      </p:sp>
      <p:sp>
        <p:nvSpPr>
          <p:cNvPr id="13" name="Shape 9"/>
          <p:cNvSpPr/>
          <p:nvPr/>
        </p:nvSpPr>
        <p:spPr>
          <a:xfrm>
            <a:off x="548640" y="3840480"/>
            <a:ext cx="3566160" cy="2057400"/>
          </a:xfrm>
          <a:prstGeom prst="roundRect">
            <a:avLst>
              <a:gd name="adj" fmla="val 3556"/>
            </a:avLst>
          </a:prstGeom>
          <a:solidFill>
            <a:srgbClr val="F2F4F7"/>
          </a:solidFill>
          <a:ln w="12700">
            <a:solidFill>
              <a:srgbClr val="F2F4F7"/>
            </a:solidFill>
            <a:prstDash val="solid"/>
          </a:ln>
        </p:spPr>
      </p:sp>
      <p:sp>
        <p:nvSpPr>
          <p:cNvPr id="14" name="Shape 10"/>
          <p:cNvSpPr/>
          <p:nvPr/>
        </p:nvSpPr>
        <p:spPr>
          <a:xfrm>
            <a:off x="822960" y="4069080"/>
            <a:ext cx="502920" cy="502920"/>
          </a:xfrm>
          <a:prstGeom prst="ellipse">
            <a:avLst/>
          </a:prstGeom>
          <a:solidFill>
            <a:srgbClr val="2B6CB0"/>
          </a:solidFill>
          <a:ln w="12700">
            <a:solidFill>
              <a:srgbClr val="2B6CB0"/>
            </a:solidFill>
            <a:prstDash val="solid"/>
          </a:ln>
        </p:spPr>
      </p:sp>
      <p:pic>
        <p:nvPicPr>
          <p:cNvPr id="15" name="Image 2" descr="preencoded.png">    </p:cNvPr>
          <p:cNvPicPr>
            <a:picLocks noChangeAspect="1"/>
          </p:cNvPicPr>
          <p:nvPr/>
        </p:nvPicPr>
        <p:blipFill>
          <a:blip r:embed="rId3"/>
          <a:stretch>
            <a:fillRect/>
          </a:stretch>
        </p:blipFill>
        <p:spPr>
          <a:xfrm>
            <a:off x="943661" y="4189781"/>
            <a:ext cx="261518" cy="261518"/>
          </a:xfrm>
          <a:prstGeom prst="rect">
            <a:avLst/>
          </a:prstGeom>
        </p:spPr>
      </p:pic>
      <p:sp>
        <p:nvSpPr>
          <p:cNvPr id="16" name="Text 11"/>
          <p:cNvSpPr/>
          <p:nvPr/>
        </p:nvSpPr>
        <p:spPr>
          <a:xfrm>
            <a:off x="822960" y="4663440"/>
            <a:ext cx="3017520" cy="1143000"/>
          </a:xfrm>
          <a:prstGeom prst="rect">
            <a:avLst/>
          </a:prstGeom>
          <a:noFill/>
          <a:ln/>
        </p:spPr>
        <p:txBody>
          <a:bodyPr wrap="square" lIns="0" tIns="0" rIns="0" bIns="0" rtlCol="0" anchor="t"/>
          <a:lstStyle/>
          <a:p>
            <a:pPr indent="0" marL="0">
              <a:spcAft>
                <a:spcPts val="300"/>
              </a:spcAft>
              <a:buNone/>
            </a:pPr>
            <a:r>
              <a:rPr lang="en-US" sz="1600" b="1" dirty="0">
                <a:solidFill>
                  <a:srgbClr val="14202B"/>
                </a:solidFill>
                <a:latin typeface="Calibri" pitchFamily="34" charset="0"/>
                <a:ea typeface="Calibri" pitchFamily="34" charset="-122"/>
                <a:cs typeface="Calibri" pitchFamily="34" charset="-120"/>
              </a:rPr>
              <a:t>Siloed data</a:t>
            </a:r>
            <a:endParaRPr lang="en-US" sz="1600" dirty="0"/>
          </a:p>
          <a:p>
            <a:pPr indent="0" marL="0">
              <a:spcAft>
                <a:spcPts val="300"/>
              </a:spcAft>
              <a:buNone/>
            </a:pPr>
            <a:r>
              <a:rPr lang="en-US" sz="1300" dirty="0">
                <a:solidFill>
                  <a:srgbClr val="46525E"/>
                </a:solidFill>
                <a:latin typeface="Calibri" pitchFamily="34" charset="0"/>
                <a:ea typeface="Calibri" pitchFamily="34" charset="-122"/>
                <a:cs typeface="Calibri" pitchFamily="34" charset="-120"/>
              </a:rPr>
              <a:t>Electrical, thermal and BMS models with copied parameters. Here they share one design file.</a:t>
            </a:r>
            <a:endParaRPr lang="en-US" sz="1600" dirty="0"/>
          </a:p>
        </p:txBody>
      </p:sp>
      <p:sp>
        <p:nvSpPr>
          <p:cNvPr id="17" name="Shape 12"/>
          <p:cNvSpPr/>
          <p:nvPr/>
        </p:nvSpPr>
        <p:spPr>
          <a:xfrm>
            <a:off x="4311396" y="3840480"/>
            <a:ext cx="3566160" cy="2057400"/>
          </a:xfrm>
          <a:prstGeom prst="roundRect">
            <a:avLst>
              <a:gd name="adj" fmla="val 3556"/>
            </a:avLst>
          </a:prstGeom>
          <a:solidFill>
            <a:srgbClr val="F2F4F7"/>
          </a:solidFill>
          <a:ln w="12700">
            <a:solidFill>
              <a:srgbClr val="F2F4F7"/>
            </a:solidFill>
            <a:prstDash val="solid"/>
          </a:ln>
        </p:spPr>
      </p:sp>
      <p:sp>
        <p:nvSpPr>
          <p:cNvPr id="18" name="Shape 13"/>
          <p:cNvSpPr/>
          <p:nvPr/>
        </p:nvSpPr>
        <p:spPr>
          <a:xfrm>
            <a:off x="4585716" y="4069080"/>
            <a:ext cx="502920" cy="502920"/>
          </a:xfrm>
          <a:prstGeom prst="ellipse">
            <a:avLst/>
          </a:prstGeom>
          <a:solidFill>
            <a:srgbClr val="2B6CB0"/>
          </a:solidFill>
          <a:ln w="12700">
            <a:solidFill>
              <a:srgbClr val="2B6CB0"/>
            </a:solidFill>
            <a:prstDash val="solid"/>
          </a:ln>
        </p:spPr>
      </p:sp>
      <p:pic>
        <p:nvPicPr>
          <p:cNvPr id="19" name="Image 3" descr="preencoded.png">    </p:cNvPr>
          <p:cNvPicPr>
            <a:picLocks noChangeAspect="1"/>
          </p:cNvPicPr>
          <p:nvPr/>
        </p:nvPicPr>
        <p:blipFill>
          <a:blip r:embed="rId4"/>
          <a:stretch>
            <a:fillRect/>
          </a:stretch>
        </p:blipFill>
        <p:spPr>
          <a:xfrm>
            <a:off x="4706417" y="4189781"/>
            <a:ext cx="261518" cy="261518"/>
          </a:xfrm>
          <a:prstGeom prst="rect">
            <a:avLst/>
          </a:prstGeom>
        </p:spPr>
      </p:pic>
      <p:sp>
        <p:nvSpPr>
          <p:cNvPr id="20" name="Text 14"/>
          <p:cNvSpPr/>
          <p:nvPr/>
        </p:nvSpPr>
        <p:spPr>
          <a:xfrm>
            <a:off x="4585716" y="4663440"/>
            <a:ext cx="3017520" cy="1143000"/>
          </a:xfrm>
          <a:prstGeom prst="rect">
            <a:avLst/>
          </a:prstGeom>
          <a:noFill/>
          <a:ln/>
        </p:spPr>
        <p:txBody>
          <a:bodyPr wrap="square" lIns="0" tIns="0" rIns="0" bIns="0" rtlCol="0" anchor="t"/>
          <a:lstStyle/>
          <a:p>
            <a:pPr indent="0" marL="0">
              <a:spcAft>
                <a:spcPts val="300"/>
              </a:spcAft>
              <a:buNone/>
            </a:pPr>
            <a:r>
              <a:rPr lang="en-US" sz="1600" b="1" dirty="0">
                <a:solidFill>
                  <a:srgbClr val="14202B"/>
                </a:solidFill>
                <a:latin typeface="Calibri" pitchFamily="34" charset="0"/>
                <a:ea typeface="Calibri" pitchFamily="34" charset="-122"/>
                <a:cs typeface="Calibri" pitchFamily="34" charset="-120"/>
              </a:rPr>
              <a:t>Late conflicts</a:t>
            </a:r>
            <a:endParaRPr lang="en-US" sz="1600" dirty="0"/>
          </a:p>
          <a:p>
            <a:pPr indent="0" marL="0">
              <a:spcAft>
                <a:spcPts val="300"/>
              </a:spcAft>
              <a:buNone/>
            </a:pPr>
            <a:r>
              <a:rPr lang="en-US" sz="1300" dirty="0">
                <a:solidFill>
                  <a:srgbClr val="46525E"/>
                </a:solidFill>
                <a:latin typeface="Calibri" pitchFamily="34" charset="0"/>
                <a:ea typeface="Calibri" pitchFamily="34" charset="-122"/>
                <a:cs typeface="Calibri" pitchFamily="34" charset="-120"/>
              </a:rPr>
              <a:t>A blind spot like the baseline’s shows up on the first hot prototype. Here it shows up on paper.</a:t>
            </a:r>
            <a:endParaRPr lang="en-US" sz="1600" dirty="0"/>
          </a:p>
        </p:txBody>
      </p:sp>
      <p:sp>
        <p:nvSpPr>
          <p:cNvPr id="21" name="Shape 15"/>
          <p:cNvSpPr/>
          <p:nvPr/>
        </p:nvSpPr>
        <p:spPr>
          <a:xfrm>
            <a:off x="8074152" y="3840480"/>
            <a:ext cx="3566160" cy="2057400"/>
          </a:xfrm>
          <a:prstGeom prst="roundRect">
            <a:avLst>
              <a:gd name="adj" fmla="val 3556"/>
            </a:avLst>
          </a:prstGeom>
          <a:solidFill>
            <a:srgbClr val="F2F4F7"/>
          </a:solidFill>
          <a:ln w="12700">
            <a:solidFill>
              <a:srgbClr val="F2F4F7"/>
            </a:solidFill>
            <a:prstDash val="solid"/>
          </a:ln>
        </p:spPr>
      </p:sp>
      <p:sp>
        <p:nvSpPr>
          <p:cNvPr id="22" name="Shape 16"/>
          <p:cNvSpPr/>
          <p:nvPr/>
        </p:nvSpPr>
        <p:spPr>
          <a:xfrm>
            <a:off x="8348472" y="4069080"/>
            <a:ext cx="502920" cy="502920"/>
          </a:xfrm>
          <a:prstGeom prst="ellipse">
            <a:avLst/>
          </a:prstGeom>
          <a:solidFill>
            <a:srgbClr val="2B6CB0"/>
          </a:solidFill>
          <a:ln w="12700">
            <a:solidFill>
              <a:srgbClr val="2B6CB0"/>
            </a:solidFill>
            <a:prstDash val="solid"/>
          </a:ln>
        </p:spPr>
      </p:sp>
      <p:pic>
        <p:nvPicPr>
          <p:cNvPr id="23" name="Image 4" descr="preencoded.png">    </p:cNvPr>
          <p:cNvPicPr>
            <a:picLocks noChangeAspect="1"/>
          </p:cNvPicPr>
          <p:nvPr/>
        </p:nvPicPr>
        <p:blipFill>
          <a:blip r:embed="rId5"/>
          <a:stretch>
            <a:fillRect/>
          </a:stretch>
        </p:blipFill>
        <p:spPr>
          <a:xfrm>
            <a:off x="8469173" y="4189781"/>
            <a:ext cx="261518" cy="261518"/>
          </a:xfrm>
          <a:prstGeom prst="rect">
            <a:avLst/>
          </a:prstGeom>
        </p:spPr>
      </p:pic>
      <p:sp>
        <p:nvSpPr>
          <p:cNvPr id="24" name="Text 17"/>
          <p:cNvSpPr/>
          <p:nvPr/>
        </p:nvSpPr>
        <p:spPr>
          <a:xfrm>
            <a:off x="8348472" y="4663440"/>
            <a:ext cx="3017520" cy="1143000"/>
          </a:xfrm>
          <a:prstGeom prst="rect">
            <a:avLst/>
          </a:prstGeom>
          <a:noFill/>
          <a:ln/>
        </p:spPr>
        <p:txBody>
          <a:bodyPr wrap="square" lIns="0" tIns="0" rIns="0" bIns="0" rtlCol="0" anchor="t"/>
          <a:lstStyle/>
          <a:p>
            <a:pPr indent="0" marL="0">
              <a:spcAft>
                <a:spcPts val="300"/>
              </a:spcAft>
              <a:buNone/>
            </a:pPr>
            <a:r>
              <a:rPr lang="en-US" sz="1600" b="1" dirty="0">
                <a:solidFill>
                  <a:srgbClr val="14202B"/>
                </a:solidFill>
                <a:latin typeface="Calibri" pitchFamily="34" charset="0"/>
                <a:ea typeface="Calibri" pitchFamily="34" charset="-122"/>
                <a:cs typeface="Calibri" pitchFamily="34" charset="-120"/>
              </a:rPr>
              <a:t>Hot-climate safety</a:t>
            </a:r>
            <a:endParaRPr lang="en-US" sz="1600" dirty="0"/>
          </a:p>
          <a:p>
            <a:pPr indent="0" marL="0">
              <a:spcAft>
                <a:spcPts val="300"/>
              </a:spcAft>
              <a:buNone/>
            </a:pPr>
            <a:r>
              <a:rPr lang="en-US" sz="1300" dirty="0">
                <a:solidFill>
                  <a:srgbClr val="46525E"/>
                </a:solidFill>
                <a:latin typeface="Calibri" pitchFamily="34" charset="0"/>
                <a:ea typeface="Calibri" pitchFamily="34" charset="-122"/>
                <a:cs typeface="Calibri" pitchFamily="34" charset="-120"/>
              </a:rPr>
              <a:t>E-2W packs in India charge in 40 °C heat, often right after a ride — the case we design for.</a:t>
            </a:r>
            <a:endParaRPr lang="en-US" sz="1600" dirty="0"/>
          </a:p>
        </p:txBody>
      </p:sp>
      <p:sp>
        <p:nvSpPr>
          <p:cNvPr id="25" name="Text 18"/>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PackForge · users and pain points</a:t>
            </a:r>
            <a:endParaRPr lang="en-US" sz="1000" dirty="0"/>
          </a:p>
        </p:txBody>
      </p:sp>
      <p:sp>
        <p:nvSpPr>
          <p:cNvPr id="26" name="Text 19"/>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THE PLATFORM · REUSABLE FOR ANY CELL AND LAYOUT</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One design file feeds every model</a:t>
            </a:r>
            <a:endParaRPr lang="en-US" sz="3400" dirty="0"/>
          </a:p>
        </p:txBody>
      </p:sp>
      <p:sp>
        <p:nvSpPr>
          <p:cNvPr id="4" name="Shape 2"/>
          <p:cNvSpPr/>
          <p:nvPr/>
        </p:nvSpPr>
        <p:spPr>
          <a:xfrm>
            <a:off x="548640" y="1691640"/>
            <a:ext cx="1938528" cy="2651760"/>
          </a:xfrm>
          <a:prstGeom prst="roundRect">
            <a:avLst>
              <a:gd name="adj" fmla="val 3774"/>
            </a:avLst>
          </a:prstGeom>
          <a:solidFill>
            <a:srgbClr val="F2F4F7"/>
          </a:solidFill>
          <a:ln w="12700">
            <a:solidFill>
              <a:srgbClr val="F2F4F7"/>
            </a:solidFill>
            <a:prstDash val="solid"/>
          </a:ln>
        </p:spPr>
      </p:sp>
      <p:sp>
        <p:nvSpPr>
          <p:cNvPr id="5" name="Shape 3"/>
          <p:cNvSpPr/>
          <p:nvPr/>
        </p:nvSpPr>
        <p:spPr>
          <a:xfrm>
            <a:off x="777240" y="1920240"/>
            <a:ext cx="502920" cy="502920"/>
          </a:xfrm>
          <a:prstGeom prst="ellipse">
            <a:avLst/>
          </a:prstGeom>
          <a:solidFill>
            <a:srgbClr val="D9480F"/>
          </a:solidFill>
          <a:ln w="12700">
            <a:solidFill>
              <a:srgbClr val="D9480F"/>
            </a:solidFill>
            <a:prstDash val="solid"/>
          </a:ln>
        </p:spPr>
      </p:sp>
      <p:sp>
        <p:nvSpPr>
          <p:cNvPr id="6" name="Text 4"/>
          <p:cNvSpPr/>
          <p:nvPr/>
        </p:nvSpPr>
        <p:spPr>
          <a:xfrm>
            <a:off x="77724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777240" y="2606040"/>
            <a:ext cx="1554480" cy="1645920"/>
          </a:xfrm>
          <a:prstGeom prst="rect">
            <a:avLst/>
          </a:prstGeom>
          <a:noFill/>
          <a:ln/>
        </p:spPr>
        <p:txBody>
          <a:bodyPr wrap="square" lIns="0" tIns="0" rIns="0" bIns="0" rtlCol="0" anchor="t"/>
          <a:lstStyle/>
          <a:p>
            <a:pPr indent="0" marL="0">
              <a:spcAft>
                <a:spcPts val="400"/>
              </a:spcAft>
              <a:buNone/>
            </a:pPr>
            <a:r>
              <a:rPr lang="en-US" sz="1500" b="1" dirty="0">
                <a:solidFill>
                  <a:srgbClr val="14202B"/>
                </a:solidFill>
                <a:latin typeface="Calibri" pitchFamily="34" charset="0"/>
                <a:ea typeface="Calibri" pitchFamily="34" charset="-122"/>
                <a:cs typeface="Calibri" pitchFamily="34" charset="-120"/>
              </a:rPr>
              <a:t>Design (JSON)</a:t>
            </a:r>
            <a:endParaRPr lang="en-US" sz="1500" dirty="0"/>
          </a:p>
          <a:p>
            <a:pPr indent="0" marL="0">
              <a:spcAft>
                <a:spcPts val="400"/>
              </a:spcAft>
              <a:buNone/>
            </a:pPr>
            <a:r>
              <a:rPr lang="en-US" sz="1200" dirty="0">
                <a:solidFill>
                  <a:srgbClr val="46525E"/>
                </a:solidFill>
                <a:latin typeface="Calibri" pitchFamily="34" charset="0"/>
                <a:ea typeface="Calibri" pitchFamily="34" charset="-122"/>
                <a:cs typeface="Calibri" pitchFamily="34" charset="-120"/>
              </a:rPr>
              <a:t>Cell, S×P layout, cooling, sensing, protection, control. Options hold only their diffs.</a:t>
            </a:r>
            <a:endParaRPr lang="en-US" sz="1500" dirty="0"/>
          </a:p>
        </p:txBody>
      </p:sp>
      <p:sp>
        <p:nvSpPr>
          <p:cNvPr id="8" name="Shape 6"/>
          <p:cNvSpPr/>
          <p:nvPr/>
        </p:nvSpPr>
        <p:spPr>
          <a:xfrm>
            <a:off x="2532888" y="2880360"/>
            <a:ext cx="256032" cy="274320"/>
          </a:xfrm>
          <a:prstGeom prst="rightArrow">
            <a:avLst/>
          </a:prstGeom>
          <a:solidFill>
            <a:srgbClr val="D9DEE3"/>
          </a:solidFill>
          <a:ln w="12700">
            <a:solidFill>
              <a:srgbClr val="D9DEE3"/>
            </a:solidFill>
            <a:prstDash val="solid"/>
          </a:ln>
        </p:spPr>
      </p:sp>
      <p:sp>
        <p:nvSpPr>
          <p:cNvPr id="9" name="Shape 7"/>
          <p:cNvSpPr/>
          <p:nvPr/>
        </p:nvSpPr>
        <p:spPr>
          <a:xfrm>
            <a:off x="2834640" y="1691640"/>
            <a:ext cx="1938528" cy="2651760"/>
          </a:xfrm>
          <a:prstGeom prst="roundRect">
            <a:avLst>
              <a:gd name="adj" fmla="val 3774"/>
            </a:avLst>
          </a:prstGeom>
          <a:solidFill>
            <a:srgbClr val="F2F4F7"/>
          </a:solidFill>
          <a:ln w="12700">
            <a:solidFill>
              <a:srgbClr val="F2F4F7"/>
            </a:solidFill>
            <a:prstDash val="solid"/>
          </a:ln>
        </p:spPr>
      </p:sp>
      <p:sp>
        <p:nvSpPr>
          <p:cNvPr id="10" name="Shape 8"/>
          <p:cNvSpPr/>
          <p:nvPr/>
        </p:nvSpPr>
        <p:spPr>
          <a:xfrm>
            <a:off x="3063240" y="1920240"/>
            <a:ext cx="502920" cy="502920"/>
          </a:xfrm>
          <a:prstGeom prst="ellipse">
            <a:avLst/>
          </a:prstGeom>
          <a:solidFill>
            <a:srgbClr val="D9480F"/>
          </a:solidFill>
          <a:ln w="12700">
            <a:solidFill>
              <a:srgbClr val="D9480F"/>
            </a:solidFill>
            <a:prstDash val="solid"/>
          </a:ln>
        </p:spPr>
      </p:sp>
      <p:sp>
        <p:nvSpPr>
          <p:cNvPr id="11" name="Text 9"/>
          <p:cNvSpPr/>
          <p:nvPr/>
        </p:nvSpPr>
        <p:spPr>
          <a:xfrm>
            <a:off x="306324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3063240" y="2606040"/>
            <a:ext cx="1554480" cy="1645920"/>
          </a:xfrm>
          <a:prstGeom prst="rect">
            <a:avLst/>
          </a:prstGeom>
          <a:noFill/>
          <a:ln/>
        </p:spPr>
        <p:txBody>
          <a:bodyPr wrap="square" lIns="0" tIns="0" rIns="0" bIns="0" rtlCol="0" anchor="t"/>
          <a:lstStyle/>
          <a:p>
            <a:pPr indent="0" marL="0">
              <a:spcAft>
                <a:spcPts val="400"/>
              </a:spcAft>
              <a:buNone/>
            </a:pPr>
            <a:r>
              <a:rPr lang="en-US" sz="1500" b="1" dirty="0">
                <a:solidFill>
                  <a:srgbClr val="14202B"/>
                </a:solidFill>
                <a:latin typeface="Calibri" pitchFamily="34" charset="0"/>
                <a:ea typeface="Calibri" pitchFamily="34" charset="-122"/>
                <a:cs typeface="Calibri" pitchFamily="34" charset="-120"/>
              </a:rPr>
              <a:t>Electro-thermal sim + BMS</a:t>
            </a:r>
            <a:endParaRPr lang="en-US" sz="1500" dirty="0"/>
          </a:p>
          <a:p>
            <a:pPr indent="0" marL="0">
              <a:spcAft>
                <a:spcPts val="400"/>
              </a:spcAft>
              <a:buNone/>
            </a:pPr>
            <a:r>
              <a:rPr lang="en-US" sz="1200" dirty="0">
                <a:solidFill>
                  <a:srgbClr val="46525E"/>
                </a:solidFill>
                <a:latin typeface="Calibri" pitchFamily="34" charset="0"/>
                <a:ea typeface="Calibri" pitchFamily="34" charset="-122"/>
                <a:cs typeface="Calibri" pitchFamily="34" charset="-120"/>
              </a:rPr>
              <a:t>1-RC model and one thermal node per cell; CC-CV, derating, OV/UV/OT protection.</a:t>
            </a:r>
            <a:endParaRPr lang="en-US" sz="1500" dirty="0"/>
          </a:p>
        </p:txBody>
      </p:sp>
      <p:sp>
        <p:nvSpPr>
          <p:cNvPr id="13" name="Shape 11"/>
          <p:cNvSpPr/>
          <p:nvPr/>
        </p:nvSpPr>
        <p:spPr>
          <a:xfrm>
            <a:off x="4818888" y="2880360"/>
            <a:ext cx="256032" cy="274320"/>
          </a:xfrm>
          <a:prstGeom prst="rightArrow">
            <a:avLst/>
          </a:prstGeom>
          <a:solidFill>
            <a:srgbClr val="D9DEE3"/>
          </a:solidFill>
          <a:ln w="12700">
            <a:solidFill>
              <a:srgbClr val="D9DEE3"/>
            </a:solidFill>
            <a:prstDash val="solid"/>
          </a:ln>
        </p:spPr>
      </p:sp>
      <p:sp>
        <p:nvSpPr>
          <p:cNvPr id="14" name="Shape 12"/>
          <p:cNvSpPr/>
          <p:nvPr/>
        </p:nvSpPr>
        <p:spPr>
          <a:xfrm>
            <a:off x="5120640" y="1691640"/>
            <a:ext cx="1938528" cy="2651760"/>
          </a:xfrm>
          <a:prstGeom prst="roundRect">
            <a:avLst>
              <a:gd name="adj" fmla="val 3774"/>
            </a:avLst>
          </a:prstGeom>
          <a:solidFill>
            <a:srgbClr val="F2F4F7"/>
          </a:solidFill>
          <a:ln w="12700">
            <a:solidFill>
              <a:srgbClr val="F2F4F7"/>
            </a:solidFill>
            <a:prstDash val="solid"/>
          </a:ln>
        </p:spPr>
      </p:sp>
      <p:sp>
        <p:nvSpPr>
          <p:cNvPr id="15" name="Shape 13"/>
          <p:cNvSpPr/>
          <p:nvPr/>
        </p:nvSpPr>
        <p:spPr>
          <a:xfrm>
            <a:off x="5349240" y="1920240"/>
            <a:ext cx="502920" cy="502920"/>
          </a:xfrm>
          <a:prstGeom prst="ellipse">
            <a:avLst/>
          </a:prstGeom>
          <a:solidFill>
            <a:srgbClr val="D9480F"/>
          </a:solidFill>
          <a:ln w="12700">
            <a:solidFill>
              <a:srgbClr val="D9480F"/>
            </a:solidFill>
            <a:prstDash val="solid"/>
          </a:ln>
        </p:spPr>
      </p:sp>
      <p:sp>
        <p:nvSpPr>
          <p:cNvPr id="16" name="Text 14"/>
          <p:cNvSpPr/>
          <p:nvPr/>
        </p:nvSpPr>
        <p:spPr>
          <a:xfrm>
            <a:off x="534924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5349240" y="2606040"/>
            <a:ext cx="1554480" cy="1645920"/>
          </a:xfrm>
          <a:prstGeom prst="rect">
            <a:avLst/>
          </a:prstGeom>
          <a:noFill/>
          <a:ln/>
        </p:spPr>
        <p:txBody>
          <a:bodyPr wrap="square" lIns="0" tIns="0" rIns="0" bIns="0" rtlCol="0" anchor="t"/>
          <a:lstStyle/>
          <a:p>
            <a:pPr indent="0" marL="0">
              <a:spcAft>
                <a:spcPts val="400"/>
              </a:spcAft>
              <a:buNone/>
            </a:pPr>
            <a:r>
              <a:rPr lang="en-US" sz="1500" b="1" dirty="0">
                <a:solidFill>
                  <a:srgbClr val="14202B"/>
                </a:solidFill>
                <a:latin typeface="Calibri" pitchFamily="34" charset="0"/>
                <a:ea typeface="Calibri" pitchFamily="34" charset="-122"/>
                <a:cs typeface="Calibri" pitchFamily="34" charset="-120"/>
              </a:rPr>
              <a:t>KPIs with evidence</a:t>
            </a:r>
            <a:endParaRPr lang="en-US" sz="1500" dirty="0"/>
          </a:p>
          <a:p>
            <a:pPr indent="0" marL="0">
              <a:spcAft>
                <a:spcPts val="400"/>
              </a:spcAft>
              <a:buNone/>
            </a:pPr>
            <a:r>
              <a:rPr lang="en-US" sz="1200" dirty="0">
                <a:solidFill>
                  <a:srgbClr val="46525E"/>
                </a:solidFill>
                <a:latin typeface="Calibri" pitchFamily="34" charset="0"/>
                <a:ea typeface="Calibri" pitchFamily="34" charset="-122"/>
                <a:cs typeface="Calibri" pitchFamily="34" charset="-120"/>
              </a:rPr>
              <a:t>Every number tagged from datasheet up to measured.</a:t>
            </a:r>
            <a:endParaRPr lang="en-US" sz="1500" dirty="0"/>
          </a:p>
        </p:txBody>
      </p:sp>
      <p:sp>
        <p:nvSpPr>
          <p:cNvPr id="18" name="Shape 16"/>
          <p:cNvSpPr/>
          <p:nvPr/>
        </p:nvSpPr>
        <p:spPr>
          <a:xfrm>
            <a:off x="7104888" y="2880360"/>
            <a:ext cx="256032" cy="274320"/>
          </a:xfrm>
          <a:prstGeom prst="rightArrow">
            <a:avLst/>
          </a:prstGeom>
          <a:solidFill>
            <a:srgbClr val="D9DEE3"/>
          </a:solidFill>
          <a:ln w="12700">
            <a:solidFill>
              <a:srgbClr val="D9DEE3"/>
            </a:solidFill>
            <a:prstDash val="solid"/>
          </a:ln>
        </p:spPr>
      </p:sp>
      <p:sp>
        <p:nvSpPr>
          <p:cNvPr id="19" name="Shape 17"/>
          <p:cNvSpPr/>
          <p:nvPr/>
        </p:nvSpPr>
        <p:spPr>
          <a:xfrm>
            <a:off x="7406640" y="1691640"/>
            <a:ext cx="1938528" cy="2651760"/>
          </a:xfrm>
          <a:prstGeom prst="roundRect">
            <a:avLst>
              <a:gd name="adj" fmla="val 3774"/>
            </a:avLst>
          </a:prstGeom>
          <a:solidFill>
            <a:srgbClr val="F2F4F7"/>
          </a:solidFill>
          <a:ln w="12700">
            <a:solidFill>
              <a:srgbClr val="F2F4F7"/>
            </a:solidFill>
            <a:prstDash val="solid"/>
          </a:ln>
        </p:spPr>
      </p:sp>
      <p:sp>
        <p:nvSpPr>
          <p:cNvPr id="20" name="Shape 18"/>
          <p:cNvSpPr/>
          <p:nvPr/>
        </p:nvSpPr>
        <p:spPr>
          <a:xfrm>
            <a:off x="7635240" y="1920240"/>
            <a:ext cx="502920" cy="502920"/>
          </a:xfrm>
          <a:prstGeom prst="ellipse">
            <a:avLst/>
          </a:prstGeom>
          <a:solidFill>
            <a:srgbClr val="D9480F"/>
          </a:solidFill>
          <a:ln w="12700">
            <a:solidFill>
              <a:srgbClr val="D9480F"/>
            </a:solidFill>
            <a:prstDash val="solid"/>
          </a:ln>
        </p:spPr>
      </p:sp>
      <p:sp>
        <p:nvSpPr>
          <p:cNvPr id="21" name="Text 19"/>
          <p:cNvSpPr/>
          <p:nvPr/>
        </p:nvSpPr>
        <p:spPr>
          <a:xfrm>
            <a:off x="763524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635240" y="2606040"/>
            <a:ext cx="1554480" cy="1645920"/>
          </a:xfrm>
          <a:prstGeom prst="rect">
            <a:avLst/>
          </a:prstGeom>
          <a:noFill/>
          <a:ln/>
        </p:spPr>
        <p:txBody>
          <a:bodyPr wrap="square" lIns="0" tIns="0" rIns="0" bIns="0" rtlCol="0" anchor="t"/>
          <a:lstStyle/>
          <a:p>
            <a:pPr indent="0" marL="0">
              <a:spcAft>
                <a:spcPts val="400"/>
              </a:spcAft>
              <a:buNone/>
            </a:pPr>
            <a:r>
              <a:rPr lang="en-US" sz="1500" b="1" dirty="0">
                <a:solidFill>
                  <a:srgbClr val="14202B"/>
                </a:solidFill>
                <a:latin typeface="Calibri" pitchFamily="34" charset="0"/>
                <a:ea typeface="Calibri" pitchFamily="34" charset="-122"/>
                <a:cs typeface="Calibri" pitchFamily="34" charset="-120"/>
              </a:rPr>
              <a:t>Conflict checker</a:t>
            </a:r>
            <a:endParaRPr lang="en-US" sz="1500" dirty="0"/>
          </a:p>
          <a:p>
            <a:pPr indent="0" marL="0">
              <a:spcAft>
                <a:spcPts val="400"/>
              </a:spcAft>
              <a:buNone/>
            </a:pPr>
            <a:r>
              <a:rPr lang="en-US" sz="1200" dirty="0">
                <a:solidFill>
                  <a:srgbClr val="46525E"/>
                </a:solidFill>
                <a:latin typeface="Calibri" pitchFamily="34" charset="0"/>
                <a:ea typeface="Calibri" pitchFamily="34" charset="-122"/>
                <a:cs typeface="Calibri" pitchFamily="34" charset="-120"/>
              </a:rPr>
              <a:t>11 requirements and 14 interface rules, each failure with a cause chain and fixes.</a:t>
            </a:r>
            <a:endParaRPr lang="en-US" sz="1500" dirty="0"/>
          </a:p>
        </p:txBody>
      </p:sp>
      <p:sp>
        <p:nvSpPr>
          <p:cNvPr id="23" name="Shape 21"/>
          <p:cNvSpPr/>
          <p:nvPr/>
        </p:nvSpPr>
        <p:spPr>
          <a:xfrm>
            <a:off x="9390888" y="2880360"/>
            <a:ext cx="256032" cy="274320"/>
          </a:xfrm>
          <a:prstGeom prst="rightArrow">
            <a:avLst/>
          </a:prstGeom>
          <a:solidFill>
            <a:srgbClr val="D9DEE3"/>
          </a:solidFill>
          <a:ln w="12700">
            <a:solidFill>
              <a:srgbClr val="D9DEE3"/>
            </a:solidFill>
            <a:prstDash val="solid"/>
          </a:ln>
        </p:spPr>
      </p:sp>
      <p:sp>
        <p:nvSpPr>
          <p:cNvPr id="24" name="Shape 22"/>
          <p:cNvSpPr/>
          <p:nvPr/>
        </p:nvSpPr>
        <p:spPr>
          <a:xfrm>
            <a:off x="9692640" y="1691640"/>
            <a:ext cx="1938528" cy="2651760"/>
          </a:xfrm>
          <a:prstGeom prst="roundRect">
            <a:avLst>
              <a:gd name="adj" fmla="val 3774"/>
            </a:avLst>
          </a:prstGeom>
          <a:solidFill>
            <a:srgbClr val="F2F4F7"/>
          </a:solidFill>
          <a:ln w="12700">
            <a:solidFill>
              <a:srgbClr val="F2F4F7"/>
            </a:solidFill>
            <a:prstDash val="solid"/>
          </a:ln>
        </p:spPr>
      </p:sp>
      <p:sp>
        <p:nvSpPr>
          <p:cNvPr id="25" name="Shape 23"/>
          <p:cNvSpPr/>
          <p:nvPr/>
        </p:nvSpPr>
        <p:spPr>
          <a:xfrm>
            <a:off x="9921240" y="1920240"/>
            <a:ext cx="502920" cy="502920"/>
          </a:xfrm>
          <a:prstGeom prst="ellipse">
            <a:avLst/>
          </a:prstGeom>
          <a:solidFill>
            <a:srgbClr val="D9480F"/>
          </a:solidFill>
          <a:ln w="12700">
            <a:solidFill>
              <a:srgbClr val="D9480F"/>
            </a:solidFill>
            <a:prstDash val="solid"/>
          </a:ln>
        </p:spPr>
      </p:sp>
      <p:sp>
        <p:nvSpPr>
          <p:cNvPr id="26" name="Text 24"/>
          <p:cNvSpPr/>
          <p:nvPr/>
        </p:nvSpPr>
        <p:spPr>
          <a:xfrm>
            <a:off x="992124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5"/>
          <p:cNvSpPr/>
          <p:nvPr/>
        </p:nvSpPr>
        <p:spPr>
          <a:xfrm>
            <a:off x="9921240" y="2606040"/>
            <a:ext cx="1554480" cy="1645920"/>
          </a:xfrm>
          <a:prstGeom prst="rect">
            <a:avLst/>
          </a:prstGeom>
          <a:noFill/>
          <a:ln/>
        </p:spPr>
        <p:txBody>
          <a:bodyPr wrap="square" lIns="0" tIns="0" rIns="0" bIns="0" rtlCol="0" anchor="t"/>
          <a:lstStyle/>
          <a:p>
            <a:pPr indent="0" marL="0">
              <a:spcAft>
                <a:spcPts val="400"/>
              </a:spcAft>
              <a:buNone/>
            </a:pPr>
            <a:r>
              <a:rPr lang="en-US" sz="1500" b="1" dirty="0">
                <a:solidFill>
                  <a:srgbClr val="14202B"/>
                </a:solidFill>
                <a:latin typeface="Calibri" pitchFamily="34" charset="0"/>
                <a:ea typeface="Calibri" pitchFamily="34" charset="-122"/>
                <a:cs typeface="Calibri" pitchFamily="34" charset="-120"/>
              </a:rPr>
              <a:t>Rank and report</a:t>
            </a:r>
            <a:endParaRPr lang="en-US" sz="1500" dirty="0"/>
          </a:p>
          <a:p>
            <a:pPr indent="0" marL="0">
              <a:spcAft>
                <a:spcPts val="400"/>
              </a:spcAft>
              <a:buNone/>
            </a:pPr>
            <a:r>
              <a:rPr lang="en-US" sz="1200" dirty="0">
                <a:solidFill>
                  <a:srgbClr val="46525E"/>
                </a:solidFill>
                <a:latin typeface="Calibri" pitchFamily="34" charset="0"/>
                <a:ea typeface="Calibri" pitchFamily="34" charset="-122"/>
                <a:cs typeface="Calibri" pitchFamily="34" charset="-120"/>
              </a:rPr>
              <a:t>Three answers, 2× heat re-run, traceability, offline HTML report.</a:t>
            </a:r>
            <a:endParaRPr lang="en-US" sz="1500" dirty="0"/>
          </a:p>
        </p:txBody>
      </p:sp>
      <p:sp>
        <p:nvSpPr>
          <p:cNvPr id="28" name="Shape 26"/>
          <p:cNvSpPr/>
          <p:nvPr/>
        </p:nvSpPr>
        <p:spPr>
          <a:xfrm>
            <a:off x="548640" y="4800600"/>
            <a:ext cx="457200" cy="457200"/>
          </a:xfrm>
          <a:prstGeom prst="ellipse">
            <a:avLst/>
          </a:prstGeom>
          <a:solidFill>
            <a:srgbClr val="14202B"/>
          </a:solidFill>
          <a:ln w="12700">
            <a:solidFill>
              <a:srgbClr val="14202B"/>
            </a:solidFill>
            <a:prstDash val="solid"/>
          </a:ln>
        </p:spPr>
      </p:sp>
      <p:pic>
        <p:nvPicPr>
          <p:cNvPr id="29" name="Image 0" descr="preencoded.png">    </p:cNvPr>
          <p:cNvPicPr>
            <a:picLocks noChangeAspect="1"/>
          </p:cNvPicPr>
          <p:nvPr/>
        </p:nvPicPr>
        <p:blipFill>
          <a:blip r:embed="rId1"/>
          <a:stretch>
            <a:fillRect/>
          </a:stretch>
        </p:blipFill>
        <p:spPr>
          <a:xfrm>
            <a:off x="658368" y="4910328"/>
            <a:ext cx="237744" cy="237744"/>
          </a:xfrm>
          <a:prstGeom prst="rect">
            <a:avLst/>
          </a:prstGeom>
        </p:spPr>
      </p:pic>
      <p:sp>
        <p:nvSpPr>
          <p:cNvPr id="30" name="Text 27"/>
          <p:cNvSpPr/>
          <p:nvPr/>
        </p:nvSpPr>
        <p:spPr>
          <a:xfrm>
            <a:off x="1143000" y="4663440"/>
            <a:ext cx="3017520" cy="868680"/>
          </a:xfrm>
          <a:prstGeom prst="rect">
            <a:avLst/>
          </a:prstGeom>
          <a:noFill/>
          <a:ln/>
        </p:spPr>
        <p:txBody>
          <a:bodyPr wrap="square" lIns="0" tIns="0" rIns="0" bIns="0" rtlCol="0" anchor="ctr"/>
          <a:lstStyle/>
          <a:p>
            <a:pPr indent="0" marL="0">
              <a:buNone/>
            </a:pPr>
            <a:r>
              <a:rPr lang="en-US" sz="1300" dirty="0">
                <a:solidFill>
                  <a:srgbClr val="46525E"/>
                </a:solidFill>
                <a:latin typeface="Calibri" pitchFamily="34" charset="0"/>
                <a:ea typeface="Calibri" pitchFamily="34" charset="-122"/>
                <a:cs typeface="Calibri" pitchFamily="34" charset="-120"/>
              </a:rPr>
              <a:t>Any cell chemistry, any S×P layout, any cooling and sensor layout.</a:t>
            </a:r>
            <a:endParaRPr lang="en-US" sz="1300" dirty="0"/>
          </a:p>
        </p:txBody>
      </p:sp>
      <p:sp>
        <p:nvSpPr>
          <p:cNvPr id="31" name="Shape 28"/>
          <p:cNvSpPr/>
          <p:nvPr/>
        </p:nvSpPr>
        <p:spPr>
          <a:xfrm>
            <a:off x="4311396" y="4800600"/>
            <a:ext cx="457200" cy="457200"/>
          </a:xfrm>
          <a:prstGeom prst="ellipse">
            <a:avLst/>
          </a:prstGeom>
          <a:solidFill>
            <a:srgbClr val="14202B"/>
          </a:solidFill>
          <a:ln w="12700">
            <a:solidFill>
              <a:srgbClr val="14202B"/>
            </a:solidFill>
            <a:prstDash val="solid"/>
          </a:ln>
        </p:spPr>
      </p:sp>
      <p:pic>
        <p:nvPicPr>
          <p:cNvPr id="32" name="Image 1" descr="preencoded.png">    </p:cNvPr>
          <p:cNvPicPr>
            <a:picLocks noChangeAspect="1"/>
          </p:cNvPicPr>
          <p:nvPr/>
        </p:nvPicPr>
        <p:blipFill>
          <a:blip r:embed="rId2"/>
          <a:stretch>
            <a:fillRect/>
          </a:stretch>
        </p:blipFill>
        <p:spPr>
          <a:xfrm>
            <a:off x="4421124" y="4910328"/>
            <a:ext cx="237744" cy="237744"/>
          </a:xfrm>
          <a:prstGeom prst="rect">
            <a:avLst/>
          </a:prstGeom>
        </p:spPr>
      </p:pic>
      <p:sp>
        <p:nvSpPr>
          <p:cNvPr id="33" name="Text 29"/>
          <p:cNvSpPr/>
          <p:nvPr/>
        </p:nvSpPr>
        <p:spPr>
          <a:xfrm>
            <a:off x="4905756" y="4663440"/>
            <a:ext cx="3017520" cy="868680"/>
          </a:xfrm>
          <a:prstGeom prst="rect">
            <a:avLst/>
          </a:prstGeom>
          <a:noFill/>
          <a:ln/>
        </p:spPr>
        <p:txBody>
          <a:bodyPr wrap="square" lIns="0" tIns="0" rIns="0" bIns="0" rtlCol="0" anchor="ctr"/>
          <a:lstStyle/>
          <a:p>
            <a:pPr indent="0" marL="0">
              <a:buNone/>
            </a:pPr>
            <a:r>
              <a:rPr lang="en-US" sz="1300" dirty="0">
                <a:solidFill>
                  <a:srgbClr val="46525E"/>
                </a:solidFill>
                <a:latin typeface="Calibri" pitchFamily="34" charset="0"/>
                <a:ea typeface="Calibri" pitchFamily="34" charset="-122"/>
                <a:cs typeface="Calibri" pitchFamily="34" charset="-120"/>
              </a:rPr>
              <a:t>A new option is a JSON file with only its differences from the baseline.</a:t>
            </a:r>
            <a:endParaRPr lang="en-US" sz="1300" dirty="0"/>
          </a:p>
        </p:txBody>
      </p:sp>
      <p:sp>
        <p:nvSpPr>
          <p:cNvPr id="34" name="Shape 30"/>
          <p:cNvSpPr/>
          <p:nvPr/>
        </p:nvSpPr>
        <p:spPr>
          <a:xfrm>
            <a:off x="8074152" y="4800600"/>
            <a:ext cx="457200" cy="457200"/>
          </a:xfrm>
          <a:prstGeom prst="ellipse">
            <a:avLst/>
          </a:prstGeom>
          <a:solidFill>
            <a:srgbClr val="14202B"/>
          </a:solidFill>
          <a:ln w="12700">
            <a:solidFill>
              <a:srgbClr val="14202B"/>
            </a:solidFill>
            <a:prstDash val="solid"/>
          </a:ln>
        </p:spPr>
      </p:sp>
      <p:pic>
        <p:nvPicPr>
          <p:cNvPr id="35" name="Image 2" descr="preencoded.png">    </p:cNvPr>
          <p:cNvPicPr>
            <a:picLocks noChangeAspect="1"/>
          </p:cNvPicPr>
          <p:nvPr/>
        </p:nvPicPr>
        <p:blipFill>
          <a:blip r:embed="rId3"/>
          <a:stretch>
            <a:fillRect/>
          </a:stretch>
        </p:blipFill>
        <p:spPr>
          <a:xfrm>
            <a:off x="8183880" y="4910328"/>
            <a:ext cx="237744" cy="237744"/>
          </a:xfrm>
          <a:prstGeom prst="rect">
            <a:avLst/>
          </a:prstGeom>
        </p:spPr>
      </p:pic>
      <p:sp>
        <p:nvSpPr>
          <p:cNvPr id="36" name="Text 31"/>
          <p:cNvSpPr/>
          <p:nvPr/>
        </p:nvSpPr>
        <p:spPr>
          <a:xfrm>
            <a:off x="8668512" y="4663440"/>
            <a:ext cx="3017520" cy="868680"/>
          </a:xfrm>
          <a:prstGeom prst="rect">
            <a:avLst/>
          </a:prstGeom>
          <a:noFill/>
          <a:ln/>
        </p:spPr>
        <p:txBody>
          <a:bodyPr wrap="square" lIns="0" tIns="0" rIns="0" bIns="0" rtlCol="0" anchor="ctr"/>
          <a:lstStyle/>
          <a:p>
            <a:pPr indent="0" marL="0">
              <a:buNone/>
            </a:pPr>
            <a:r>
              <a:rPr lang="en-US" sz="1300" dirty="0">
                <a:solidFill>
                  <a:srgbClr val="46525E"/>
                </a:solidFill>
                <a:latin typeface="Calibri" pitchFamily="34" charset="0"/>
                <a:ea typeface="Calibri" pitchFamily="34" charset="-122"/>
                <a:cs typeface="Calibri" pitchFamily="34" charset="-120"/>
              </a:rPr>
              <a:t>Subsystems exchange values only through the design and the metrics — the brief’s “consistent parameter exchange”.</a:t>
            </a:r>
            <a:endParaRPr lang="en-US" sz="1300" dirty="0"/>
          </a:p>
        </p:txBody>
      </p:sp>
      <p:sp>
        <p:nvSpPr>
          <p:cNvPr id="37" name="Text 32"/>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PackForge · Python package packforge/ · Streamlit UI · CLI</a:t>
            </a:r>
            <a:endParaRPr lang="en-US" sz="1000" dirty="0"/>
          </a:p>
        </p:txBody>
      </p:sp>
      <p:sp>
        <p:nvSpPr>
          <p:cNvPr id="38" name="Text 33"/>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EVIDENCE · MEASURED (PROXY)</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Checked on 60 logs it never saw</a:t>
            </a:r>
            <a:endParaRPr lang="en-US" sz="3400" dirty="0"/>
          </a:p>
        </p:txBody>
      </p:sp>
      <p:sp>
        <p:nvSpPr>
          <p:cNvPr id="4" name="Text 2"/>
          <p:cNvSpPr/>
          <p:nvPr/>
        </p:nvSpPr>
        <p:spPr>
          <a:xfrm>
            <a:off x="548640" y="1463040"/>
            <a:ext cx="11094415" cy="594360"/>
          </a:xfrm>
          <a:prstGeom prst="rect">
            <a:avLst/>
          </a:prstGeom>
          <a:noFill/>
          <a:ln/>
        </p:spPr>
        <p:txBody>
          <a:bodyPr wrap="square" lIns="0" tIns="0" rIns="0" bIns="0" rtlCol="0" anchor="ctr"/>
          <a:lstStyle/>
          <a:p>
            <a:pPr indent="0" marL="0">
              <a:buNone/>
            </a:pPr>
            <a:r>
              <a:rPr lang="en-US" sz="1400" dirty="0">
                <a:solidFill>
                  <a:srgbClr val="46525E"/>
                </a:solidFill>
                <a:latin typeface="Calibri" pitchFamily="34" charset="0"/>
                <a:ea typeface="Calibri" pitchFamily="34" charset="-122"/>
                <a:cs typeface="Calibri" pitchFamily="34" charset="-120"/>
              </a:rPr>
              <a:t>NMC cell fitted on public data for a proxy cell (LG M50LT, drilled for an internal thermocouple) at 25 and 35 °C. Hold-out at 45 °C: 3 cells × (10 drives + 10 charges), never used in the fit.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2011680"/>
                <a:gridCol w="822960"/>
                <a:gridCol w="2679192"/>
                <a:gridCol w="1920240"/>
                <a:gridCol w="1737360"/>
                <a:gridCol w="192024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Hold-out set</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Logs</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 RMSE, SOC ≥ 10 % (median / max)</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 RMSE, full range</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 RMSE (median)</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 rise meas / model</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r>
              <a:tr h="38404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Drive cycles</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18 / 43 mV</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38 / 122 mV</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0.23 K</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2.0 / 1.0 K</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384048">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1C charges</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17 / 22 mV</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22 / 25 mV</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0.55 K</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indent="0" marL="0">
                        <a:buNone/>
                      </a:pPr>
                      <a:r>
                        <a:rPr lang="en-US" sz="1300" dirty="0">
                          <a:solidFill>
                            <a:srgbClr val="14202B"/>
                          </a:solidFill>
                          <a:latin typeface="Calibri" pitchFamily="34" charset="0"/>
                          <a:ea typeface="Calibri" pitchFamily="34" charset="-122"/>
                          <a:cs typeface="Calibri" pitchFamily="34" charset="-120"/>
                        </a:rPr>
                        <a:t>3.4 / 1.6 K</a:t>
                      </a:r>
                      <a:endParaRPr lang="en-US" sz="1300" dirty="0">
                        <a:latin typeface="Calibri" charset="0"/>
                        <a:ea typeface="Calibri" charset="0"/>
                        <a:cs typeface="Calibri" charset="0"/>
                      </a:endParaRPr>
                    </a:p>
                  </a:txBody>
                  <a:tcPr marL="91440" marR="91440"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bl>
          </a:graphicData>
        </a:graphic>
      </p:graphicFrame>
      <p:sp>
        <p:nvSpPr>
          <p:cNvPr id="6" name="Shape 3"/>
          <p:cNvSpPr/>
          <p:nvPr/>
        </p:nvSpPr>
        <p:spPr>
          <a:xfrm>
            <a:off x="548640" y="3749040"/>
            <a:ext cx="5394960" cy="1188720"/>
          </a:xfrm>
          <a:prstGeom prst="roundRect">
            <a:avLst>
              <a:gd name="adj" fmla="val 6154"/>
            </a:avLst>
          </a:prstGeom>
          <a:solidFill>
            <a:srgbClr val="E2EDF8"/>
          </a:solidFill>
          <a:ln w="12700">
            <a:solidFill>
              <a:srgbClr val="E2EDF8"/>
            </a:solidFill>
            <a:prstDash val="solid"/>
          </a:ln>
        </p:spPr>
      </p:sp>
      <p:sp>
        <p:nvSpPr>
          <p:cNvPr id="7" name="Shape 4"/>
          <p:cNvSpPr/>
          <p:nvPr/>
        </p:nvSpPr>
        <p:spPr>
          <a:xfrm>
            <a:off x="822960" y="4069080"/>
            <a:ext cx="548640" cy="548640"/>
          </a:xfrm>
          <a:prstGeom prst="ellipse">
            <a:avLst/>
          </a:prstGeom>
          <a:solidFill>
            <a:srgbClr val="2B6CB0"/>
          </a:solidFill>
          <a:ln w="12700">
            <a:solidFill>
              <a:srgbClr val="2B6CB0"/>
            </a:solidFill>
            <a:prstDash val="solid"/>
          </a:ln>
        </p:spPr>
      </p:sp>
      <p:pic>
        <p:nvPicPr>
          <p:cNvPr id="8" name="Image 0" descr="preencoded.png">    </p:cNvPr>
          <p:cNvPicPr>
            <a:picLocks noChangeAspect="1"/>
          </p:cNvPicPr>
          <p:nvPr/>
        </p:nvPicPr>
        <p:blipFill>
          <a:blip r:embed="rId1"/>
          <a:stretch>
            <a:fillRect/>
          </a:stretch>
        </p:blipFill>
        <p:spPr>
          <a:xfrm>
            <a:off x="954634" y="4200754"/>
            <a:ext cx="285293" cy="285293"/>
          </a:xfrm>
          <a:prstGeom prst="rect">
            <a:avLst/>
          </a:prstGeom>
        </p:spPr>
      </p:pic>
      <p:sp>
        <p:nvSpPr>
          <p:cNvPr id="9" name="Text 5"/>
          <p:cNvSpPr/>
          <p:nvPr/>
        </p:nvSpPr>
        <p:spPr>
          <a:xfrm>
            <a:off x="1600200" y="3840480"/>
            <a:ext cx="4114800" cy="1005840"/>
          </a:xfrm>
          <a:prstGeom prst="rect">
            <a:avLst/>
          </a:prstGeom>
          <a:noFill/>
          <a:ln/>
        </p:spPr>
        <p:txBody>
          <a:bodyPr wrap="square" lIns="0" tIns="0" rIns="0" bIns="0" rtlCol="0" anchor="ctr"/>
          <a:lstStyle/>
          <a:p>
            <a:pPr indent="0" marL="0">
              <a:buNone/>
            </a:pPr>
            <a:r>
              <a:rPr lang="en-US" sz="1400" b="1" dirty="0">
                <a:solidFill>
                  <a:srgbClr val="14202B"/>
                </a:solidFill>
                <a:latin typeface="Calibri" pitchFamily="34" charset="0"/>
                <a:ea typeface="Calibri" pitchFamily="34" charset="-122"/>
                <a:cs typeface="Calibri" pitchFamily="34" charset="-120"/>
              </a:rPr>
              <a:t>Voltage holds</a:t>
            </a:r>
            <a:pPr indent="0" marL="0">
              <a:buNone/>
            </a:pPr>
            <a:r>
              <a:rPr lang="en-US" sz="1400" dirty="0">
                <a:solidFill>
                  <a:srgbClr val="14202B"/>
                </a:solidFill>
                <a:latin typeface="Calibri" pitchFamily="34" charset="0"/>
                <a:ea typeface="Calibri" pitchFamily="34" charset="-122"/>
                <a:cs typeface="Calibri" pitchFamily="34" charset="-120"/>
              </a:rPr>
              <a:t> at a temperature the fit never saw — so the heat the model generates is credible.</a:t>
            </a:r>
            <a:endParaRPr lang="en-US" sz="1400" dirty="0"/>
          </a:p>
        </p:txBody>
      </p:sp>
      <p:sp>
        <p:nvSpPr>
          <p:cNvPr id="10" name="Shape 6"/>
          <p:cNvSpPr/>
          <p:nvPr/>
        </p:nvSpPr>
        <p:spPr>
          <a:xfrm>
            <a:off x="6245352" y="3749040"/>
            <a:ext cx="5394960" cy="1188720"/>
          </a:xfrm>
          <a:prstGeom prst="roundRect">
            <a:avLst>
              <a:gd name="adj" fmla="val 6154"/>
            </a:avLst>
          </a:prstGeom>
          <a:solidFill>
            <a:srgbClr val="FCE6DA"/>
          </a:solidFill>
          <a:ln w="12700">
            <a:solidFill>
              <a:srgbClr val="FCE6DA"/>
            </a:solidFill>
            <a:prstDash val="solid"/>
          </a:ln>
        </p:spPr>
      </p:sp>
      <p:sp>
        <p:nvSpPr>
          <p:cNvPr id="11" name="Shape 7"/>
          <p:cNvSpPr/>
          <p:nvPr/>
        </p:nvSpPr>
        <p:spPr>
          <a:xfrm>
            <a:off x="6519672" y="4069080"/>
            <a:ext cx="548640" cy="548640"/>
          </a:xfrm>
          <a:prstGeom prst="ellipse">
            <a:avLst/>
          </a:prstGeom>
          <a:solidFill>
            <a:srgbClr val="D9480F"/>
          </a:solidFill>
          <a:ln w="12700">
            <a:solidFill>
              <a:srgbClr val="D9480F"/>
            </a:solidFill>
            <a:prstDash val="solid"/>
          </a:ln>
        </p:spPr>
      </p:sp>
      <p:pic>
        <p:nvPicPr>
          <p:cNvPr id="12" name="Image 1" descr="preencoded.png">    </p:cNvPr>
          <p:cNvPicPr>
            <a:picLocks noChangeAspect="1"/>
          </p:cNvPicPr>
          <p:nvPr/>
        </p:nvPicPr>
        <p:blipFill>
          <a:blip r:embed="rId2"/>
          <a:stretch>
            <a:fillRect/>
          </a:stretch>
        </p:blipFill>
        <p:spPr>
          <a:xfrm>
            <a:off x="6651346" y="4200754"/>
            <a:ext cx="285293" cy="285293"/>
          </a:xfrm>
          <a:prstGeom prst="rect">
            <a:avLst/>
          </a:prstGeom>
        </p:spPr>
      </p:pic>
      <p:sp>
        <p:nvSpPr>
          <p:cNvPr id="13" name="Text 8"/>
          <p:cNvSpPr/>
          <p:nvPr/>
        </p:nvSpPr>
        <p:spPr>
          <a:xfrm>
            <a:off x="7296912" y="3840480"/>
            <a:ext cx="4114800" cy="1005840"/>
          </a:xfrm>
          <a:prstGeom prst="rect">
            <a:avLst/>
          </a:prstGeom>
          <a:noFill/>
          <a:ln/>
        </p:spPr>
        <p:txBody>
          <a:bodyPr wrap="square" lIns="0" tIns="0" rIns="0" bIns="0" rtlCol="0" anchor="ctr"/>
          <a:lstStyle/>
          <a:p>
            <a:pPr indent="0" marL="0">
              <a:buNone/>
            </a:pPr>
            <a:r>
              <a:rPr lang="en-US" sz="1400" b="1" dirty="0">
                <a:solidFill>
                  <a:srgbClr val="14202B"/>
                </a:solidFill>
                <a:latin typeface="Calibri" pitchFamily="34" charset="0"/>
                <a:ea typeface="Calibri" pitchFamily="34" charset="-122"/>
                <a:cs typeface="Calibri" pitchFamily="34" charset="-120"/>
              </a:rPr>
              <a:t>Temperature rise is under-predicted ~2×</a:t>
            </a:r>
            <a:pPr indent="0" marL="0">
              <a:buNone/>
            </a:pPr>
            <a:r>
              <a:rPr lang="en-US" sz="1400" dirty="0">
                <a:solidFill>
                  <a:srgbClr val="14202B"/>
                </a:solidFill>
                <a:latin typeface="Calibri" pitchFamily="34" charset="0"/>
                <a:ea typeface="Calibri" pitchFamily="34" charset="-122"/>
                <a:cs typeface="Calibri" pitchFamily="34" charset="-120"/>
              </a:rPr>
              <a:t> (no SOC-dependent resistance or entropic heat). So every design is re-run at 2× heat.</a:t>
            </a:r>
            <a:endParaRPr lang="en-US" sz="1400" dirty="0"/>
          </a:p>
        </p:txBody>
      </p:sp>
      <p:sp>
        <p:nvSpPr>
          <p:cNvPr id="14" name="Text 9"/>
          <p:cNvSpPr/>
          <p:nvPr/>
        </p:nvSpPr>
        <p:spPr>
          <a:xfrm>
            <a:off x="548640" y="5257800"/>
            <a:ext cx="11094415" cy="548640"/>
          </a:xfrm>
          <a:prstGeom prst="rect">
            <a:avLst/>
          </a:prstGeom>
          <a:noFill/>
          <a:ln/>
        </p:spPr>
        <p:txBody>
          <a:bodyPr wrap="square" lIns="0" tIns="0" rIns="0" bIns="0" rtlCol="0" anchor="ctr"/>
          <a:lstStyle/>
          <a:p>
            <a:pPr indent="0" marL="0">
              <a:buNone/>
            </a:pPr>
            <a:r>
              <a:rPr lang="en-US" sz="1200" dirty="0">
                <a:solidFill>
                  <a:srgbClr val="66717C"/>
                </a:solidFill>
                <a:latin typeface="Calibri" pitchFamily="34" charset="0"/>
                <a:ea typeface="Calibri" pitchFamily="34" charset="-122"/>
                <a:cs typeface="Calibri" pitchFamily="34" charset="-120"/>
              </a:rPr>
              <a:t>Calibrated vs generic: R0 0.0267 vs 0.020 Ω · R1 0.0230 vs 0.012 Ω · τ 46 vs 30 s · capacity 4.874 vs 5.0 Ah. Test-rig cooling is fitted but never carried over to a pack.</a:t>
            </a:r>
            <a:endParaRPr lang="en-US" sz="1200" dirty="0"/>
          </a:p>
        </p:txBody>
      </p:sp>
      <p:sp>
        <p:nvSpPr>
          <p:cNvPr id="15" name="Text 10"/>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Data: Yao, Droese, Kowal — TU Berlin, DOI 10.14279/depositonce-25110, CC BY 4.0</a:t>
            </a:r>
            <a:endParaRPr lang="en-US" sz="1000" dirty="0"/>
          </a:p>
        </p:txBody>
      </p:sp>
      <p:sp>
        <p:nvSpPr>
          <p:cNvPr id="16" name="Text 11"/>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ENGINEERING QUALITY</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Every result is cross-checked</a:t>
            </a:r>
            <a:endParaRPr lang="en-US" sz="3400" dirty="0"/>
          </a:p>
        </p:txBody>
      </p:sp>
      <p:sp>
        <p:nvSpPr>
          <p:cNvPr id="4" name="Text 2"/>
          <p:cNvSpPr/>
          <p:nvPr/>
        </p:nvSpPr>
        <p:spPr>
          <a:xfrm>
            <a:off x="548640" y="1463040"/>
            <a:ext cx="11094415" cy="594360"/>
          </a:xfrm>
          <a:prstGeom prst="rect">
            <a:avLst/>
          </a:prstGeom>
          <a:noFill/>
          <a:ln/>
        </p:spPr>
        <p:txBody>
          <a:bodyPr wrap="square" lIns="0" tIns="0" rIns="0" bIns="0" rtlCol="0" anchor="ctr"/>
          <a:lstStyle/>
          <a:p>
            <a:pPr indent="0" marL="0">
              <a:buNone/>
            </a:pPr>
            <a:r>
              <a:rPr lang="en-US" sz="1400" dirty="0">
                <a:solidFill>
                  <a:srgbClr val="46525E"/>
                </a:solidFill>
                <a:latin typeface="Calibri" pitchFamily="34" charset="0"/>
                <a:ea typeface="Calibri" pitchFamily="34" charset="-122"/>
                <a:cs typeface="Calibri" pitchFamily="34" charset="-120"/>
              </a:rPr>
              <a:t>Cell: OCV(SOC) + R0 + one RC branch, Arrhenius temperature scaling. Thermal: one node per cell, I²R heat, loss to the sink via h × surface, 4-neighbour conduction. Every assumption has an ID, a source and the results it affects.</a:t>
            </a:r>
            <a:endParaRPr lang="en-US" sz="1400" dirty="0"/>
          </a:p>
        </p:txBody>
      </p:sp>
      <p:sp>
        <p:nvSpPr>
          <p:cNvPr id="5" name="Shape 3"/>
          <p:cNvSpPr/>
          <p:nvPr/>
        </p:nvSpPr>
        <p:spPr>
          <a:xfrm>
            <a:off x="548640" y="2286000"/>
            <a:ext cx="3566160" cy="1645920"/>
          </a:xfrm>
          <a:prstGeom prst="roundRect">
            <a:avLst>
              <a:gd name="adj" fmla="val 4444"/>
            </a:avLst>
          </a:prstGeom>
          <a:solidFill>
            <a:srgbClr val="F2F4F7"/>
          </a:solidFill>
          <a:ln w="12700">
            <a:solidFill>
              <a:srgbClr val="F2F4F7"/>
            </a:solidFill>
            <a:prstDash val="solid"/>
          </a:ln>
        </p:spPr>
      </p:sp>
      <p:sp>
        <p:nvSpPr>
          <p:cNvPr id="6" name="Shape 4"/>
          <p:cNvSpPr/>
          <p:nvPr/>
        </p:nvSpPr>
        <p:spPr>
          <a:xfrm>
            <a:off x="822960" y="2560320"/>
            <a:ext cx="502920" cy="502920"/>
          </a:xfrm>
          <a:prstGeom prst="ellipse">
            <a:avLst/>
          </a:prstGeom>
          <a:solidFill>
            <a:srgbClr val="2B6CB0"/>
          </a:solidFill>
          <a:ln w="12700">
            <a:solidFill>
              <a:srgbClr val="2B6CB0"/>
            </a:solidFill>
            <a:prstDash val="solid"/>
          </a:ln>
        </p:spPr>
      </p:sp>
      <p:pic>
        <p:nvPicPr>
          <p:cNvPr id="7" name="Image 0" descr="preencoded.png">    </p:cNvPr>
          <p:cNvPicPr>
            <a:picLocks noChangeAspect="1"/>
          </p:cNvPicPr>
          <p:nvPr/>
        </p:nvPicPr>
        <p:blipFill>
          <a:blip r:embed="rId1"/>
          <a:stretch>
            <a:fillRect/>
          </a:stretch>
        </p:blipFill>
        <p:spPr>
          <a:xfrm>
            <a:off x="943661" y="2681021"/>
            <a:ext cx="261518" cy="261518"/>
          </a:xfrm>
          <a:prstGeom prst="rect">
            <a:avLst/>
          </a:prstGeom>
        </p:spPr>
      </p:pic>
      <p:sp>
        <p:nvSpPr>
          <p:cNvPr id="8" name="Text 5"/>
          <p:cNvSpPr/>
          <p:nvPr/>
        </p:nvSpPr>
        <p:spPr>
          <a:xfrm>
            <a:off x="1508760" y="2532888"/>
            <a:ext cx="2423160" cy="548640"/>
          </a:xfrm>
          <a:prstGeom prst="rect">
            <a:avLst/>
          </a:prstGeom>
          <a:noFill/>
          <a:ln/>
        </p:spPr>
        <p:txBody>
          <a:bodyPr wrap="square" lIns="0" tIns="0" rIns="0" bIns="0" rtlCol="0" anchor="ctr"/>
          <a:lstStyle/>
          <a:p>
            <a:pPr indent="0" marL="0">
              <a:buNone/>
            </a:pPr>
            <a:r>
              <a:rPr lang="en-US" sz="2600" b="1" dirty="0">
                <a:solidFill>
                  <a:srgbClr val="2B6CB0"/>
                </a:solidFill>
                <a:latin typeface="Cambria" pitchFamily="34" charset="0"/>
                <a:ea typeface="Cambria" pitchFamily="34" charset="-122"/>
                <a:cs typeface="Cambria" pitchFamily="34" charset="-120"/>
              </a:rPr>
              <a:t>± 2 %</a:t>
            </a:r>
            <a:endParaRPr lang="en-US" sz="2600" dirty="0"/>
          </a:p>
        </p:txBody>
      </p:sp>
      <p:sp>
        <p:nvSpPr>
          <p:cNvPr id="9" name="Text 6"/>
          <p:cNvSpPr/>
          <p:nvPr/>
        </p:nvSpPr>
        <p:spPr>
          <a:xfrm>
            <a:off x="822960" y="3182112"/>
            <a:ext cx="3063240" cy="640080"/>
          </a:xfrm>
          <a:prstGeom prst="rect">
            <a:avLst/>
          </a:prstGeom>
          <a:noFill/>
          <a:ln/>
        </p:spPr>
        <p:txBody>
          <a:bodyPr wrap="square" lIns="0" tIns="0" rIns="0" bIns="0" rtlCol="0" anchor="t"/>
          <a:lstStyle/>
          <a:p>
            <a:pPr indent="0" marL="0">
              <a:buNone/>
            </a:pPr>
            <a:r>
              <a:rPr lang="en-US" sz="1300" dirty="0">
                <a:solidFill>
                  <a:srgbClr val="46525E"/>
                </a:solidFill>
                <a:latin typeface="Calibri" pitchFamily="34" charset="0"/>
                <a:ea typeface="Calibri" pitchFamily="34" charset="-122"/>
                <a:cs typeface="Calibri" pitchFamily="34" charset="-120"/>
              </a:rPr>
              <a:t>Adiabatic heat balance: heat generated matches the cells’ temperature rise.</a:t>
            </a:r>
            <a:endParaRPr lang="en-US" sz="1300" dirty="0"/>
          </a:p>
        </p:txBody>
      </p:sp>
      <p:sp>
        <p:nvSpPr>
          <p:cNvPr id="10" name="Shape 7"/>
          <p:cNvSpPr/>
          <p:nvPr/>
        </p:nvSpPr>
        <p:spPr>
          <a:xfrm>
            <a:off x="4311396" y="2286000"/>
            <a:ext cx="3566160" cy="1645920"/>
          </a:xfrm>
          <a:prstGeom prst="roundRect">
            <a:avLst>
              <a:gd name="adj" fmla="val 4444"/>
            </a:avLst>
          </a:prstGeom>
          <a:solidFill>
            <a:srgbClr val="F2F4F7"/>
          </a:solidFill>
          <a:ln w="12700">
            <a:solidFill>
              <a:srgbClr val="F2F4F7"/>
            </a:solidFill>
            <a:prstDash val="solid"/>
          </a:ln>
        </p:spPr>
      </p:sp>
      <p:sp>
        <p:nvSpPr>
          <p:cNvPr id="11" name="Shape 8"/>
          <p:cNvSpPr/>
          <p:nvPr/>
        </p:nvSpPr>
        <p:spPr>
          <a:xfrm>
            <a:off x="4585716" y="2560320"/>
            <a:ext cx="502920" cy="502920"/>
          </a:xfrm>
          <a:prstGeom prst="ellipse">
            <a:avLst/>
          </a:prstGeom>
          <a:solidFill>
            <a:srgbClr val="2B6CB0"/>
          </a:solidFill>
          <a:ln w="12700">
            <a:solidFill>
              <a:srgbClr val="2B6CB0"/>
            </a:solidFill>
            <a:prstDash val="solid"/>
          </a:ln>
        </p:spPr>
      </p:sp>
      <p:pic>
        <p:nvPicPr>
          <p:cNvPr id="12" name="Image 1" descr="preencoded.png">    </p:cNvPr>
          <p:cNvPicPr>
            <a:picLocks noChangeAspect="1"/>
          </p:cNvPicPr>
          <p:nvPr/>
        </p:nvPicPr>
        <p:blipFill>
          <a:blip r:embed="rId2"/>
          <a:stretch>
            <a:fillRect/>
          </a:stretch>
        </p:blipFill>
        <p:spPr>
          <a:xfrm>
            <a:off x="4706417" y="2681021"/>
            <a:ext cx="261518" cy="261518"/>
          </a:xfrm>
          <a:prstGeom prst="rect">
            <a:avLst/>
          </a:prstGeom>
        </p:spPr>
      </p:pic>
      <p:sp>
        <p:nvSpPr>
          <p:cNvPr id="13" name="Text 9"/>
          <p:cNvSpPr/>
          <p:nvPr/>
        </p:nvSpPr>
        <p:spPr>
          <a:xfrm>
            <a:off x="5271516" y="2532888"/>
            <a:ext cx="2423160" cy="548640"/>
          </a:xfrm>
          <a:prstGeom prst="rect">
            <a:avLst/>
          </a:prstGeom>
          <a:noFill/>
          <a:ln/>
        </p:spPr>
        <p:txBody>
          <a:bodyPr wrap="square" lIns="0" tIns="0" rIns="0" bIns="0" rtlCol="0" anchor="ctr"/>
          <a:lstStyle/>
          <a:p>
            <a:pPr indent="0" marL="0">
              <a:buNone/>
            </a:pPr>
            <a:r>
              <a:rPr lang="en-US" sz="2600" b="1" dirty="0">
                <a:solidFill>
                  <a:srgbClr val="2B6CB0"/>
                </a:solidFill>
                <a:latin typeface="Cambria" pitchFamily="34" charset="0"/>
                <a:ea typeface="Cambria" pitchFamily="34" charset="-122"/>
                <a:cs typeface="Cambria" pitchFamily="34" charset="-120"/>
              </a:rPr>
              <a:t>0.9–1.06×</a:t>
            </a:r>
            <a:endParaRPr lang="en-US" sz="2600" dirty="0"/>
          </a:p>
        </p:txBody>
      </p:sp>
      <p:sp>
        <p:nvSpPr>
          <p:cNvPr id="14" name="Text 10"/>
          <p:cNvSpPr/>
          <p:nvPr/>
        </p:nvSpPr>
        <p:spPr>
          <a:xfrm>
            <a:off x="4585716" y="3182112"/>
            <a:ext cx="3063240" cy="640080"/>
          </a:xfrm>
          <a:prstGeom prst="rect">
            <a:avLst/>
          </a:prstGeom>
          <a:noFill/>
          <a:ln/>
        </p:spPr>
        <p:txBody>
          <a:bodyPr wrap="square" lIns="0" tIns="0" rIns="0" bIns="0" rtlCol="0" anchor="t"/>
          <a:lstStyle/>
          <a:p>
            <a:pPr indent="0" marL="0">
              <a:buNone/>
            </a:pPr>
            <a:r>
              <a:rPr lang="en-US" sz="1300" dirty="0">
                <a:solidFill>
                  <a:srgbClr val="46525E"/>
                </a:solidFill>
                <a:latin typeface="Calibri" pitchFamily="34" charset="0"/>
                <a:ea typeface="Calibri" pitchFamily="34" charset="-122"/>
                <a:cs typeface="Calibri" pitchFamily="34" charset="-120"/>
              </a:rPr>
              <a:t>Delivered energy vs nominal, ending on the undervoltage cut-off.</a:t>
            </a:r>
            <a:endParaRPr lang="en-US" sz="1300" dirty="0"/>
          </a:p>
        </p:txBody>
      </p:sp>
      <p:sp>
        <p:nvSpPr>
          <p:cNvPr id="15" name="Shape 11"/>
          <p:cNvSpPr/>
          <p:nvPr/>
        </p:nvSpPr>
        <p:spPr>
          <a:xfrm>
            <a:off x="8074152" y="2286000"/>
            <a:ext cx="3566160" cy="1645920"/>
          </a:xfrm>
          <a:prstGeom prst="roundRect">
            <a:avLst>
              <a:gd name="adj" fmla="val 4444"/>
            </a:avLst>
          </a:prstGeom>
          <a:solidFill>
            <a:srgbClr val="F2F4F7"/>
          </a:solidFill>
          <a:ln w="12700">
            <a:solidFill>
              <a:srgbClr val="F2F4F7"/>
            </a:solidFill>
            <a:prstDash val="solid"/>
          </a:ln>
        </p:spPr>
      </p:sp>
      <p:sp>
        <p:nvSpPr>
          <p:cNvPr id="16" name="Shape 12"/>
          <p:cNvSpPr/>
          <p:nvPr/>
        </p:nvSpPr>
        <p:spPr>
          <a:xfrm>
            <a:off x="8348472" y="2560320"/>
            <a:ext cx="502920" cy="502920"/>
          </a:xfrm>
          <a:prstGeom prst="ellipse">
            <a:avLst/>
          </a:prstGeom>
          <a:solidFill>
            <a:srgbClr val="2B6CB0"/>
          </a:solidFill>
          <a:ln w="12700">
            <a:solidFill>
              <a:srgbClr val="2B6CB0"/>
            </a:solidFill>
            <a:prstDash val="solid"/>
          </a:ln>
        </p:spPr>
      </p:sp>
      <p:pic>
        <p:nvPicPr>
          <p:cNvPr id="17" name="Image 2" descr="preencoded.png">    </p:cNvPr>
          <p:cNvPicPr>
            <a:picLocks noChangeAspect="1"/>
          </p:cNvPicPr>
          <p:nvPr/>
        </p:nvPicPr>
        <p:blipFill>
          <a:blip r:embed="rId3"/>
          <a:stretch>
            <a:fillRect/>
          </a:stretch>
        </p:blipFill>
        <p:spPr>
          <a:xfrm>
            <a:off x="8469173" y="2681021"/>
            <a:ext cx="261518" cy="261518"/>
          </a:xfrm>
          <a:prstGeom prst="rect">
            <a:avLst/>
          </a:prstGeom>
        </p:spPr>
      </p:pic>
      <p:sp>
        <p:nvSpPr>
          <p:cNvPr id="18" name="Text 13"/>
          <p:cNvSpPr/>
          <p:nvPr/>
        </p:nvSpPr>
        <p:spPr>
          <a:xfrm>
            <a:off x="9034272" y="2532888"/>
            <a:ext cx="2423160" cy="548640"/>
          </a:xfrm>
          <a:prstGeom prst="rect">
            <a:avLst/>
          </a:prstGeom>
          <a:noFill/>
          <a:ln/>
        </p:spPr>
        <p:txBody>
          <a:bodyPr wrap="square" lIns="0" tIns="0" rIns="0" bIns="0" rtlCol="0" anchor="ctr"/>
          <a:lstStyle/>
          <a:p>
            <a:pPr indent="0" marL="0">
              <a:buNone/>
            </a:pPr>
            <a:r>
              <a:rPr lang="en-US" sz="2600" b="1" dirty="0">
                <a:solidFill>
                  <a:srgbClr val="2B6CB0"/>
                </a:solidFill>
                <a:latin typeface="Cambria" pitchFamily="34" charset="0"/>
                <a:ea typeface="Cambria" pitchFamily="34" charset="-122"/>
                <a:cs typeface="Cambria" pitchFamily="34" charset="-120"/>
              </a:rPr>
              <a:t>≤ 0.4 %</a:t>
            </a:r>
            <a:endParaRPr lang="en-US" sz="2600" dirty="0"/>
          </a:p>
        </p:txBody>
      </p:sp>
      <p:sp>
        <p:nvSpPr>
          <p:cNvPr id="19" name="Text 14"/>
          <p:cNvSpPr/>
          <p:nvPr/>
        </p:nvSpPr>
        <p:spPr>
          <a:xfrm>
            <a:off x="8348472" y="3182112"/>
            <a:ext cx="3063240" cy="640080"/>
          </a:xfrm>
          <a:prstGeom prst="rect">
            <a:avLst/>
          </a:prstGeom>
          <a:noFill/>
          <a:ln/>
        </p:spPr>
        <p:txBody>
          <a:bodyPr wrap="square" lIns="0" tIns="0" rIns="0" bIns="0" rtlCol="0" anchor="t"/>
          <a:lstStyle/>
          <a:p>
            <a:pPr indent="0" marL="0">
              <a:buNone/>
            </a:pPr>
            <a:r>
              <a:rPr lang="en-US" sz="1300" dirty="0">
                <a:solidFill>
                  <a:srgbClr val="46525E"/>
                </a:solidFill>
                <a:latin typeface="Calibri" pitchFamily="34" charset="0"/>
                <a:ea typeface="Calibri" pitchFamily="34" charset="-122"/>
                <a:cs typeface="Calibri" pitchFamily="34" charset="-120"/>
              </a:rPr>
              <a:t>KPI change from a 2 s to a 1 s time step (ΔT within 0.05 K).</a:t>
            </a:r>
            <a:endParaRPr lang="en-US" sz="1300" dirty="0"/>
          </a:p>
        </p:txBody>
      </p:sp>
      <p:sp>
        <p:nvSpPr>
          <p:cNvPr id="20" name="Shape 15"/>
          <p:cNvSpPr/>
          <p:nvPr/>
        </p:nvSpPr>
        <p:spPr>
          <a:xfrm>
            <a:off x="548640" y="4160520"/>
            <a:ext cx="3566160" cy="1645920"/>
          </a:xfrm>
          <a:prstGeom prst="roundRect">
            <a:avLst>
              <a:gd name="adj" fmla="val 4444"/>
            </a:avLst>
          </a:prstGeom>
          <a:solidFill>
            <a:srgbClr val="F2F4F7"/>
          </a:solidFill>
          <a:ln w="12700">
            <a:solidFill>
              <a:srgbClr val="F2F4F7"/>
            </a:solidFill>
            <a:prstDash val="solid"/>
          </a:ln>
        </p:spPr>
      </p:sp>
      <p:sp>
        <p:nvSpPr>
          <p:cNvPr id="21" name="Shape 16"/>
          <p:cNvSpPr/>
          <p:nvPr/>
        </p:nvSpPr>
        <p:spPr>
          <a:xfrm>
            <a:off x="822960" y="4434840"/>
            <a:ext cx="502920" cy="502920"/>
          </a:xfrm>
          <a:prstGeom prst="ellipse">
            <a:avLst/>
          </a:prstGeom>
          <a:solidFill>
            <a:srgbClr val="2B6CB0"/>
          </a:solidFill>
          <a:ln w="12700">
            <a:solidFill>
              <a:srgbClr val="2B6CB0"/>
            </a:solidFill>
            <a:prstDash val="solid"/>
          </a:ln>
        </p:spPr>
      </p:sp>
      <p:pic>
        <p:nvPicPr>
          <p:cNvPr id="22" name="Image 3" descr="preencoded.png">    </p:cNvPr>
          <p:cNvPicPr>
            <a:picLocks noChangeAspect="1"/>
          </p:cNvPicPr>
          <p:nvPr/>
        </p:nvPicPr>
        <p:blipFill>
          <a:blip r:embed="rId4"/>
          <a:stretch>
            <a:fillRect/>
          </a:stretch>
        </p:blipFill>
        <p:spPr>
          <a:xfrm>
            <a:off x="943661" y="4555541"/>
            <a:ext cx="261518" cy="261518"/>
          </a:xfrm>
          <a:prstGeom prst="rect">
            <a:avLst/>
          </a:prstGeom>
        </p:spPr>
      </p:pic>
      <p:sp>
        <p:nvSpPr>
          <p:cNvPr id="23" name="Text 17"/>
          <p:cNvSpPr/>
          <p:nvPr/>
        </p:nvSpPr>
        <p:spPr>
          <a:xfrm>
            <a:off x="1508760" y="4407408"/>
            <a:ext cx="2423160" cy="548640"/>
          </a:xfrm>
          <a:prstGeom prst="rect">
            <a:avLst/>
          </a:prstGeom>
          <a:noFill/>
          <a:ln/>
        </p:spPr>
        <p:txBody>
          <a:bodyPr wrap="square" lIns="0" tIns="0" rIns="0" bIns="0" rtlCol="0" anchor="ctr"/>
          <a:lstStyle/>
          <a:p>
            <a:pPr indent="0" marL="0">
              <a:buNone/>
            </a:pPr>
            <a:r>
              <a:rPr lang="en-US" sz="2600" b="1" dirty="0">
                <a:solidFill>
                  <a:srgbClr val="2B6CB0"/>
                </a:solidFill>
                <a:latin typeface="Cambria" pitchFamily="34" charset="0"/>
                <a:ea typeface="Cambria" pitchFamily="34" charset="-122"/>
                <a:cs typeface="Cambria" pitchFamily="34" charset="-120"/>
              </a:rPr>
              <a:t>0.95–1.3×</a:t>
            </a:r>
            <a:endParaRPr lang="en-US" sz="2600" dirty="0"/>
          </a:p>
        </p:txBody>
      </p:sp>
      <p:sp>
        <p:nvSpPr>
          <p:cNvPr id="24" name="Text 18"/>
          <p:cNvSpPr/>
          <p:nvPr/>
        </p:nvSpPr>
        <p:spPr>
          <a:xfrm>
            <a:off x="822960" y="5056632"/>
            <a:ext cx="3063240" cy="640080"/>
          </a:xfrm>
          <a:prstGeom prst="rect">
            <a:avLst/>
          </a:prstGeom>
          <a:noFill/>
          <a:ln/>
        </p:spPr>
        <p:txBody>
          <a:bodyPr wrap="square" lIns="0" tIns="0" rIns="0" bIns="0" rtlCol="0" anchor="t"/>
          <a:lstStyle/>
          <a:p>
            <a:pPr indent="0" marL="0">
              <a:buNone/>
            </a:pPr>
            <a:r>
              <a:rPr lang="en-US" sz="1300" dirty="0">
                <a:solidFill>
                  <a:srgbClr val="46525E"/>
                </a:solidFill>
                <a:latin typeface="Calibri" pitchFamily="34" charset="0"/>
                <a:ea typeface="Calibri" pitchFamily="34" charset="-122"/>
                <a:cs typeface="Calibri" pitchFamily="34" charset="-120"/>
              </a:rPr>
              <a:t>Simulated charge time vs the independent hand-calc bound, cold start.</a:t>
            </a:r>
            <a:endParaRPr lang="en-US" sz="1300" dirty="0"/>
          </a:p>
        </p:txBody>
      </p:sp>
      <p:sp>
        <p:nvSpPr>
          <p:cNvPr id="25" name="Shape 19"/>
          <p:cNvSpPr/>
          <p:nvPr/>
        </p:nvSpPr>
        <p:spPr>
          <a:xfrm>
            <a:off x="4311396" y="4160520"/>
            <a:ext cx="3566160" cy="1645920"/>
          </a:xfrm>
          <a:prstGeom prst="roundRect">
            <a:avLst>
              <a:gd name="adj" fmla="val 4444"/>
            </a:avLst>
          </a:prstGeom>
          <a:solidFill>
            <a:srgbClr val="F2F4F7"/>
          </a:solidFill>
          <a:ln w="12700">
            <a:solidFill>
              <a:srgbClr val="F2F4F7"/>
            </a:solidFill>
            <a:prstDash val="solid"/>
          </a:ln>
        </p:spPr>
      </p:sp>
      <p:sp>
        <p:nvSpPr>
          <p:cNvPr id="26" name="Shape 20"/>
          <p:cNvSpPr/>
          <p:nvPr/>
        </p:nvSpPr>
        <p:spPr>
          <a:xfrm>
            <a:off x="4585716" y="4434840"/>
            <a:ext cx="502920" cy="502920"/>
          </a:xfrm>
          <a:prstGeom prst="ellipse">
            <a:avLst/>
          </a:prstGeom>
          <a:solidFill>
            <a:srgbClr val="2B6CB0"/>
          </a:solidFill>
          <a:ln w="12700">
            <a:solidFill>
              <a:srgbClr val="2B6CB0"/>
            </a:solidFill>
            <a:prstDash val="solid"/>
          </a:ln>
        </p:spPr>
      </p:sp>
      <p:pic>
        <p:nvPicPr>
          <p:cNvPr id="27" name="Image 4" descr="preencoded.png">    </p:cNvPr>
          <p:cNvPicPr>
            <a:picLocks noChangeAspect="1"/>
          </p:cNvPicPr>
          <p:nvPr/>
        </p:nvPicPr>
        <p:blipFill>
          <a:blip r:embed="rId5"/>
          <a:stretch>
            <a:fillRect/>
          </a:stretch>
        </p:blipFill>
        <p:spPr>
          <a:xfrm>
            <a:off x="4706417" y="4555541"/>
            <a:ext cx="261518" cy="261518"/>
          </a:xfrm>
          <a:prstGeom prst="rect">
            <a:avLst/>
          </a:prstGeom>
        </p:spPr>
      </p:pic>
      <p:sp>
        <p:nvSpPr>
          <p:cNvPr id="28" name="Text 21"/>
          <p:cNvSpPr/>
          <p:nvPr/>
        </p:nvSpPr>
        <p:spPr>
          <a:xfrm>
            <a:off x="5271516" y="4407408"/>
            <a:ext cx="2423160" cy="548640"/>
          </a:xfrm>
          <a:prstGeom prst="rect">
            <a:avLst/>
          </a:prstGeom>
          <a:noFill/>
          <a:ln/>
        </p:spPr>
        <p:txBody>
          <a:bodyPr wrap="square" lIns="0" tIns="0" rIns="0" bIns="0" rtlCol="0" anchor="ctr"/>
          <a:lstStyle/>
          <a:p>
            <a:pPr indent="0" marL="0">
              <a:buNone/>
            </a:pPr>
            <a:r>
              <a:rPr lang="en-US" sz="2600" b="1" dirty="0">
                <a:solidFill>
                  <a:srgbClr val="2B6CB0"/>
                </a:solidFill>
                <a:latin typeface="Cambria" pitchFamily="34" charset="0"/>
                <a:ea typeface="Cambria" pitchFamily="34" charset="-122"/>
                <a:cs typeface="Cambria" pitchFamily="34" charset="-120"/>
              </a:rPr>
              <a:t>≤ 45 °C</a:t>
            </a:r>
            <a:endParaRPr lang="en-US" sz="2600" dirty="0"/>
          </a:p>
        </p:txBody>
      </p:sp>
      <p:sp>
        <p:nvSpPr>
          <p:cNvPr id="29" name="Text 22"/>
          <p:cNvSpPr/>
          <p:nvPr/>
        </p:nvSpPr>
        <p:spPr>
          <a:xfrm>
            <a:off x="4585716" y="5056632"/>
            <a:ext cx="3063240" cy="640080"/>
          </a:xfrm>
          <a:prstGeom prst="rect">
            <a:avLst/>
          </a:prstGeom>
          <a:noFill/>
          <a:ln/>
        </p:spPr>
        <p:txBody>
          <a:bodyPr wrap="square" lIns="0" tIns="0" rIns="0" bIns="0" rtlCol="0" anchor="t"/>
          <a:lstStyle/>
          <a:p>
            <a:pPr indent="0" marL="0">
              <a:buNone/>
            </a:pPr>
            <a:r>
              <a:rPr lang="en-US" sz="1300" dirty="0">
                <a:solidFill>
                  <a:srgbClr val="46525E"/>
                </a:solidFill>
                <a:latin typeface="Calibri" pitchFamily="34" charset="0"/>
                <a:ea typeface="Calibri" pitchFamily="34" charset="-122"/>
                <a:cs typeface="Calibri" pitchFamily="34" charset="-120"/>
              </a:rPr>
              <a:t>Observer-controlled charge peak with ±30 % error in its cooling model.</a:t>
            </a:r>
            <a:endParaRPr lang="en-US" sz="1300" dirty="0"/>
          </a:p>
        </p:txBody>
      </p:sp>
      <p:sp>
        <p:nvSpPr>
          <p:cNvPr id="30" name="Shape 23"/>
          <p:cNvSpPr/>
          <p:nvPr/>
        </p:nvSpPr>
        <p:spPr>
          <a:xfrm>
            <a:off x="8074152" y="4160520"/>
            <a:ext cx="3566160" cy="1645920"/>
          </a:xfrm>
          <a:prstGeom prst="roundRect">
            <a:avLst>
              <a:gd name="adj" fmla="val 4444"/>
            </a:avLst>
          </a:prstGeom>
          <a:solidFill>
            <a:srgbClr val="F2F4F7"/>
          </a:solidFill>
          <a:ln w="12700">
            <a:solidFill>
              <a:srgbClr val="F2F4F7"/>
            </a:solidFill>
            <a:prstDash val="solid"/>
          </a:ln>
        </p:spPr>
      </p:sp>
      <p:sp>
        <p:nvSpPr>
          <p:cNvPr id="31" name="Shape 24"/>
          <p:cNvSpPr/>
          <p:nvPr/>
        </p:nvSpPr>
        <p:spPr>
          <a:xfrm>
            <a:off x="8348472" y="4434840"/>
            <a:ext cx="502920" cy="502920"/>
          </a:xfrm>
          <a:prstGeom prst="ellipse">
            <a:avLst/>
          </a:prstGeom>
          <a:solidFill>
            <a:srgbClr val="2B6CB0"/>
          </a:solidFill>
          <a:ln w="12700">
            <a:solidFill>
              <a:srgbClr val="2B6CB0"/>
            </a:solidFill>
            <a:prstDash val="solid"/>
          </a:ln>
        </p:spPr>
      </p:sp>
      <p:pic>
        <p:nvPicPr>
          <p:cNvPr id="32" name="Image 5" descr="preencoded.png">    </p:cNvPr>
          <p:cNvPicPr>
            <a:picLocks noChangeAspect="1"/>
          </p:cNvPicPr>
          <p:nvPr/>
        </p:nvPicPr>
        <p:blipFill>
          <a:blip r:embed="rId6"/>
          <a:stretch>
            <a:fillRect/>
          </a:stretch>
        </p:blipFill>
        <p:spPr>
          <a:xfrm>
            <a:off x="8469173" y="4555541"/>
            <a:ext cx="261518" cy="261518"/>
          </a:xfrm>
          <a:prstGeom prst="rect">
            <a:avLst/>
          </a:prstGeom>
        </p:spPr>
      </p:pic>
      <p:sp>
        <p:nvSpPr>
          <p:cNvPr id="33" name="Text 25"/>
          <p:cNvSpPr/>
          <p:nvPr/>
        </p:nvSpPr>
        <p:spPr>
          <a:xfrm>
            <a:off x="9034272" y="4407408"/>
            <a:ext cx="2423160" cy="548640"/>
          </a:xfrm>
          <a:prstGeom prst="rect">
            <a:avLst/>
          </a:prstGeom>
          <a:noFill/>
          <a:ln/>
        </p:spPr>
        <p:txBody>
          <a:bodyPr wrap="square" lIns="0" tIns="0" rIns="0" bIns="0" rtlCol="0" anchor="ctr"/>
          <a:lstStyle/>
          <a:p>
            <a:pPr indent="0" marL="0">
              <a:buNone/>
            </a:pPr>
            <a:r>
              <a:rPr lang="en-US" sz="2600" b="1" dirty="0">
                <a:solidFill>
                  <a:srgbClr val="2B6CB0"/>
                </a:solidFill>
                <a:latin typeface="Cambria" pitchFamily="34" charset="0"/>
                <a:ea typeface="Cambria" pitchFamily="34" charset="-122"/>
                <a:cs typeface="Cambria" pitchFamily="34" charset="-120"/>
              </a:rPr>
              <a:t>23 tests</a:t>
            </a:r>
            <a:endParaRPr lang="en-US" sz="2600" dirty="0"/>
          </a:p>
        </p:txBody>
      </p:sp>
      <p:sp>
        <p:nvSpPr>
          <p:cNvPr id="34" name="Text 26"/>
          <p:cNvSpPr/>
          <p:nvPr/>
        </p:nvSpPr>
        <p:spPr>
          <a:xfrm>
            <a:off x="8348472" y="5056632"/>
            <a:ext cx="3063240" cy="640080"/>
          </a:xfrm>
          <a:prstGeom prst="rect">
            <a:avLst/>
          </a:prstGeom>
          <a:noFill/>
          <a:ln/>
        </p:spPr>
        <p:txBody>
          <a:bodyPr wrap="square" lIns="0" tIns="0" rIns="0" bIns="0" rtlCol="0" anchor="t"/>
          <a:lstStyle/>
          <a:p>
            <a:pPr indent="0" marL="0">
              <a:buNone/>
            </a:pPr>
            <a:r>
              <a:rPr lang="en-US" sz="1300" dirty="0">
                <a:solidFill>
                  <a:srgbClr val="46525E"/>
                </a:solidFill>
                <a:latin typeface="Calibri" pitchFamily="34" charset="0"/>
                <a:ea typeface="Calibri" pitchFamily="34" charset="-122"/>
                <a:cs typeface="Calibri" pitchFamily="34" charset="-120"/>
              </a:rPr>
              <a:t>Physics, conflicts, calibration, ranking and report, run in ~90 s.</a:t>
            </a:r>
            <a:endParaRPr lang="en-US" sz="1300" dirty="0"/>
          </a:p>
        </p:txBody>
      </p:sp>
      <p:sp>
        <p:nvSpPr>
          <p:cNvPr id="35" name="Text 27"/>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Source: tests/test_packforge.py · model conventions in CLAUDE.md</a:t>
            </a:r>
            <a:endParaRPr lang="en-US" sz="1000" dirty="0"/>
          </a:p>
        </p:txBody>
      </p:sp>
      <p:sp>
        <p:nvSpPr>
          <p:cNvPr id="36" name="Text 28"/>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RESULTS · 40 °C, PLUGGED IN RIGHT AFTER THE RIDE</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Four designs, one study, same scenarios</a:t>
            </a:r>
            <a:endParaRPr lang="en-US" sz="3400" dirty="0"/>
          </a:p>
        </p:txBody>
      </p:sp>
      <p:graphicFrame>
        <p:nvGraphicFramePr>
          <p:cNvPr id="4" name="Chart 0" descr=""/>
          <p:cNvGraphicFramePr/>
          <p:nvPr/>
        </p:nvGraphicFramePr>
        <p:xfrm>
          <a:off x="548640" y="1463040"/>
          <a:ext cx="594360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720840" y="1554480"/>
          <a:ext cx="4919472" cy="914400"/>
        </p:xfrm>
        <a:graphic>
          <a:graphicData uri="http://schemas.openxmlformats.org/drawingml/2006/table">
            <a:tbl>
              <a:tblPr/>
              <a:tblGrid>
                <a:gridCol w="1298448"/>
                <a:gridCol w="1005840"/>
                <a:gridCol w="777240"/>
                <a:gridCol w="1060704"/>
                <a:gridCol w="77724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4202B"/>
                    </a:solidFill>
                  </a:tcPr>
                </a:tc>
              </a:tr>
              <a:tr h="457200">
                <a:tc>
                  <a:txBody>
                    <a:bodyPr/>
                    <a:lstStyle/>
                    <a:p>
                      <a:pPr indent="0" marL="0">
                        <a:buNone/>
                      </a:pPr>
                      <a:r>
                        <a:rPr lang="en-US" sz="1200" b="1" dirty="0">
                          <a:solidFill>
                            <a:srgbClr val="14202B"/>
                          </a:solidFill>
                          <a:latin typeface="Calibri" pitchFamily="34" charset="0"/>
                          <a:ea typeface="Calibri" pitchFamily="34" charset="-122"/>
                          <a:cs typeface="Calibri" pitchFamily="34" charset="-120"/>
                        </a:rPr>
                        <a:t>Peak T, charging</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b="1" dirty="0">
                          <a:solidFill>
                            <a:srgbClr val="B5400F"/>
                          </a:solidFill>
                          <a:latin typeface="Calibri" pitchFamily="34" charset="0"/>
                          <a:ea typeface="Calibri" pitchFamily="34" charset="-122"/>
                          <a:cs typeface="Calibri" pitchFamily="34" charset="-120"/>
                        </a:rPr>
                        <a:t>47.6 °C fail</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44.0 °C</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43.7 °C</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44.5 °C</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457200">
                <a:tc>
                  <a:txBody>
                    <a:bodyPr/>
                    <a:lstStyle/>
                    <a:p>
                      <a:pPr indent="0" marL="0">
                        <a:buNone/>
                      </a:pPr>
                      <a:r>
                        <a:rPr lang="en-US" sz="1200" b="1" dirty="0">
                          <a:solidFill>
                            <a:srgbClr val="14202B"/>
                          </a:solidFill>
                          <a:latin typeface="Calibri" pitchFamily="34" charset="0"/>
                          <a:ea typeface="Calibri" pitchFamily="34" charset="-122"/>
                          <a:cs typeface="Calibri" pitchFamily="34" charset="-120"/>
                        </a:rPr>
                        <a:t>Peak T, riding</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53.4 °C</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44.1 °C</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43.1 °C</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53.4 °C</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457200">
                <a:tc>
                  <a:txBody>
                    <a:bodyPr/>
                    <a:lstStyle/>
                    <a:p>
                      <a:pPr indent="0" marL="0">
                        <a:buNone/>
                      </a:pPr>
                      <a:r>
                        <a:rPr lang="en-US" sz="1200" b="1" dirty="0">
                          <a:solidFill>
                            <a:srgbClr val="14202B"/>
                          </a:solidFill>
                          <a:latin typeface="Calibri" pitchFamily="34" charset="0"/>
                          <a:ea typeface="Calibri" pitchFamily="34" charset="-122"/>
                          <a:cs typeface="Calibri" pitchFamily="34" charset="-120"/>
                        </a:rPr>
                        <a:t>Blind spot</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b="1" dirty="0">
                          <a:solidFill>
                            <a:srgbClr val="B5400F"/>
                          </a:solidFill>
                          <a:latin typeface="Calibri" pitchFamily="34" charset="0"/>
                          <a:ea typeface="Calibri" pitchFamily="34" charset="-122"/>
                          <a:cs typeface="Calibri" pitchFamily="34" charset="-120"/>
                        </a:rPr>
                        <a:t>3.2 K warn</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0.0 K</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0.1 K</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0.2 K</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457200">
                <a:tc>
                  <a:txBody>
                    <a:bodyPr/>
                    <a:lstStyle/>
                    <a:p>
                      <a:pPr indent="0" marL="0">
                        <a:buNone/>
                      </a:pPr>
                      <a:r>
                        <a:rPr lang="en-US" sz="1200" b="1" dirty="0">
                          <a:solidFill>
                            <a:srgbClr val="14202B"/>
                          </a:solidFill>
                          <a:latin typeface="Calibri" pitchFamily="34" charset="0"/>
                          <a:ea typeface="Calibri" pitchFamily="34" charset="-122"/>
                          <a:cs typeface="Calibri" pitchFamily="34" charset="-120"/>
                        </a:rPr>
                        <a:t>Pack mass</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12.3 kg</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13.5 kg</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b="1" dirty="0">
                          <a:solidFill>
                            <a:srgbClr val="B5400F"/>
                          </a:solidFill>
                          <a:latin typeface="Calibri" pitchFamily="34" charset="0"/>
                          <a:ea typeface="Calibri" pitchFamily="34" charset="-122"/>
                          <a:cs typeface="Calibri" pitchFamily="34" charset="-120"/>
                        </a:rPr>
                        <a:t>22.7 kg warn</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12.3 kg</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457200">
                <a:tc>
                  <a:txBody>
                    <a:bodyPr/>
                    <a:lstStyle/>
                    <a:p>
                      <a:pPr indent="0" marL="0">
                        <a:buNone/>
                      </a:pPr>
                      <a:r>
                        <a:rPr lang="en-US" sz="1200" b="1" dirty="0">
                          <a:solidFill>
                            <a:srgbClr val="14202B"/>
                          </a:solidFill>
                          <a:latin typeface="Calibri" pitchFamily="34" charset="0"/>
                          <a:ea typeface="Calibri" pitchFamily="34" charset="-122"/>
                          <a:cs typeface="Calibri" pitchFamily="34" charset="-120"/>
                        </a:rPr>
                        <a:t>₹ / usable kWh</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23.1 k</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24.8 k</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18.2 k</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23.1 k</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457200">
                <a:tc>
                  <a:txBody>
                    <a:bodyPr/>
                    <a:lstStyle/>
                    <a:p>
                      <a:pPr indent="0" marL="0">
                        <a:buNone/>
                      </a:pPr>
                      <a:r>
                        <a:rPr lang="en-US" sz="1200" b="1" dirty="0">
                          <a:solidFill>
                            <a:srgbClr val="14202B"/>
                          </a:solidFill>
                          <a:latin typeface="Calibri" pitchFamily="34" charset="0"/>
                          <a:ea typeface="Calibri" pitchFamily="34" charset="-122"/>
                          <a:cs typeface="Calibri" pitchFamily="34" charset="-120"/>
                        </a:rPr>
                        <a:t>Cycle life (est.)</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~370</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~405</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~1,290</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~370</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r h="457200">
                <a:tc>
                  <a:txBody>
                    <a:bodyPr/>
                    <a:lstStyle/>
                    <a:p>
                      <a:pPr indent="0" marL="0">
                        <a:buNone/>
                      </a:pPr>
                      <a:r>
                        <a:rPr lang="en-US" sz="1200" b="1" dirty="0">
                          <a:solidFill>
                            <a:srgbClr val="14202B"/>
                          </a:solidFill>
                          <a:latin typeface="Calibri" pitchFamily="34" charset="0"/>
                          <a:ea typeface="Calibri" pitchFamily="34" charset="-122"/>
                          <a:cs typeface="Calibri" pitchFamily="34" charset="-120"/>
                        </a:rPr>
                        <a:t>Ranking</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disqualified</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2nd</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b="1" dirty="0">
                          <a:solidFill>
                            <a:srgbClr val="2B6CB0"/>
                          </a:solidFill>
                          <a:latin typeface="Calibri" pitchFamily="34" charset="0"/>
                          <a:ea typeface="Calibri" pitchFamily="34" charset="-122"/>
                          <a:cs typeface="Calibri" pitchFamily="34" charset="-120"/>
                        </a:rPr>
                        <a:t>1st</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algn="ctr" indent="0" marL="0">
                        <a:buNone/>
                      </a:pPr>
                      <a:r>
                        <a:rPr lang="en-US" sz="1200" dirty="0">
                          <a:solidFill>
                            <a:srgbClr val="14202B"/>
                          </a:solidFill>
                          <a:latin typeface="Calibri" pitchFamily="34" charset="0"/>
                          <a:ea typeface="Calibri" pitchFamily="34" charset="-122"/>
                          <a:cs typeface="Calibri" pitchFamily="34" charset="-120"/>
                        </a:rPr>
                        <a:t>3rd</a:t>
                      </a:r>
                      <a:endParaRPr lang="en-US" sz="1200" dirty="0">
                        <a:latin typeface="Calibri" charset="0"/>
                        <a:ea typeface="Calibri" charset="0"/>
                        <a:cs typeface="Calibri" charset="0"/>
                      </a:endParaRPr>
                    </a:p>
                  </a:txBody>
                  <a:tcPr marL="54864" marR="54864" marT="27432" marB="27432"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r>
            </a:tbl>
          </a:graphicData>
        </a:graphic>
      </p:graphicFrame>
      <p:sp>
        <p:nvSpPr>
          <p:cNvPr id="6" name="Text 2"/>
          <p:cNvSpPr/>
          <p:nvPr/>
        </p:nvSpPr>
        <p:spPr>
          <a:xfrm>
            <a:off x="6720840" y="5349240"/>
            <a:ext cx="4919472" cy="548640"/>
          </a:xfrm>
          <a:prstGeom prst="rect">
            <a:avLst/>
          </a:prstGeom>
          <a:noFill/>
          <a:ln/>
        </p:spPr>
        <p:txBody>
          <a:bodyPr wrap="square" lIns="0" tIns="0" rIns="0" bIns="0" rtlCol="0" anchor="ctr"/>
          <a:lstStyle/>
          <a:p>
            <a:pPr indent="0" marL="0">
              <a:buNone/>
            </a:pPr>
            <a:r>
              <a:rPr lang="en-US" sz="1100" i="1" dirty="0">
                <a:solidFill>
                  <a:srgbClr val="66717C"/>
                </a:solidFill>
                <a:latin typeface="Calibri" pitchFamily="34" charset="0"/>
                <a:ea typeface="Calibri" pitchFamily="34" charset="-122"/>
                <a:cs typeface="Calibri" pitchFamily="34" charset="-120"/>
              </a:rPr>
              <a:t>Cycle life is a rule of thumb (not validated); costs and masses are generic class values. B’s LFP cell is not validated.</a:t>
            </a:r>
            <a:endParaRPr lang="en-US" sz="1100" dirty="0"/>
          </a:p>
        </p:txBody>
      </p:sp>
      <p:sp>
        <p:nvSpPr>
          <p:cNvPr id="7" name="Text 3"/>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Source: python -m packforge (studies/escooter_48v), calibrated NMC cell</a:t>
            </a:r>
            <a:endParaRPr lang="en-US" sz="1000" dirty="0"/>
          </a:p>
        </p:txBody>
      </p:sp>
      <p:sp>
        <p:nvSpPr>
          <p:cNvPr id="8" name="Text 4"/>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THE RECOMMENDATION</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Three answers, one for each situation</a:t>
            </a:r>
            <a:endParaRPr lang="en-US" sz="3400" dirty="0"/>
          </a:p>
        </p:txBody>
      </p:sp>
      <p:sp>
        <p:nvSpPr>
          <p:cNvPr id="4" name="Shape 2"/>
          <p:cNvSpPr/>
          <p:nvPr/>
        </p:nvSpPr>
        <p:spPr>
          <a:xfrm>
            <a:off x="548640" y="1554480"/>
            <a:ext cx="3566160" cy="4526280"/>
          </a:xfrm>
          <a:prstGeom prst="roundRect">
            <a:avLst>
              <a:gd name="adj" fmla="val 2051"/>
            </a:avLst>
          </a:prstGeom>
          <a:solidFill>
            <a:srgbClr val="14202B"/>
          </a:solidFill>
          <a:ln w="12700">
            <a:solidFill>
              <a:srgbClr val="14202B"/>
            </a:solidFill>
            <a:prstDash val="solid"/>
          </a:ln>
        </p:spPr>
      </p:sp>
      <p:sp>
        <p:nvSpPr>
          <p:cNvPr id="5" name="Shape 3"/>
          <p:cNvSpPr/>
          <p:nvPr/>
        </p:nvSpPr>
        <p:spPr>
          <a:xfrm>
            <a:off x="822960" y="1783080"/>
            <a:ext cx="548640" cy="548640"/>
          </a:xfrm>
          <a:prstGeom prst="ellipse">
            <a:avLst/>
          </a:prstGeom>
          <a:solidFill>
            <a:srgbClr val="D9480F"/>
          </a:solidFill>
          <a:ln w="12700">
            <a:solidFill>
              <a:srgbClr val="D9480F"/>
            </a:solidFill>
            <a:prstDash val="solid"/>
          </a:ln>
        </p:spPr>
      </p:sp>
      <p:pic>
        <p:nvPicPr>
          <p:cNvPr id="6" name="Image 0" descr="preencoded.png">    </p:cNvPr>
          <p:cNvPicPr>
            <a:picLocks noChangeAspect="1"/>
          </p:cNvPicPr>
          <p:nvPr/>
        </p:nvPicPr>
        <p:blipFill>
          <a:blip r:embed="rId1"/>
          <a:stretch>
            <a:fillRect/>
          </a:stretch>
        </p:blipFill>
        <p:spPr>
          <a:xfrm>
            <a:off x="954634" y="1914754"/>
            <a:ext cx="285293" cy="285293"/>
          </a:xfrm>
          <a:prstGeom prst="rect">
            <a:avLst/>
          </a:prstGeom>
        </p:spPr>
      </p:pic>
      <p:sp>
        <p:nvSpPr>
          <p:cNvPr id="7" name="Text 4"/>
          <p:cNvSpPr/>
          <p:nvPr/>
        </p:nvSpPr>
        <p:spPr>
          <a:xfrm>
            <a:off x="822960" y="2468880"/>
            <a:ext cx="3017520" cy="868680"/>
          </a:xfrm>
          <a:prstGeom prst="rect">
            <a:avLst/>
          </a:prstGeom>
          <a:noFill/>
          <a:ln/>
        </p:spPr>
        <p:txBody>
          <a:bodyPr wrap="square" lIns="0" tIns="0" rIns="0" bIns="0" rtlCol="0" anchor="t"/>
          <a:lstStyle/>
          <a:p>
            <a:pPr indent="0" marL="0">
              <a:spcAft>
                <a:spcPts val="300"/>
              </a:spcAft>
              <a:buNone/>
            </a:pPr>
            <a:r>
              <a:rPr lang="en-US" sz="1100" b="1" spc="100" kern="0" dirty="0">
                <a:solidFill>
                  <a:srgbClr val="F2874A"/>
                </a:solidFill>
                <a:latin typeface="Calibri" pitchFamily="34" charset="0"/>
                <a:ea typeface="Calibri" pitchFamily="34" charset="-122"/>
                <a:cs typeface="Calibri" pitchFamily="34" charset="-120"/>
              </a:rPr>
              <a:t>RECOMMENDED</a:t>
            </a:r>
            <a:endParaRPr lang="en-US" sz="1100" dirty="0"/>
          </a:p>
          <a:p>
            <a:pPr indent="0" marL="0">
              <a:spcAft>
                <a:spcPts val="300"/>
              </a:spcAft>
              <a:buNone/>
            </a:pPr>
            <a:r>
              <a:rPr lang="en-US" sz="1700" b="1" dirty="0">
                <a:solidFill>
                  <a:srgbClr val="FFFFFF"/>
                </a:solidFill>
                <a:latin typeface="Calibri" pitchFamily="34" charset="0"/>
                <a:ea typeface="Calibri" pitchFamily="34" charset="-122"/>
                <a:cs typeface="Calibri" pitchFamily="34" charset="-120"/>
              </a:rPr>
              <a:t>B · LFP 16S8P, passive</a:t>
            </a:r>
            <a:endParaRPr lang="en-US" sz="1100" dirty="0"/>
          </a:p>
        </p:txBody>
      </p:sp>
      <p:sp>
        <p:nvSpPr>
          <p:cNvPr id="8" name="Text 5"/>
          <p:cNvSpPr/>
          <p:nvPr/>
        </p:nvSpPr>
        <p:spPr>
          <a:xfrm>
            <a:off x="822960" y="3337560"/>
            <a:ext cx="3017520" cy="731520"/>
          </a:xfrm>
          <a:prstGeom prst="rect">
            <a:avLst/>
          </a:prstGeom>
          <a:noFill/>
          <a:ln/>
        </p:spPr>
        <p:txBody>
          <a:bodyPr wrap="square" lIns="0" tIns="0" rIns="0" bIns="0" rtlCol="0" anchor="ctr"/>
          <a:lstStyle/>
          <a:p>
            <a:pPr indent="0" marL="0">
              <a:buNone/>
            </a:pPr>
            <a:r>
              <a:rPr lang="en-US" sz="4000" b="1" dirty="0">
                <a:solidFill>
                  <a:srgbClr val="F2874A"/>
                </a:solidFill>
                <a:latin typeface="Cambria" pitchFamily="34" charset="0"/>
                <a:ea typeface="Cambria" pitchFamily="34" charset="-122"/>
                <a:cs typeface="Cambria" pitchFamily="34" charset="-120"/>
              </a:rPr>
              <a:t>97 min</a:t>
            </a:r>
            <a:endParaRPr lang="en-US" sz="4000" dirty="0"/>
          </a:p>
        </p:txBody>
      </p:sp>
      <p:sp>
        <p:nvSpPr>
          <p:cNvPr id="9" name="Text 6"/>
          <p:cNvSpPr/>
          <p:nvPr/>
        </p:nvSpPr>
        <p:spPr>
          <a:xfrm>
            <a:off x="822960" y="4114800"/>
            <a:ext cx="3017520" cy="1828800"/>
          </a:xfrm>
          <a:prstGeom prst="rect">
            <a:avLst/>
          </a:prstGeom>
          <a:noFill/>
          <a:ln/>
        </p:spPr>
        <p:txBody>
          <a:bodyPr wrap="square" lIns="0" tIns="0" rIns="0" bIns="0" rtlCol="0" anchor="t"/>
          <a:lstStyle/>
          <a:p>
            <a:pPr indent="0" marL="0">
              <a:spcAft>
                <a:spcPts val="600"/>
              </a:spcAft>
              <a:buNone/>
            </a:pPr>
            <a:r>
              <a:rPr lang="en-US" sz="1300" i="1" dirty="0">
                <a:solidFill>
                  <a:srgbClr val="B9C4CC"/>
                </a:solidFill>
                <a:latin typeface="Calibri" pitchFamily="34" charset="0"/>
                <a:ea typeface="Calibri" pitchFamily="34" charset="-122"/>
                <a:cs typeface="Calibri" pitchFamily="34" charset="-120"/>
              </a:rPr>
              <a:t>plug-in → 80 % after a hot ride</a:t>
            </a:r>
            <a:endParaRPr lang="en-US" sz="1300" dirty="0"/>
          </a:p>
          <a:p>
            <a:pPr indent="0" marL="0">
              <a:spcAft>
                <a:spcPts val="600"/>
              </a:spcAft>
              <a:buNone/>
            </a:pPr>
            <a:r>
              <a:rPr lang="en-US" sz="1300" dirty="0">
                <a:solidFill>
                  <a:srgbClr val="B9C4CC"/>
                </a:solidFill>
                <a:latin typeface="Calibri" pitchFamily="34" charset="0"/>
                <a:ea typeface="Calibri" pitchFamily="34" charset="-122"/>
                <a:cs typeface="Calibri" pitchFamily="34" charset="-120"/>
              </a:rPr>
              <a:t>Cheapest per kWh (₹18.2 k) and ~3× the life (~1,290 cycles).</a:t>
            </a:r>
            <a:endParaRPr lang="en-US" sz="1300" dirty="0"/>
          </a:p>
          <a:p>
            <a:pPr indent="0" marL="0">
              <a:spcAft>
                <a:spcPts val="600"/>
              </a:spcAft>
              <a:buNone/>
            </a:pPr>
            <a:r>
              <a:rPr lang="en-US" sz="1300" dirty="0">
                <a:solidFill>
                  <a:srgbClr val="B9C4CC"/>
                </a:solidFill>
                <a:latin typeface="Calibri" pitchFamily="34" charset="0"/>
                <a:ea typeface="Calibri" pitchFamily="34" charset="-122"/>
                <a:cs typeface="Calibri" pitchFamily="34" charset="-120"/>
              </a:rPr>
              <a:t>Trade-off: 22.7 kg and 13.1 L — misses the mass and volume targets.</a:t>
            </a:r>
            <a:endParaRPr lang="en-US" sz="1300" dirty="0"/>
          </a:p>
        </p:txBody>
      </p:sp>
      <p:sp>
        <p:nvSpPr>
          <p:cNvPr id="10" name="Shape 7"/>
          <p:cNvSpPr/>
          <p:nvPr/>
        </p:nvSpPr>
        <p:spPr>
          <a:xfrm>
            <a:off x="4311396" y="1554480"/>
            <a:ext cx="3566160" cy="4526280"/>
          </a:xfrm>
          <a:prstGeom prst="roundRect">
            <a:avLst>
              <a:gd name="adj" fmla="val 2051"/>
            </a:avLst>
          </a:prstGeom>
          <a:solidFill>
            <a:srgbClr val="F2F4F7"/>
          </a:solidFill>
          <a:ln w="12700">
            <a:solidFill>
              <a:srgbClr val="F2F4F7"/>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585716" y="1783080"/>
            <a:ext cx="548640" cy="548640"/>
          </a:xfrm>
          <a:prstGeom prst="ellipse">
            <a:avLst/>
          </a:prstGeom>
          <a:solidFill>
            <a:srgbClr val="2B6CB0"/>
          </a:solidFill>
          <a:ln w="12700">
            <a:solidFill>
              <a:srgbClr val="2B6CB0"/>
            </a:solidFill>
            <a:prstDash val="solid"/>
          </a:ln>
        </p:spPr>
      </p:sp>
      <p:pic>
        <p:nvPicPr>
          <p:cNvPr id="12" name="Image 1" descr="preencoded.png">    </p:cNvPr>
          <p:cNvPicPr>
            <a:picLocks noChangeAspect="1"/>
          </p:cNvPicPr>
          <p:nvPr/>
        </p:nvPicPr>
        <p:blipFill>
          <a:blip r:embed="rId2"/>
          <a:stretch>
            <a:fillRect/>
          </a:stretch>
        </p:blipFill>
        <p:spPr>
          <a:xfrm>
            <a:off x="4717390" y="1914754"/>
            <a:ext cx="285293" cy="285293"/>
          </a:xfrm>
          <a:prstGeom prst="rect">
            <a:avLst/>
          </a:prstGeom>
        </p:spPr>
      </p:pic>
      <p:sp>
        <p:nvSpPr>
          <p:cNvPr id="13" name="Text 9"/>
          <p:cNvSpPr/>
          <p:nvPr/>
        </p:nvSpPr>
        <p:spPr>
          <a:xfrm>
            <a:off x="4585716" y="2468880"/>
            <a:ext cx="3017520" cy="868680"/>
          </a:xfrm>
          <a:prstGeom prst="rect">
            <a:avLst/>
          </a:prstGeom>
          <a:noFill/>
          <a:ln/>
        </p:spPr>
        <p:txBody>
          <a:bodyPr wrap="square" lIns="0" tIns="0" rIns="0" bIns="0" rtlCol="0" anchor="t"/>
          <a:lstStyle/>
          <a:p>
            <a:pPr indent="0" marL="0">
              <a:spcAft>
                <a:spcPts val="300"/>
              </a:spcAft>
              <a:buNone/>
            </a:pPr>
            <a:r>
              <a:rPr lang="en-US" sz="1100" b="1" spc="100" kern="0" dirty="0">
                <a:solidFill>
                  <a:srgbClr val="2B6CB0"/>
                </a:solidFill>
                <a:latin typeface="Calibri" pitchFamily="34" charset="0"/>
                <a:ea typeface="Calibri" pitchFamily="34" charset="-122"/>
                <a:cs typeface="Calibri" pitchFamily="34" charset="-120"/>
              </a:rPr>
              <a:t>IF MASS AND VOLUME ARE HARD LIMITS</a:t>
            </a:r>
            <a:endParaRPr lang="en-US" sz="1100" dirty="0"/>
          </a:p>
          <a:p>
            <a:pPr indent="0" marL="0">
              <a:spcAft>
                <a:spcPts val="300"/>
              </a:spcAft>
              <a:buNone/>
            </a:pPr>
            <a:r>
              <a:rPr lang="en-US" sz="1700" b="1" dirty="0">
                <a:solidFill>
                  <a:srgbClr val="14202B"/>
                </a:solidFill>
                <a:latin typeface="Calibri" pitchFamily="34" charset="0"/>
                <a:ea typeface="Calibri" pitchFamily="34" charset="-122"/>
                <a:cs typeface="Calibri" pitchFamily="34" charset="-120"/>
              </a:rPr>
              <a:t>A · NMC + Al conduction plate</a:t>
            </a:r>
            <a:endParaRPr lang="en-US" sz="1100" dirty="0"/>
          </a:p>
        </p:txBody>
      </p:sp>
      <p:sp>
        <p:nvSpPr>
          <p:cNvPr id="14" name="Text 10"/>
          <p:cNvSpPr/>
          <p:nvPr/>
        </p:nvSpPr>
        <p:spPr>
          <a:xfrm>
            <a:off x="4585716" y="3337560"/>
            <a:ext cx="3017520" cy="731520"/>
          </a:xfrm>
          <a:prstGeom prst="rect">
            <a:avLst/>
          </a:prstGeom>
          <a:noFill/>
          <a:ln/>
        </p:spPr>
        <p:txBody>
          <a:bodyPr wrap="square" lIns="0" tIns="0" rIns="0" bIns="0" rtlCol="0" anchor="ctr"/>
          <a:lstStyle/>
          <a:p>
            <a:pPr indent="0" marL="0">
              <a:buNone/>
            </a:pPr>
            <a:r>
              <a:rPr lang="en-US" sz="4000" b="1" dirty="0">
                <a:solidFill>
                  <a:srgbClr val="14202B"/>
                </a:solidFill>
                <a:latin typeface="Cambria" pitchFamily="34" charset="0"/>
                <a:ea typeface="Cambria" pitchFamily="34" charset="-122"/>
                <a:cs typeface="Cambria" pitchFamily="34" charset="-120"/>
              </a:rPr>
              <a:t>92 min</a:t>
            </a:r>
            <a:endParaRPr lang="en-US" sz="4000" dirty="0"/>
          </a:p>
        </p:txBody>
      </p:sp>
      <p:sp>
        <p:nvSpPr>
          <p:cNvPr id="15" name="Text 11"/>
          <p:cNvSpPr/>
          <p:nvPr/>
        </p:nvSpPr>
        <p:spPr>
          <a:xfrm>
            <a:off x="4585716" y="4114800"/>
            <a:ext cx="3017520" cy="1828800"/>
          </a:xfrm>
          <a:prstGeom prst="rect">
            <a:avLst/>
          </a:prstGeom>
          <a:noFill/>
          <a:ln/>
        </p:spPr>
        <p:txBody>
          <a:bodyPr wrap="square" lIns="0" tIns="0" rIns="0" bIns="0" rtlCol="0" anchor="t"/>
          <a:lstStyle/>
          <a:p>
            <a:pPr indent="0" marL="0">
              <a:spcAft>
                <a:spcPts val="600"/>
              </a:spcAft>
              <a:buNone/>
            </a:pPr>
            <a:r>
              <a:rPr lang="en-US" sz="1300" i="1" dirty="0">
                <a:solidFill>
                  <a:srgbClr val="46525E"/>
                </a:solidFill>
                <a:latin typeface="Calibri" pitchFamily="34" charset="0"/>
                <a:ea typeface="Calibri" pitchFamily="34" charset="-122"/>
                <a:cs typeface="Calibri" pitchFamily="34" charset="-120"/>
              </a:rPr>
              <a:t>plug-in → 80 % after a hot ride</a:t>
            </a:r>
            <a:endParaRPr lang="en-US" sz="1300" dirty="0"/>
          </a:p>
          <a:p>
            <a:pPr indent="0" marL="0">
              <a:spcAft>
                <a:spcPts val="600"/>
              </a:spcAft>
              <a:buNone/>
            </a:pPr>
            <a:r>
              <a:rPr lang="en-US" sz="1300" dirty="0">
                <a:solidFill>
                  <a:srgbClr val="46525E"/>
                </a:solidFill>
                <a:latin typeface="Calibri" pitchFamily="34" charset="0"/>
                <a:ea typeface="Calibri" pitchFamily="34" charset="-122"/>
                <a:cs typeface="Calibri" pitchFamily="34" charset="-120"/>
              </a:rPr>
              <a:t>+₹2.7 k and +1.2 kg per pack vs the baseline (13.5 kg).</a:t>
            </a:r>
            <a:endParaRPr lang="en-US" sz="1300" dirty="0"/>
          </a:p>
          <a:p>
            <a:pPr indent="0" marL="0">
              <a:spcAft>
                <a:spcPts val="600"/>
              </a:spcAft>
              <a:buNone/>
            </a:pPr>
            <a:r>
              <a:rPr lang="en-US" sz="1300" dirty="0">
                <a:solidFill>
                  <a:srgbClr val="46525E"/>
                </a:solidFill>
                <a:latin typeface="Calibri" pitchFamily="34" charset="0"/>
                <a:ea typeface="Calibri" pitchFamily="34" charset="-122"/>
                <a:cs typeface="Calibri" pitchFamily="34" charset="-120"/>
              </a:rPr>
              <a:t>Most robust: the only design that still passes at 2× unmodelled heat.</a:t>
            </a:r>
            <a:endParaRPr lang="en-US" sz="1300" dirty="0"/>
          </a:p>
        </p:txBody>
      </p:sp>
      <p:sp>
        <p:nvSpPr>
          <p:cNvPr id="16" name="Shape 12"/>
          <p:cNvSpPr/>
          <p:nvPr/>
        </p:nvSpPr>
        <p:spPr>
          <a:xfrm>
            <a:off x="8074152" y="1554480"/>
            <a:ext cx="3566160" cy="4526280"/>
          </a:xfrm>
          <a:prstGeom prst="roundRect">
            <a:avLst>
              <a:gd name="adj" fmla="val 2051"/>
            </a:avLst>
          </a:prstGeom>
          <a:solidFill>
            <a:srgbClr val="F2F4F7"/>
          </a:solidFill>
          <a:ln w="12700">
            <a:solidFill>
              <a:srgbClr val="F2F4F7"/>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8348472" y="1783080"/>
            <a:ext cx="548640" cy="548640"/>
          </a:xfrm>
          <a:prstGeom prst="ellipse">
            <a:avLst/>
          </a:prstGeom>
          <a:solidFill>
            <a:srgbClr val="2B6CB0"/>
          </a:solidFill>
          <a:ln w="12700">
            <a:solidFill>
              <a:srgbClr val="2B6CB0"/>
            </a:solidFill>
            <a:prstDash val="solid"/>
          </a:ln>
        </p:spPr>
      </p:sp>
      <p:pic>
        <p:nvPicPr>
          <p:cNvPr id="18" name="Image 2" descr="preencoded.png">    </p:cNvPr>
          <p:cNvPicPr>
            <a:picLocks noChangeAspect="1"/>
          </p:cNvPicPr>
          <p:nvPr/>
        </p:nvPicPr>
        <p:blipFill>
          <a:blip r:embed="rId3"/>
          <a:stretch>
            <a:fillRect/>
          </a:stretch>
        </p:blipFill>
        <p:spPr>
          <a:xfrm>
            <a:off x="8480146" y="1914754"/>
            <a:ext cx="285293" cy="285293"/>
          </a:xfrm>
          <a:prstGeom prst="rect">
            <a:avLst/>
          </a:prstGeom>
        </p:spPr>
      </p:pic>
      <p:sp>
        <p:nvSpPr>
          <p:cNvPr id="19" name="Text 14"/>
          <p:cNvSpPr/>
          <p:nvPr/>
        </p:nvSpPr>
        <p:spPr>
          <a:xfrm>
            <a:off x="8348472" y="2468880"/>
            <a:ext cx="3017520" cy="868680"/>
          </a:xfrm>
          <a:prstGeom prst="rect">
            <a:avLst/>
          </a:prstGeom>
          <a:noFill/>
          <a:ln/>
        </p:spPr>
        <p:txBody>
          <a:bodyPr wrap="square" lIns="0" tIns="0" rIns="0" bIns="0" rtlCol="0" anchor="t"/>
          <a:lstStyle/>
          <a:p>
            <a:pPr indent="0" marL="0">
              <a:spcAft>
                <a:spcPts val="300"/>
              </a:spcAft>
              <a:buNone/>
            </a:pPr>
            <a:r>
              <a:rPr lang="en-US" sz="1100" b="1" spc="100" kern="0" dirty="0">
                <a:solidFill>
                  <a:srgbClr val="2B6CB0"/>
                </a:solidFill>
                <a:latin typeface="Calibri" pitchFamily="34" charset="0"/>
                <a:ea typeface="Calibri" pitchFamily="34" charset="-122"/>
                <a:cs typeface="Calibri" pitchFamily="34" charset="-120"/>
              </a:rPr>
              <a:t>RETROFIT FOR PACKS ALREADY BUILT</a:t>
            </a:r>
            <a:endParaRPr lang="en-US" sz="1100" dirty="0"/>
          </a:p>
          <a:p>
            <a:pPr indent="0" marL="0">
              <a:spcAft>
                <a:spcPts val="300"/>
              </a:spcAft>
              <a:buNone/>
            </a:pPr>
            <a:r>
              <a:rPr lang="en-US" sz="1700" b="1" dirty="0">
                <a:solidFill>
                  <a:srgbClr val="14202B"/>
                </a:solidFill>
                <a:latin typeface="Calibri" pitchFamily="34" charset="0"/>
                <a:ea typeface="Calibri" pitchFamily="34" charset="-122"/>
                <a:cs typeface="Calibri" pitchFamily="34" charset="-120"/>
              </a:rPr>
              <a:t>C · baseline + virtual hotspot sensor</a:t>
            </a:r>
            <a:endParaRPr lang="en-US" sz="1100" dirty="0"/>
          </a:p>
        </p:txBody>
      </p:sp>
      <p:sp>
        <p:nvSpPr>
          <p:cNvPr id="20" name="Text 15"/>
          <p:cNvSpPr/>
          <p:nvPr/>
        </p:nvSpPr>
        <p:spPr>
          <a:xfrm>
            <a:off x="8348472" y="3337560"/>
            <a:ext cx="3017520" cy="731520"/>
          </a:xfrm>
          <a:prstGeom prst="rect">
            <a:avLst/>
          </a:prstGeom>
          <a:noFill/>
          <a:ln/>
        </p:spPr>
        <p:txBody>
          <a:bodyPr wrap="square" lIns="0" tIns="0" rIns="0" bIns="0" rtlCol="0" anchor="ctr"/>
          <a:lstStyle/>
          <a:p>
            <a:pPr indent="0" marL="0">
              <a:buNone/>
            </a:pPr>
            <a:r>
              <a:rPr lang="en-US" sz="4000" b="1" dirty="0">
                <a:solidFill>
                  <a:srgbClr val="14202B"/>
                </a:solidFill>
                <a:latin typeface="Cambria" pitchFamily="34" charset="0"/>
                <a:ea typeface="Cambria" pitchFamily="34" charset="-122"/>
                <a:cs typeface="Cambria" pitchFamily="34" charset="-120"/>
              </a:rPr>
              <a:t>₹0</a:t>
            </a:r>
            <a:endParaRPr lang="en-US" sz="4000" dirty="0"/>
          </a:p>
        </p:txBody>
      </p:sp>
      <p:sp>
        <p:nvSpPr>
          <p:cNvPr id="21" name="Text 16"/>
          <p:cNvSpPr/>
          <p:nvPr/>
        </p:nvSpPr>
        <p:spPr>
          <a:xfrm>
            <a:off x="8348472" y="4114800"/>
            <a:ext cx="3017520" cy="1828800"/>
          </a:xfrm>
          <a:prstGeom prst="rect">
            <a:avLst/>
          </a:prstGeom>
          <a:noFill/>
          <a:ln/>
        </p:spPr>
        <p:txBody>
          <a:bodyPr wrap="square" lIns="0" tIns="0" rIns="0" bIns="0" rtlCol="0" anchor="t"/>
          <a:lstStyle/>
          <a:p>
            <a:pPr indent="0" marL="0">
              <a:spcAft>
                <a:spcPts val="600"/>
              </a:spcAft>
              <a:buNone/>
            </a:pPr>
            <a:r>
              <a:rPr lang="en-US" sz="1300" i="1" dirty="0">
                <a:solidFill>
                  <a:srgbClr val="46525E"/>
                </a:solidFill>
                <a:latin typeface="Calibri" pitchFamily="34" charset="0"/>
                <a:ea typeface="Calibri" pitchFamily="34" charset="-122"/>
                <a:cs typeface="Calibri" pitchFamily="34" charset="-120"/>
              </a:rPr>
              <a:t>per pack — BMS settings only</a:t>
            </a:r>
            <a:endParaRPr lang="en-US" sz="1300" dirty="0"/>
          </a:p>
          <a:p>
            <a:pPr indent="0" marL="0">
              <a:spcAft>
                <a:spcPts val="600"/>
              </a:spcAft>
              <a:buNone/>
            </a:pPr>
            <a:r>
              <a:rPr lang="en-US" sz="1300" dirty="0">
                <a:solidFill>
                  <a:srgbClr val="46525E"/>
                </a:solidFill>
                <a:latin typeface="Calibri" pitchFamily="34" charset="0"/>
                <a:ea typeface="Calibri" pitchFamily="34" charset="-122"/>
                <a:cs typeface="Calibri" pitchFamily="34" charset="-120"/>
              </a:rPr>
              <a:t>Safe: charge peak 44.5 °C, fixes REQ-03. Slower: 277 vs 244 min, because it waits for the hotspot.</a:t>
            </a:r>
            <a:endParaRPr lang="en-US" sz="1300" dirty="0"/>
          </a:p>
          <a:p>
            <a:pPr indent="0" marL="0">
              <a:spcAft>
                <a:spcPts val="600"/>
              </a:spcAft>
              <a:buNone/>
            </a:pPr>
            <a:r>
              <a:rPr lang="en-US" sz="1300" dirty="0">
                <a:solidFill>
                  <a:srgbClr val="46525E"/>
                </a:solidFill>
                <a:latin typeface="Calibri" pitchFamily="34" charset="0"/>
                <a:ea typeface="Calibri" pitchFamily="34" charset="-122"/>
                <a:cs typeface="Calibri" pitchFamily="34" charset="-120"/>
              </a:rPr>
              <a:t>Not AIS-156 compliant: 2 sensors; the rule asks for ≥ 4.</a:t>
            </a:r>
            <a:endParaRPr lang="en-US" sz="1300" dirty="0"/>
          </a:p>
        </p:txBody>
      </p:sp>
      <p:sp>
        <p:nvSpPr>
          <p:cNvPr id="22" name="Text 17"/>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Source: recommend() in packforge/engine.py, printed by the CLI</a:t>
            </a:r>
            <a:endParaRPr lang="en-US" sz="1000" dirty="0"/>
          </a:p>
        </p:txBody>
      </p:sp>
      <p:sp>
        <p:nvSpPr>
          <p:cNvPr id="23" name="Text 18"/>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5400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FDEBDF"/>
                </a:solidFill>
                <a:latin typeface="Calibri" pitchFamily="34" charset="0"/>
                <a:ea typeface="Calibri" pitchFamily="34" charset="-122"/>
                <a:cs typeface="Calibri" pitchFamily="34" charset="-120"/>
              </a:rPr>
              <a:t>TOP RISK · ROBUSTNESS</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Our pick rests on an unvalidated cell</a:t>
            </a:r>
            <a:endParaRPr lang="en-US" sz="3400" dirty="0"/>
          </a:p>
        </p:txBody>
      </p:sp>
      <p:sp>
        <p:nvSpPr>
          <p:cNvPr id="4" name="Text 2"/>
          <p:cNvSpPr/>
          <p:nvPr/>
        </p:nvSpPr>
        <p:spPr>
          <a:xfrm>
            <a:off x="548640" y="1508760"/>
            <a:ext cx="4023360" cy="137160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0.02 K</a:t>
            </a:r>
            <a:endParaRPr lang="en-US" sz="8000" dirty="0"/>
          </a:p>
        </p:txBody>
      </p:sp>
      <p:sp>
        <p:nvSpPr>
          <p:cNvPr id="5" name="Text 3"/>
          <p:cNvSpPr/>
          <p:nvPr/>
        </p:nvSpPr>
        <p:spPr>
          <a:xfrm>
            <a:off x="4846320" y="1554480"/>
            <a:ext cx="6793992" cy="1280160"/>
          </a:xfrm>
          <a:prstGeom prst="rect">
            <a:avLst/>
          </a:prstGeom>
          <a:noFill/>
          <a:ln/>
        </p:spPr>
        <p:txBody>
          <a:bodyPr wrap="square" lIns="0" tIns="0" rIns="0" bIns="0" rtlCol="0" anchor="ctr"/>
          <a:lstStyle/>
          <a:p>
            <a:pPr indent="0" marL="0">
              <a:buNone/>
            </a:pPr>
            <a:r>
              <a:rPr lang="en-US" sz="1800" dirty="0">
                <a:solidFill>
                  <a:srgbClr val="FDEBDF"/>
                </a:solidFill>
                <a:latin typeface="Calibri" pitchFamily="34" charset="0"/>
                <a:ea typeface="Calibri" pitchFamily="34" charset="-122"/>
                <a:cs typeface="Calibri" pitchFamily="34" charset="-120"/>
              </a:rPr>
              <a:t>If cells make 2× the modelled heat, B misses the 45 °C charge limit by 0.02 K — and A becomes the pick. Hold-out data says the model under-predicts the temperature rise ~2×.</a:t>
            </a:r>
            <a:endParaRPr lang="en-US" sz="1800" dirty="0"/>
          </a:p>
        </p:txBody>
      </p:sp>
      <p:sp>
        <p:nvSpPr>
          <p:cNvPr id="6" name="Shape 4"/>
          <p:cNvSpPr/>
          <p:nvPr/>
        </p:nvSpPr>
        <p:spPr>
          <a:xfrm>
            <a:off x="548640" y="3246120"/>
            <a:ext cx="2615184" cy="1325880"/>
          </a:xfrm>
          <a:prstGeom prst="roundRect">
            <a:avLst>
              <a:gd name="adj" fmla="val 5517"/>
            </a:avLst>
          </a:prstGeom>
          <a:solidFill>
            <a:srgbClr val="14202B">
              <a:alpha val="35000"/>
            </a:srgbClr>
          </a:solidFill>
          <a:ln/>
        </p:spPr>
      </p:sp>
      <p:sp>
        <p:nvSpPr>
          <p:cNvPr id="7" name="Text 5"/>
          <p:cNvSpPr/>
          <p:nvPr/>
        </p:nvSpPr>
        <p:spPr>
          <a:xfrm>
            <a:off x="777240" y="3337560"/>
            <a:ext cx="2194560" cy="1143000"/>
          </a:xfrm>
          <a:prstGeom prst="rect">
            <a:avLst/>
          </a:prstGeom>
          <a:noFill/>
          <a:ln/>
        </p:spPr>
        <p:txBody>
          <a:bodyPr wrap="square" lIns="0" tIns="0" rIns="0" bIns="0" rtlCol="0" anchor="ctr"/>
          <a:lstStyle/>
          <a:p>
            <a:pPr indent="0" marL="0">
              <a:spcAft>
                <a:spcPts val="400"/>
              </a:spcAft>
              <a:buNone/>
            </a:pPr>
            <a:r>
              <a:rPr lang="en-US" sz="1700" b="1" dirty="0">
                <a:solidFill>
                  <a:srgbClr val="FFFFFF"/>
                </a:solidFill>
                <a:latin typeface="Calibri" pitchFamily="34" charset="0"/>
                <a:ea typeface="Calibri" pitchFamily="34" charset="-122"/>
                <a:cs typeface="Calibri" pitchFamily="34" charset="-120"/>
              </a:rPr>
              <a:t>Baseline · 339 min</a:t>
            </a:r>
            <a:endParaRPr lang="en-US" sz="17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fails REQ-03, REQ-04 (64 °C ride)</a:t>
            </a:r>
            <a:endParaRPr lang="en-US" sz="1700" dirty="0"/>
          </a:p>
        </p:txBody>
      </p:sp>
      <p:sp>
        <p:nvSpPr>
          <p:cNvPr id="8" name="Shape 6"/>
          <p:cNvSpPr/>
          <p:nvPr/>
        </p:nvSpPr>
        <p:spPr>
          <a:xfrm>
            <a:off x="3374136" y="3246120"/>
            <a:ext cx="2615184" cy="1325880"/>
          </a:xfrm>
          <a:prstGeom prst="roundRect">
            <a:avLst>
              <a:gd name="adj" fmla="val 5517"/>
            </a:avLst>
          </a:prstGeom>
          <a:solidFill>
            <a:srgbClr val="FFFFFF"/>
          </a:solidFill>
          <a:ln w="12700">
            <a:solidFill>
              <a:srgbClr val="FFFFFF"/>
            </a:solidFill>
            <a:prstDash val="solid"/>
          </a:ln>
        </p:spPr>
      </p:sp>
      <p:sp>
        <p:nvSpPr>
          <p:cNvPr id="9" name="Text 7"/>
          <p:cNvSpPr/>
          <p:nvPr/>
        </p:nvSpPr>
        <p:spPr>
          <a:xfrm>
            <a:off x="3602736" y="3337560"/>
            <a:ext cx="2194560" cy="1143000"/>
          </a:xfrm>
          <a:prstGeom prst="rect">
            <a:avLst/>
          </a:prstGeom>
          <a:noFill/>
          <a:ln/>
        </p:spPr>
        <p:txBody>
          <a:bodyPr wrap="square" lIns="0" tIns="0" rIns="0" bIns="0" rtlCol="0" anchor="ctr"/>
          <a:lstStyle/>
          <a:p>
            <a:pPr indent="0" marL="0">
              <a:spcAft>
                <a:spcPts val="400"/>
              </a:spcAft>
              <a:buNone/>
            </a:pPr>
            <a:r>
              <a:rPr lang="en-US" sz="1700" b="1" dirty="0">
                <a:solidFill>
                  <a:srgbClr val="14202B"/>
                </a:solidFill>
                <a:latin typeface="Calibri" pitchFamily="34" charset="0"/>
                <a:ea typeface="Calibri" pitchFamily="34" charset="-122"/>
                <a:cs typeface="Calibri" pitchFamily="34" charset="-120"/>
              </a:rPr>
              <a:t>A · 132 min</a:t>
            </a:r>
            <a:endParaRPr lang="en-US" sz="1700" dirty="0"/>
          </a:p>
          <a:p>
            <a:pPr indent="0" marL="0">
              <a:spcAft>
                <a:spcPts val="400"/>
              </a:spcAft>
              <a:buNone/>
            </a:pPr>
            <a:r>
              <a:rPr lang="en-US" sz="1300" dirty="0">
                <a:solidFill>
                  <a:srgbClr val="14202B"/>
                </a:solidFill>
                <a:latin typeface="Calibri" pitchFamily="34" charset="0"/>
                <a:ea typeface="Calibri" pitchFamily="34" charset="-122"/>
                <a:cs typeface="Calibri" pitchFamily="34" charset="-120"/>
              </a:rPr>
              <a:t>passes — charge peak 45.0 °C</a:t>
            </a:r>
            <a:endParaRPr lang="en-US" sz="1700" dirty="0"/>
          </a:p>
        </p:txBody>
      </p:sp>
      <p:sp>
        <p:nvSpPr>
          <p:cNvPr id="10" name="Shape 8"/>
          <p:cNvSpPr/>
          <p:nvPr/>
        </p:nvSpPr>
        <p:spPr>
          <a:xfrm>
            <a:off x="6199632" y="3246120"/>
            <a:ext cx="2615184" cy="1325880"/>
          </a:xfrm>
          <a:prstGeom prst="roundRect">
            <a:avLst>
              <a:gd name="adj" fmla="val 5517"/>
            </a:avLst>
          </a:prstGeom>
          <a:solidFill>
            <a:srgbClr val="14202B">
              <a:alpha val="35000"/>
            </a:srgbClr>
          </a:solidFill>
          <a:ln/>
        </p:spPr>
      </p:sp>
      <p:sp>
        <p:nvSpPr>
          <p:cNvPr id="11" name="Text 9"/>
          <p:cNvSpPr/>
          <p:nvPr/>
        </p:nvSpPr>
        <p:spPr>
          <a:xfrm>
            <a:off x="6428232" y="3337560"/>
            <a:ext cx="2194560" cy="1143000"/>
          </a:xfrm>
          <a:prstGeom prst="rect">
            <a:avLst/>
          </a:prstGeom>
          <a:noFill/>
          <a:ln/>
        </p:spPr>
        <p:txBody>
          <a:bodyPr wrap="square" lIns="0" tIns="0" rIns="0" bIns="0" rtlCol="0" anchor="ctr"/>
          <a:lstStyle/>
          <a:p>
            <a:pPr indent="0" marL="0">
              <a:spcAft>
                <a:spcPts val="400"/>
              </a:spcAft>
              <a:buNone/>
            </a:pPr>
            <a:r>
              <a:rPr lang="en-US" sz="1700" b="1" dirty="0">
                <a:solidFill>
                  <a:srgbClr val="FFFFFF"/>
                </a:solidFill>
                <a:latin typeface="Calibri" pitchFamily="34" charset="0"/>
                <a:ea typeface="Calibri" pitchFamily="34" charset="-122"/>
                <a:cs typeface="Calibri" pitchFamily="34" charset="-120"/>
              </a:rPr>
              <a:t>B · 173 min</a:t>
            </a:r>
            <a:endParaRPr lang="en-US" sz="17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fails REQ-03 by 0.02 K</a:t>
            </a:r>
            <a:endParaRPr lang="en-US" sz="1700" dirty="0"/>
          </a:p>
        </p:txBody>
      </p:sp>
      <p:sp>
        <p:nvSpPr>
          <p:cNvPr id="12" name="Shape 10"/>
          <p:cNvSpPr/>
          <p:nvPr/>
        </p:nvSpPr>
        <p:spPr>
          <a:xfrm>
            <a:off x="9025128" y="3246120"/>
            <a:ext cx="2615184" cy="1325880"/>
          </a:xfrm>
          <a:prstGeom prst="roundRect">
            <a:avLst>
              <a:gd name="adj" fmla="val 5517"/>
            </a:avLst>
          </a:prstGeom>
          <a:solidFill>
            <a:srgbClr val="14202B">
              <a:alpha val="35000"/>
            </a:srgbClr>
          </a:solidFill>
          <a:ln/>
        </p:spPr>
      </p:sp>
      <p:sp>
        <p:nvSpPr>
          <p:cNvPr id="13" name="Text 11"/>
          <p:cNvSpPr/>
          <p:nvPr/>
        </p:nvSpPr>
        <p:spPr>
          <a:xfrm>
            <a:off x="9253728" y="3337560"/>
            <a:ext cx="2194560" cy="1143000"/>
          </a:xfrm>
          <a:prstGeom prst="rect">
            <a:avLst/>
          </a:prstGeom>
          <a:noFill/>
          <a:ln/>
        </p:spPr>
        <p:txBody>
          <a:bodyPr wrap="square" lIns="0" tIns="0" rIns="0" bIns="0" rtlCol="0" anchor="ctr"/>
          <a:lstStyle/>
          <a:p>
            <a:pPr indent="0" marL="0">
              <a:spcAft>
                <a:spcPts val="400"/>
              </a:spcAft>
              <a:buNone/>
            </a:pPr>
            <a:r>
              <a:rPr lang="en-US" sz="1700" b="1" dirty="0">
                <a:solidFill>
                  <a:srgbClr val="FFFFFF"/>
                </a:solidFill>
                <a:latin typeface="Calibri" pitchFamily="34" charset="0"/>
                <a:ea typeface="Calibri" pitchFamily="34" charset="-122"/>
                <a:cs typeface="Calibri" pitchFamily="34" charset="-120"/>
              </a:rPr>
              <a:t>C · 392 min</a:t>
            </a:r>
            <a:endParaRPr lang="en-US" sz="17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fails REQ-04 (64 °C ride)</a:t>
            </a:r>
            <a:endParaRPr lang="en-US" sz="1700" dirty="0"/>
          </a:p>
        </p:txBody>
      </p:sp>
      <p:sp>
        <p:nvSpPr>
          <p:cNvPr id="14" name="Text 12"/>
          <p:cNvSpPr/>
          <p:nvPr/>
        </p:nvSpPr>
        <p:spPr>
          <a:xfrm>
            <a:off x="548640" y="4645152"/>
            <a:ext cx="5486400" cy="274320"/>
          </a:xfrm>
          <a:prstGeom prst="rect">
            <a:avLst/>
          </a:prstGeom>
          <a:noFill/>
          <a:ln/>
        </p:spPr>
        <p:txBody>
          <a:bodyPr wrap="square" lIns="0" tIns="0" rIns="0" bIns="0" rtlCol="0" anchor="ctr"/>
          <a:lstStyle/>
          <a:p>
            <a:pPr indent="0" marL="0">
              <a:buNone/>
            </a:pPr>
            <a:r>
              <a:rPr lang="en-US" sz="1100" i="1" dirty="0">
                <a:solidFill>
                  <a:srgbClr val="FDEBDF"/>
                </a:solidFill>
                <a:latin typeface="Calibri" pitchFamily="34" charset="0"/>
                <a:ea typeface="Calibri" pitchFamily="34" charset="-122"/>
                <a:cs typeface="Calibri" pitchFamily="34" charset="-120"/>
              </a:rPr>
              <a:t>At 2× unmodelled heat (BMS not told)</a:t>
            </a:r>
            <a:endParaRPr lang="en-US" sz="1100" dirty="0"/>
          </a:p>
        </p:txBody>
      </p:sp>
      <p:sp>
        <p:nvSpPr>
          <p:cNvPr id="15" name="Shape 13"/>
          <p:cNvSpPr/>
          <p:nvPr/>
        </p:nvSpPr>
        <p:spPr>
          <a:xfrm>
            <a:off x="548640" y="5212080"/>
            <a:ext cx="548640" cy="548640"/>
          </a:xfrm>
          <a:prstGeom prst="ellipse">
            <a:avLst/>
          </a:prstGeom>
          <a:solidFill>
            <a:srgbClr val="14202B"/>
          </a:solidFill>
          <a:ln w="12700">
            <a:solidFill>
              <a:srgbClr val="14202B"/>
            </a:solidFill>
            <a:prstDash val="solid"/>
          </a:ln>
        </p:spPr>
      </p:sp>
      <p:pic>
        <p:nvPicPr>
          <p:cNvPr id="16" name="Image 0" descr="preencoded.png">    </p:cNvPr>
          <p:cNvPicPr>
            <a:picLocks noChangeAspect="1"/>
          </p:cNvPicPr>
          <p:nvPr/>
        </p:nvPicPr>
        <p:blipFill>
          <a:blip r:embed="rId1"/>
          <a:stretch>
            <a:fillRect/>
          </a:stretch>
        </p:blipFill>
        <p:spPr>
          <a:xfrm>
            <a:off x="680314" y="5343754"/>
            <a:ext cx="285293" cy="285293"/>
          </a:xfrm>
          <a:prstGeom prst="rect">
            <a:avLst/>
          </a:prstGeom>
        </p:spPr>
      </p:pic>
      <p:sp>
        <p:nvSpPr>
          <p:cNvPr id="17" name="Text 14"/>
          <p:cNvSpPr/>
          <p:nvPr/>
        </p:nvSpPr>
        <p:spPr>
          <a:xfrm>
            <a:off x="1280160" y="5166360"/>
            <a:ext cx="10332720" cy="6400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Mitigation: </a:t>
            </a:r>
            <a:pPr indent="0" marL="0">
              <a:buNone/>
            </a:pPr>
            <a:r>
              <a:rPr lang="en-US" sz="1800" dirty="0">
                <a:solidFill>
                  <a:srgbClr val="FFFFFF"/>
                </a:solidFill>
                <a:latin typeface="Calibri" pitchFamily="34" charset="0"/>
                <a:ea typeface="Calibri" pitchFamily="34" charset="-122"/>
                <a:cs typeface="Calibri" pitchFamily="34" charset="-120"/>
              </a:rPr>
              <a:t>one LFP charge test through the same pipeline — one CSV log decides between B and A.</a:t>
            </a:r>
            <a:endParaRPr lang="en-US" sz="1800" dirty="0"/>
          </a:p>
        </p:txBody>
      </p:sp>
      <p:sp>
        <p:nvSpPr>
          <p:cNvPr id="18" name="Text 15"/>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FDEBDF"/>
                </a:solidFill>
                <a:latin typeface="Calibri" pitchFamily="34" charset="0"/>
                <a:ea typeface="Calibri" pitchFamily="34" charset="-122"/>
                <a:cs typeface="Calibri" pitchFamily="34" charset="-120"/>
              </a:rPr>
              <a:t>Source: CLI robustness re-run, cells generate 2× the modelled heat (BMS not told)</a:t>
            </a:r>
            <a:endParaRPr lang="en-US" sz="1000" dirty="0"/>
          </a:p>
        </p:txBody>
      </p:sp>
      <p:sp>
        <p:nvSpPr>
          <p:cNvPr id="19" name="Text 16"/>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FDEBD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F2874A"/>
                </a:solidFill>
                <a:latin typeface="Calibri" pitchFamily="34" charset="0"/>
                <a:ea typeface="Calibri" pitchFamily="34" charset="-122"/>
                <a:cs typeface="Calibri" pitchFamily="34" charset="-120"/>
              </a:rPr>
              <a:t>PROTOTYPE · LIVE DEMO</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workbench, live, in six steps</a:t>
            </a:r>
            <a:endParaRPr lang="en-US" sz="3400" dirty="0"/>
          </a:p>
        </p:txBody>
      </p:sp>
      <p:sp>
        <p:nvSpPr>
          <p:cNvPr id="4" name="Shape 2"/>
          <p:cNvSpPr/>
          <p:nvPr/>
        </p:nvSpPr>
        <p:spPr>
          <a:xfrm>
            <a:off x="548640" y="1554480"/>
            <a:ext cx="5394960" cy="1188720"/>
          </a:xfrm>
          <a:prstGeom prst="roundRect">
            <a:avLst>
              <a:gd name="adj" fmla="val 6154"/>
            </a:avLst>
          </a:prstGeom>
          <a:solidFill>
            <a:srgbClr val="223344"/>
          </a:solidFill>
          <a:ln w="12700">
            <a:solidFill>
              <a:srgbClr val="223344"/>
            </a:solidFill>
            <a:prstDash val="solid"/>
          </a:ln>
        </p:spPr>
      </p:sp>
      <p:sp>
        <p:nvSpPr>
          <p:cNvPr id="5" name="Shape 3"/>
          <p:cNvSpPr/>
          <p:nvPr/>
        </p:nvSpPr>
        <p:spPr>
          <a:xfrm>
            <a:off x="822960" y="1874520"/>
            <a:ext cx="548640" cy="548640"/>
          </a:xfrm>
          <a:prstGeom prst="ellipse">
            <a:avLst/>
          </a:prstGeom>
          <a:solidFill>
            <a:srgbClr val="D9480F"/>
          </a:solidFill>
          <a:ln w="12700">
            <a:solidFill>
              <a:srgbClr val="D9480F"/>
            </a:solidFill>
            <a:prstDash val="solid"/>
          </a:ln>
        </p:spPr>
      </p:sp>
      <p:sp>
        <p:nvSpPr>
          <p:cNvPr id="6" name="Text 4"/>
          <p:cNvSpPr/>
          <p:nvPr/>
        </p:nvSpPr>
        <p:spPr>
          <a:xfrm>
            <a:off x="822960" y="1874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600200" y="1645920"/>
            <a:ext cx="4114800" cy="1005840"/>
          </a:xfrm>
          <a:prstGeom prst="rect">
            <a:avLst/>
          </a:prstGeom>
          <a:noFill/>
          <a:ln/>
        </p:spPr>
        <p:txBody>
          <a:bodyPr wrap="square" lIns="0" tIns="0" rIns="0" bIns="0" rtlCol="0" anchor="ctr"/>
          <a:lstStyle/>
          <a:p>
            <a:pPr indent="0" marL="0">
              <a:spcAft>
                <a:spcPts val="300"/>
              </a:spcAft>
              <a:buNone/>
            </a:pPr>
            <a:r>
              <a:rPr lang="en-US" sz="1600" b="1" dirty="0">
                <a:solidFill>
                  <a:srgbClr val="FFFFFF"/>
                </a:solidFill>
                <a:latin typeface="Calibri" pitchFamily="34" charset="0"/>
                <a:ea typeface="Calibri" pitchFamily="34" charset="-122"/>
                <a:cs typeface="Calibri" pitchFamily="34" charset="-120"/>
              </a:rPr>
              <a:t>Baseline after a ride</a:t>
            </a:r>
            <a:endParaRPr lang="en-US" sz="1600" dirty="0"/>
          </a:p>
          <a:p>
            <a:pPr indent="0" marL="0">
              <a:spcAft>
                <a:spcPts val="300"/>
              </a:spcAft>
              <a:buNone/>
            </a:pPr>
            <a:r>
              <a:rPr lang="en-US" sz="1300" dirty="0">
                <a:solidFill>
                  <a:srgbClr val="B9C4CC"/>
                </a:solidFill>
                <a:latin typeface="Calibri" pitchFamily="34" charset="0"/>
                <a:ea typeface="Calibri" pitchFamily="34" charset="-122"/>
                <a:cs typeface="Calibri" pitchFamily="34" charset="-120"/>
              </a:rPr>
              <a:t>48 min hold, then REQ-03 fails. Heat map: hot interior vs sensor cells.</a:t>
            </a:r>
            <a:endParaRPr lang="en-US" sz="1600" dirty="0"/>
          </a:p>
        </p:txBody>
      </p:sp>
      <p:sp>
        <p:nvSpPr>
          <p:cNvPr id="8" name="Shape 6"/>
          <p:cNvSpPr/>
          <p:nvPr/>
        </p:nvSpPr>
        <p:spPr>
          <a:xfrm>
            <a:off x="6245352" y="1554480"/>
            <a:ext cx="5394960" cy="1188720"/>
          </a:xfrm>
          <a:prstGeom prst="roundRect">
            <a:avLst>
              <a:gd name="adj" fmla="val 6154"/>
            </a:avLst>
          </a:prstGeom>
          <a:solidFill>
            <a:srgbClr val="223344"/>
          </a:solidFill>
          <a:ln w="12700">
            <a:solidFill>
              <a:srgbClr val="223344"/>
            </a:solidFill>
            <a:prstDash val="solid"/>
          </a:ln>
        </p:spPr>
      </p:sp>
      <p:sp>
        <p:nvSpPr>
          <p:cNvPr id="9" name="Shape 7"/>
          <p:cNvSpPr/>
          <p:nvPr/>
        </p:nvSpPr>
        <p:spPr>
          <a:xfrm>
            <a:off x="6519672" y="1874520"/>
            <a:ext cx="548640" cy="548640"/>
          </a:xfrm>
          <a:prstGeom prst="ellipse">
            <a:avLst/>
          </a:prstGeom>
          <a:solidFill>
            <a:srgbClr val="D9480F"/>
          </a:solidFill>
          <a:ln w="12700">
            <a:solidFill>
              <a:srgbClr val="D9480F"/>
            </a:solidFill>
            <a:prstDash val="solid"/>
          </a:ln>
        </p:spPr>
      </p:sp>
      <p:sp>
        <p:nvSpPr>
          <p:cNvPr id="10" name="Text 8"/>
          <p:cNvSpPr/>
          <p:nvPr/>
        </p:nvSpPr>
        <p:spPr>
          <a:xfrm>
            <a:off x="6519672" y="1874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7296912" y="1645920"/>
            <a:ext cx="4114800" cy="1005840"/>
          </a:xfrm>
          <a:prstGeom prst="rect">
            <a:avLst/>
          </a:prstGeom>
          <a:noFill/>
          <a:ln/>
        </p:spPr>
        <p:txBody>
          <a:bodyPr wrap="square" lIns="0" tIns="0" rIns="0" bIns="0" rtlCol="0" anchor="ctr"/>
          <a:lstStyle/>
          <a:p>
            <a:pPr indent="0" marL="0">
              <a:spcAft>
                <a:spcPts val="300"/>
              </a:spcAft>
              <a:buNone/>
            </a:pPr>
            <a:r>
              <a:rPr lang="en-US" sz="1600" b="1" dirty="0">
                <a:solidFill>
                  <a:srgbClr val="FFFFFF"/>
                </a:solidFill>
                <a:latin typeface="Calibri" pitchFamily="34" charset="0"/>
                <a:ea typeface="Calibri" pitchFamily="34" charset="-122"/>
                <a:cs typeface="Calibri" pitchFamily="34" charset="-120"/>
              </a:rPr>
              <a:t>Option C, the observer</a:t>
            </a:r>
            <a:endParaRPr lang="en-US" sz="1600" dirty="0"/>
          </a:p>
          <a:p>
            <a:pPr indent="0" marL="0">
              <a:spcAft>
                <a:spcPts val="300"/>
              </a:spcAft>
              <a:buNone/>
            </a:pPr>
            <a:r>
              <a:rPr lang="en-US" sz="1300" dirty="0">
                <a:solidFill>
                  <a:srgbClr val="B9C4CC"/>
                </a:solidFill>
                <a:latin typeface="Calibri" pitchFamily="34" charset="0"/>
                <a:ea typeface="Calibri" pitchFamily="34" charset="-122"/>
                <a:cs typeface="Calibri" pitchFamily="34" charset="-120"/>
              </a:rPr>
              <a:t>Passes, but slower — the honest trade-off.</a:t>
            </a:r>
            <a:endParaRPr lang="en-US" sz="1600" dirty="0"/>
          </a:p>
        </p:txBody>
      </p:sp>
      <p:sp>
        <p:nvSpPr>
          <p:cNvPr id="12" name="Shape 10"/>
          <p:cNvSpPr/>
          <p:nvPr/>
        </p:nvSpPr>
        <p:spPr>
          <a:xfrm>
            <a:off x="548640" y="2926080"/>
            <a:ext cx="5394960" cy="1188720"/>
          </a:xfrm>
          <a:prstGeom prst="roundRect">
            <a:avLst>
              <a:gd name="adj" fmla="val 6154"/>
            </a:avLst>
          </a:prstGeom>
          <a:solidFill>
            <a:srgbClr val="223344"/>
          </a:solidFill>
          <a:ln w="12700">
            <a:solidFill>
              <a:srgbClr val="223344"/>
            </a:solidFill>
            <a:prstDash val="solid"/>
          </a:ln>
        </p:spPr>
      </p:sp>
      <p:sp>
        <p:nvSpPr>
          <p:cNvPr id="13" name="Shape 11"/>
          <p:cNvSpPr/>
          <p:nvPr/>
        </p:nvSpPr>
        <p:spPr>
          <a:xfrm>
            <a:off x="822960" y="3246120"/>
            <a:ext cx="548640" cy="548640"/>
          </a:xfrm>
          <a:prstGeom prst="ellipse">
            <a:avLst/>
          </a:prstGeom>
          <a:solidFill>
            <a:srgbClr val="D9480F"/>
          </a:solidFill>
          <a:ln w="12700">
            <a:solidFill>
              <a:srgbClr val="D9480F"/>
            </a:solidFill>
            <a:prstDash val="solid"/>
          </a:ln>
        </p:spPr>
      </p:sp>
      <p:sp>
        <p:nvSpPr>
          <p:cNvPr id="14" name="Text 12"/>
          <p:cNvSpPr/>
          <p:nvPr/>
        </p:nvSpPr>
        <p:spPr>
          <a:xfrm>
            <a:off x="82296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3"/>
          <p:cNvSpPr/>
          <p:nvPr/>
        </p:nvSpPr>
        <p:spPr>
          <a:xfrm>
            <a:off x="1600200" y="3017520"/>
            <a:ext cx="4114800" cy="1005840"/>
          </a:xfrm>
          <a:prstGeom prst="rect">
            <a:avLst/>
          </a:prstGeom>
          <a:noFill/>
          <a:ln/>
        </p:spPr>
        <p:txBody>
          <a:bodyPr wrap="square" lIns="0" tIns="0" rIns="0" bIns="0" rtlCol="0" anchor="ctr"/>
          <a:lstStyle/>
          <a:p>
            <a:pPr indent="0" marL="0">
              <a:spcAft>
                <a:spcPts val="300"/>
              </a:spcAft>
              <a:buNone/>
            </a:pPr>
            <a:r>
              <a:rPr lang="en-US" sz="1600" b="1" dirty="0">
                <a:solidFill>
                  <a:srgbClr val="FFFFFF"/>
                </a:solidFill>
                <a:latin typeface="Calibri" pitchFamily="34" charset="0"/>
                <a:ea typeface="Calibri" pitchFamily="34" charset="-122"/>
                <a:cs typeface="Calibri" pitchFamily="34" charset="-120"/>
              </a:rPr>
              <a:t>Compare A and B</a:t>
            </a:r>
            <a:endParaRPr lang="en-US" sz="1600" dirty="0"/>
          </a:p>
          <a:p>
            <a:pPr indent="0" marL="0">
              <a:spcAft>
                <a:spcPts val="300"/>
              </a:spcAft>
              <a:buNone/>
            </a:pPr>
            <a:r>
              <a:rPr lang="en-US" sz="1300" dirty="0">
                <a:solidFill>
                  <a:srgbClr val="B9C4CC"/>
                </a:solidFill>
                <a:latin typeface="Calibri" pitchFamily="34" charset="0"/>
                <a:ea typeface="Calibri" pitchFamily="34" charset="-122"/>
                <a:cs typeface="Calibri" pitchFamily="34" charset="-120"/>
              </a:rPr>
              <a:t>The ranking and the three recommendations.</a:t>
            </a:r>
            <a:endParaRPr lang="en-US" sz="1600" dirty="0"/>
          </a:p>
        </p:txBody>
      </p:sp>
      <p:sp>
        <p:nvSpPr>
          <p:cNvPr id="16" name="Shape 14"/>
          <p:cNvSpPr/>
          <p:nvPr/>
        </p:nvSpPr>
        <p:spPr>
          <a:xfrm>
            <a:off x="6245352" y="2926080"/>
            <a:ext cx="5394960" cy="1188720"/>
          </a:xfrm>
          <a:prstGeom prst="roundRect">
            <a:avLst>
              <a:gd name="adj" fmla="val 6154"/>
            </a:avLst>
          </a:prstGeom>
          <a:solidFill>
            <a:srgbClr val="223344"/>
          </a:solidFill>
          <a:ln w="12700">
            <a:solidFill>
              <a:srgbClr val="223344"/>
            </a:solidFill>
            <a:prstDash val="solid"/>
          </a:ln>
        </p:spPr>
      </p:sp>
      <p:sp>
        <p:nvSpPr>
          <p:cNvPr id="17" name="Shape 15"/>
          <p:cNvSpPr/>
          <p:nvPr/>
        </p:nvSpPr>
        <p:spPr>
          <a:xfrm>
            <a:off x="6519672" y="3246120"/>
            <a:ext cx="548640" cy="548640"/>
          </a:xfrm>
          <a:prstGeom prst="ellipse">
            <a:avLst/>
          </a:prstGeom>
          <a:solidFill>
            <a:srgbClr val="D9480F"/>
          </a:solidFill>
          <a:ln w="12700">
            <a:solidFill>
              <a:srgbClr val="D9480F"/>
            </a:solidFill>
            <a:prstDash val="solid"/>
          </a:ln>
        </p:spPr>
      </p:sp>
      <p:sp>
        <p:nvSpPr>
          <p:cNvPr id="18" name="Text 16"/>
          <p:cNvSpPr/>
          <p:nvPr/>
        </p:nvSpPr>
        <p:spPr>
          <a:xfrm>
            <a:off x="6519672"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7"/>
          <p:cNvSpPr/>
          <p:nvPr/>
        </p:nvSpPr>
        <p:spPr>
          <a:xfrm>
            <a:off x="7296912" y="3017520"/>
            <a:ext cx="4114800" cy="1005840"/>
          </a:xfrm>
          <a:prstGeom prst="rect">
            <a:avLst/>
          </a:prstGeom>
          <a:noFill/>
          <a:ln/>
        </p:spPr>
        <p:txBody>
          <a:bodyPr wrap="square" lIns="0" tIns="0" rIns="0" bIns="0" rtlCol="0" anchor="ctr"/>
          <a:lstStyle/>
          <a:p>
            <a:pPr indent="0" marL="0">
              <a:spcAft>
                <a:spcPts val="300"/>
              </a:spcAft>
              <a:buNone/>
            </a:pPr>
            <a:r>
              <a:rPr lang="en-US" sz="1600" b="1" dirty="0">
                <a:solidFill>
                  <a:srgbClr val="FFFFFF"/>
                </a:solidFill>
                <a:latin typeface="Calibri" pitchFamily="34" charset="0"/>
                <a:ea typeface="Calibri" pitchFamily="34" charset="-122"/>
                <a:cs typeface="Calibri" pitchFamily="34" charset="-120"/>
              </a:rPr>
              <a:t>Validation</a:t>
            </a:r>
            <a:endParaRPr lang="en-US" sz="1600" dirty="0"/>
          </a:p>
          <a:p>
            <a:pPr indent="0" marL="0">
              <a:spcAft>
                <a:spcPts val="300"/>
              </a:spcAft>
              <a:buNone/>
            </a:pPr>
            <a:r>
              <a:rPr lang="en-US" sz="1300" dirty="0">
                <a:solidFill>
                  <a:srgbClr val="B9C4CC"/>
                </a:solidFill>
                <a:latin typeface="Calibri" pitchFamily="34" charset="0"/>
                <a:ea typeface="Calibri" pitchFamily="34" charset="-122"/>
                <a:cs typeface="Calibri" pitchFamily="34" charset="-120"/>
              </a:rPr>
              <a:t>Replay a 45 °C hold-out charge through the calibrated model.</a:t>
            </a:r>
            <a:endParaRPr lang="en-US" sz="1600" dirty="0"/>
          </a:p>
        </p:txBody>
      </p:sp>
      <p:sp>
        <p:nvSpPr>
          <p:cNvPr id="20" name="Shape 18"/>
          <p:cNvSpPr/>
          <p:nvPr/>
        </p:nvSpPr>
        <p:spPr>
          <a:xfrm>
            <a:off x="548640" y="4297680"/>
            <a:ext cx="5394960" cy="1188720"/>
          </a:xfrm>
          <a:prstGeom prst="roundRect">
            <a:avLst>
              <a:gd name="adj" fmla="val 6154"/>
            </a:avLst>
          </a:prstGeom>
          <a:solidFill>
            <a:srgbClr val="223344"/>
          </a:solidFill>
          <a:ln w="12700">
            <a:solidFill>
              <a:srgbClr val="223344"/>
            </a:solidFill>
            <a:prstDash val="solid"/>
          </a:ln>
        </p:spPr>
      </p:sp>
      <p:sp>
        <p:nvSpPr>
          <p:cNvPr id="21" name="Shape 19"/>
          <p:cNvSpPr/>
          <p:nvPr/>
        </p:nvSpPr>
        <p:spPr>
          <a:xfrm>
            <a:off x="822960" y="4617720"/>
            <a:ext cx="548640" cy="548640"/>
          </a:xfrm>
          <a:prstGeom prst="ellipse">
            <a:avLst/>
          </a:prstGeom>
          <a:solidFill>
            <a:srgbClr val="D9480F"/>
          </a:solidFill>
          <a:ln w="12700">
            <a:solidFill>
              <a:srgbClr val="D9480F"/>
            </a:solidFill>
            <a:prstDash val="solid"/>
          </a:ln>
        </p:spPr>
      </p:sp>
      <p:sp>
        <p:nvSpPr>
          <p:cNvPr id="22" name="Text 20"/>
          <p:cNvSpPr/>
          <p:nvPr/>
        </p:nvSpPr>
        <p:spPr>
          <a:xfrm>
            <a:off x="822960" y="4617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3" name="Text 21"/>
          <p:cNvSpPr/>
          <p:nvPr/>
        </p:nvSpPr>
        <p:spPr>
          <a:xfrm>
            <a:off x="1600200" y="4389120"/>
            <a:ext cx="4114800" cy="1005840"/>
          </a:xfrm>
          <a:prstGeom prst="rect">
            <a:avLst/>
          </a:prstGeom>
          <a:noFill/>
          <a:ln/>
        </p:spPr>
        <p:txBody>
          <a:bodyPr wrap="square" lIns="0" tIns="0" rIns="0" bIns="0" rtlCol="0" anchor="ctr"/>
          <a:lstStyle/>
          <a:p>
            <a:pPr indent="0" marL="0">
              <a:spcAft>
                <a:spcPts val="300"/>
              </a:spcAft>
              <a:buNone/>
            </a:pPr>
            <a:r>
              <a:rPr lang="en-US" sz="1600" b="1" dirty="0">
                <a:solidFill>
                  <a:srgbClr val="FFFFFF"/>
                </a:solidFill>
                <a:latin typeface="Calibri" pitchFamily="34" charset="0"/>
                <a:ea typeface="Calibri" pitchFamily="34" charset="-122"/>
                <a:cs typeface="Calibri" pitchFamily="34" charset="-120"/>
              </a:rPr>
              <a:t>Unmodelled heat to 2×</a:t>
            </a:r>
            <a:endParaRPr lang="en-US" sz="1600" dirty="0"/>
          </a:p>
          <a:p>
            <a:pPr indent="0" marL="0">
              <a:spcAft>
                <a:spcPts val="300"/>
              </a:spcAft>
              <a:buNone/>
            </a:pPr>
            <a:r>
              <a:rPr lang="en-US" sz="1300" dirty="0">
                <a:solidFill>
                  <a:srgbClr val="B9C4CC"/>
                </a:solidFill>
                <a:latin typeface="Calibri" pitchFamily="34" charset="0"/>
                <a:ea typeface="Calibri" pitchFamily="34" charset="-122"/>
                <a:cs typeface="Calibri" pitchFamily="34" charset="-120"/>
              </a:rPr>
              <a:t>The recommendation flips to A, live.</a:t>
            </a:r>
            <a:endParaRPr lang="en-US" sz="1600" dirty="0"/>
          </a:p>
        </p:txBody>
      </p:sp>
      <p:sp>
        <p:nvSpPr>
          <p:cNvPr id="24" name="Shape 22"/>
          <p:cNvSpPr/>
          <p:nvPr/>
        </p:nvSpPr>
        <p:spPr>
          <a:xfrm>
            <a:off x="6245352" y="4297680"/>
            <a:ext cx="5394960" cy="1188720"/>
          </a:xfrm>
          <a:prstGeom prst="roundRect">
            <a:avLst>
              <a:gd name="adj" fmla="val 6154"/>
            </a:avLst>
          </a:prstGeom>
          <a:solidFill>
            <a:srgbClr val="223344"/>
          </a:solidFill>
          <a:ln w="12700">
            <a:solidFill>
              <a:srgbClr val="223344"/>
            </a:solidFill>
            <a:prstDash val="solid"/>
          </a:ln>
        </p:spPr>
      </p:sp>
      <p:sp>
        <p:nvSpPr>
          <p:cNvPr id="25" name="Shape 23"/>
          <p:cNvSpPr/>
          <p:nvPr/>
        </p:nvSpPr>
        <p:spPr>
          <a:xfrm>
            <a:off x="6519672" y="4617720"/>
            <a:ext cx="548640" cy="548640"/>
          </a:xfrm>
          <a:prstGeom prst="ellipse">
            <a:avLst/>
          </a:prstGeom>
          <a:solidFill>
            <a:srgbClr val="D9480F"/>
          </a:solidFill>
          <a:ln w="12700">
            <a:solidFill>
              <a:srgbClr val="D9480F"/>
            </a:solidFill>
            <a:prstDash val="solid"/>
          </a:ln>
        </p:spPr>
      </p:sp>
      <p:sp>
        <p:nvSpPr>
          <p:cNvPr id="26" name="Text 24"/>
          <p:cNvSpPr/>
          <p:nvPr/>
        </p:nvSpPr>
        <p:spPr>
          <a:xfrm>
            <a:off x="6519672" y="4617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7" name="Text 25"/>
          <p:cNvSpPr/>
          <p:nvPr/>
        </p:nvSpPr>
        <p:spPr>
          <a:xfrm>
            <a:off x="7296912" y="4389120"/>
            <a:ext cx="4114800" cy="1005840"/>
          </a:xfrm>
          <a:prstGeom prst="rect">
            <a:avLst/>
          </a:prstGeom>
          <a:noFill/>
          <a:ln/>
        </p:spPr>
        <p:txBody>
          <a:bodyPr wrap="square" lIns="0" tIns="0" rIns="0" bIns="0" rtlCol="0" anchor="ctr"/>
          <a:lstStyle/>
          <a:p>
            <a:pPr indent="0" marL="0">
              <a:spcAft>
                <a:spcPts val="300"/>
              </a:spcAft>
              <a:buNone/>
            </a:pPr>
            <a:r>
              <a:rPr lang="en-US" sz="1600" b="1" dirty="0">
                <a:solidFill>
                  <a:srgbClr val="FFFFFF"/>
                </a:solidFill>
                <a:latin typeface="Calibri" pitchFamily="34" charset="0"/>
                <a:ea typeface="Calibri" pitchFamily="34" charset="-122"/>
                <a:cs typeface="Calibri" pitchFamily="34" charset="-120"/>
              </a:rPr>
              <a:t>Download the report</a:t>
            </a:r>
            <a:endParaRPr lang="en-US" sz="1600" dirty="0"/>
          </a:p>
          <a:p>
            <a:pPr indent="0" marL="0">
              <a:spcAft>
                <a:spcPts val="300"/>
              </a:spcAft>
              <a:buNone/>
            </a:pPr>
            <a:r>
              <a:rPr lang="en-US" sz="1300" dirty="0">
                <a:solidFill>
                  <a:srgbClr val="B9C4CC"/>
                </a:solidFill>
                <a:latin typeface="Calibri" pitchFamily="34" charset="0"/>
                <a:ea typeface="Calibri" pitchFamily="34" charset="-122"/>
                <a:cs typeface="Calibri" pitchFamily="34" charset="-120"/>
              </a:rPr>
              <a:t>One offline HTML file with every figure and finding.</a:t>
            </a:r>
            <a:endParaRPr lang="en-US" sz="1600" dirty="0"/>
          </a:p>
        </p:txBody>
      </p:sp>
      <p:sp>
        <p:nvSpPr>
          <p:cNvPr id="28" name="Text 26"/>
          <p:cNvSpPr/>
          <p:nvPr/>
        </p:nvSpPr>
        <p:spPr>
          <a:xfrm>
            <a:off x="548640" y="5760720"/>
            <a:ext cx="11094415" cy="365760"/>
          </a:xfrm>
          <a:prstGeom prst="rect">
            <a:avLst/>
          </a:prstGeom>
          <a:noFill/>
          <a:ln/>
        </p:spPr>
        <p:txBody>
          <a:bodyPr wrap="square" lIns="0" tIns="0" rIns="0" bIns="0" rtlCol="0" anchor="ctr"/>
          <a:lstStyle/>
          <a:p>
            <a:pPr indent="0" marL="0">
              <a:buNone/>
            </a:pPr>
            <a:r>
              <a:rPr lang="en-US" sz="1300" i="1" dirty="0">
                <a:solidFill>
                  <a:srgbClr val="B9C4CC"/>
                </a:solidFill>
                <a:latin typeface="Calibri" pitchFamily="34" charset="0"/>
                <a:ea typeface="Calibri" pitchFamily="34" charset="-122"/>
                <a:cs typeface="Calibri" pitchFamily="34" charset="-120"/>
              </a:rPr>
              <a:t>Backup if the app fails: recorded clip of the same path, CLI output and the HTML report.</a:t>
            </a:r>
            <a:endParaRPr lang="en-US" sz="1300" dirty="0"/>
          </a:p>
        </p:txBody>
      </p:sp>
      <p:sp>
        <p:nvSpPr>
          <p:cNvPr id="29" name="Text 27"/>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8E9AA4"/>
                </a:solidFill>
                <a:latin typeface="Calibri" pitchFamily="34" charset="0"/>
                <a:ea typeface="Calibri" pitchFamily="34" charset="-122"/>
                <a:cs typeface="Calibri" pitchFamily="34" charset="-120"/>
              </a:rPr>
              <a:t>streamlit run app.py · python -m packforge --report packforge_report.html</a:t>
            </a:r>
            <a:endParaRPr lang="en-US" sz="1000" dirty="0"/>
          </a:p>
        </p:txBody>
      </p:sp>
      <p:sp>
        <p:nvSpPr>
          <p:cNvPr id="30" name="Text 28"/>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E9AA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INNOVATION</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What a spreadsheet can’t tell you</a:t>
            </a:r>
            <a:endParaRPr lang="en-US" sz="3400" dirty="0"/>
          </a:p>
        </p:txBody>
      </p:sp>
      <p:sp>
        <p:nvSpPr>
          <p:cNvPr id="4" name="Shape 2"/>
          <p:cNvSpPr/>
          <p:nvPr/>
        </p:nvSpPr>
        <p:spPr>
          <a:xfrm>
            <a:off x="548640" y="1490472"/>
            <a:ext cx="11094415" cy="822960"/>
          </a:xfrm>
          <a:prstGeom prst="roundRect">
            <a:avLst>
              <a:gd name="adj" fmla="val 8889"/>
            </a:avLst>
          </a:prstGeom>
          <a:solidFill>
            <a:srgbClr val="F2F4F7"/>
          </a:solidFill>
          <a:ln w="12700">
            <a:solidFill>
              <a:srgbClr val="F2F4F7"/>
            </a:solidFill>
            <a:prstDash val="solid"/>
          </a:ln>
        </p:spPr>
      </p:sp>
      <p:sp>
        <p:nvSpPr>
          <p:cNvPr id="5" name="Shape 3"/>
          <p:cNvSpPr/>
          <p:nvPr/>
        </p:nvSpPr>
        <p:spPr>
          <a:xfrm>
            <a:off x="731520" y="1600200"/>
            <a:ext cx="566928" cy="566928"/>
          </a:xfrm>
          <a:prstGeom prst="ellipse">
            <a:avLst/>
          </a:prstGeom>
          <a:solidFill>
            <a:srgbClr val="D9480F"/>
          </a:solidFill>
          <a:ln w="12700">
            <a:solidFill>
              <a:srgbClr val="D9480F"/>
            </a:solidFill>
            <a:prstDash val="solid"/>
          </a:ln>
        </p:spPr>
      </p:sp>
      <p:pic>
        <p:nvPicPr>
          <p:cNvPr id="6" name="Image 0" descr="preencoded.png">    </p:cNvPr>
          <p:cNvPicPr>
            <a:picLocks noChangeAspect="1"/>
          </p:cNvPicPr>
          <p:nvPr/>
        </p:nvPicPr>
        <p:blipFill>
          <a:blip r:embed="rId1"/>
          <a:stretch>
            <a:fillRect/>
          </a:stretch>
        </p:blipFill>
        <p:spPr>
          <a:xfrm>
            <a:off x="867583" y="1736263"/>
            <a:ext cx="294803" cy="294803"/>
          </a:xfrm>
          <a:prstGeom prst="rect">
            <a:avLst/>
          </a:prstGeom>
        </p:spPr>
      </p:pic>
      <p:sp>
        <p:nvSpPr>
          <p:cNvPr id="7" name="Text 4"/>
          <p:cNvSpPr/>
          <p:nvPr/>
        </p:nvSpPr>
        <p:spPr>
          <a:xfrm>
            <a:off x="1508760" y="1600200"/>
            <a:ext cx="3931920" cy="566928"/>
          </a:xfrm>
          <a:prstGeom prst="rect">
            <a:avLst/>
          </a:prstGeom>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Cause-explaining conflict checker</a:t>
            </a:r>
            <a:endParaRPr lang="en-US" sz="1700" dirty="0"/>
          </a:p>
        </p:txBody>
      </p:sp>
      <p:sp>
        <p:nvSpPr>
          <p:cNvPr id="8" name="Text 5"/>
          <p:cNvSpPr/>
          <p:nvPr/>
        </p:nvSpPr>
        <p:spPr>
          <a:xfrm>
            <a:off x="5577840" y="1545336"/>
            <a:ext cx="5897880" cy="676656"/>
          </a:xfrm>
          <a:prstGeom prst="rect">
            <a:avLst/>
          </a:prstGeom>
          <a:noFill/>
          <a:ln/>
        </p:spPr>
        <p:txBody>
          <a:bodyPr wrap="square" lIns="0" tIns="0" rIns="0" bIns="0" rtlCol="0" anchor="ctr"/>
          <a:lstStyle/>
          <a:p>
            <a:pPr indent="0" marL="0">
              <a:buNone/>
            </a:pPr>
            <a:r>
              <a:rPr lang="en-US" sz="1400" dirty="0">
                <a:solidFill>
                  <a:srgbClr val="46525E"/>
                </a:solidFill>
                <a:latin typeface="Calibri" pitchFamily="34" charset="0"/>
                <a:ea typeface="Calibri" pitchFamily="34" charset="-122"/>
                <a:cs typeface="Calibri" pitchFamily="34" charset="-120"/>
              </a:rPr>
              <a:t>Each failure names the subsystems, the cause chain and candidate fixes — not just a red cell.</a:t>
            </a:r>
            <a:endParaRPr lang="en-US" sz="1400" dirty="0"/>
          </a:p>
        </p:txBody>
      </p:sp>
      <p:sp>
        <p:nvSpPr>
          <p:cNvPr id="9" name="Shape 6"/>
          <p:cNvSpPr/>
          <p:nvPr/>
        </p:nvSpPr>
        <p:spPr>
          <a:xfrm>
            <a:off x="731520" y="2496312"/>
            <a:ext cx="566928" cy="566928"/>
          </a:xfrm>
          <a:prstGeom prst="ellipse">
            <a:avLst/>
          </a:prstGeom>
          <a:solidFill>
            <a:srgbClr val="D9480F"/>
          </a:solidFill>
          <a:ln w="12700">
            <a:solidFill>
              <a:srgbClr val="D9480F"/>
            </a:solidFill>
            <a:prstDash val="solid"/>
          </a:ln>
        </p:spPr>
      </p:sp>
      <p:pic>
        <p:nvPicPr>
          <p:cNvPr id="10" name="Image 1" descr="preencoded.png">    </p:cNvPr>
          <p:cNvPicPr>
            <a:picLocks noChangeAspect="1"/>
          </p:cNvPicPr>
          <p:nvPr/>
        </p:nvPicPr>
        <p:blipFill>
          <a:blip r:embed="rId2"/>
          <a:stretch>
            <a:fillRect/>
          </a:stretch>
        </p:blipFill>
        <p:spPr>
          <a:xfrm>
            <a:off x="867583" y="2632375"/>
            <a:ext cx="294803" cy="294803"/>
          </a:xfrm>
          <a:prstGeom prst="rect">
            <a:avLst/>
          </a:prstGeom>
        </p:spPr>
      </p:pic>
      <p:sp>
        <p:nvSpPr>
          <p:cNvPr id="11" name="Text 7"/>
          <p:cNvSpPr/>
          <p:nvPr/>
        </p:nvSpPr>
        <p:spPr>
          <a:xfrm>
            <a:off x="1508760" y="2496312"/>
            <a:ext cx="3931920" cy="566928"/>
          </a:xfrm>
          <a:prstGeom prst="rect">
            <a:avLst/>
          </a:prstGeom>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Sensor blind-spot detection</a:t>
            </a:r>
            <a:endParaRPr lang="en-US" sz="1700" dirty="0"/>
          </a:p>
        </p:txBody>
      </p:sp>
      <p:sp>
        <p:nvSpPr>
          <p:cNvPr id="12" name="Text 8"/>
          <p:cNvSpPr/>
          <p:nvPr/>
        </p:nvSpPr>
        <p:spPr>
          <a:xfrm>
            <a:off x="5577840" y="2441448"/>
            <a:ext cx="5897880" cy="676656"/>
          </a:xfrm>
          <a:prstGeom prst="rect">
            <a:avLst/>
          </a:prstGeom>
          <a:noFill/>
          <a:ln/>
        </p:spPr>
        <p:txBody>
          <a:bodyPr wrap="square" lIns="0" tIns="0" rIns="0" bIns="0" rtlCol="0" anchor="ctr"/>
          <a:lstStyle/>
          <a:p>
            <a:pPr indent="0" marL="0">
              <a:buNone/>
            </a:pPr>
            <a:r>
              <a:rPr lang="en-US" sz="1400" dirty="0">
                <a:solidFill>
                  <a:srgbClr val="46525E"/>
                </a:solidFill>
                <a:latin typeface="Calibri" pitchFamily="34" charset="0"/>
                <a:ea typeface="Calibri" pitchFamily="34" charset="-122"/>
                <a:cs typeface="Calibri" pitchFamily="34" charset="-120"/>
              </a:rPr>
              <a:t>How far the hottest cell runs above what the BMS acts on, for any sensor count and placement.</a:t>
            </a:r>
            <a:endParaRPr lang="en-US" sz="1400" dirty="0"/>
          </a:p>
        </p:txBody>
      </p:sp>
      <p:sp>
        <p:nvSpPr>
          <p:cNvPr id="13" name="Shape 9"/>
          <p:cNvSpPr/>
          <p:nvPr/>
        </p:nvSpPr>
        <p:spPr>
          <a:xfrm>
            <a:off x="548640" y="3282696"/>
            <a:ext cx="11094415" cy="822960"/>
          </a:xfrm>
          <a:prstGeom prst="roundRect">
            <a:avLst>
              <a:gd name="adj" fmla="val 8889"/>
            </a:avLst>
          </a:prstGeom>
          <a:solidFill>
            <a:srgbClr val="F2F4F7"/>
          </a:solidFill>
          <a:ln w="12700">
            <a:solidFill>
              <a:srgbClr val="F2F4F7"/>
            </a:solidFill>
            <a:prstDash val="solid"/>
          </a:ln>
        </p:spPr>
      </p:sp>
      <p:sp>
        <p:nvSpPr>
          <p:cNvPr id="14" name="Shape 10"/>
          <p:cNvSpPr/>
          <p:nvPr/>
        </p:nvSpPr>
        <p:spPr>
          <a:xfrm>
            <a:off x="731520" y="3392424"/>
            <a:ext cx="566928" cy="566928"/>
          </a:xfrm>
          <a:prstGeom prst="ellipse">
            <a:avLst/>
          </a:prstGeom>
          <a:solidFill>
            <a:srgbClr val="D9480F"/>
          </a:solidFill>
          <a:ln w="12700">
            <a:solidFill>
              <a:srgbClr val="D9480F"/>
            </a:solidFill>
            <a:prstDash val="solid"/>
          </a:ln>
        </p:spPr>
      </p:sp>
      <p:pic>
        <p:nvPicPr>
          <p:cNvPr id="15" name="Image 2" descr="preencoded.png">    </p:cNvPr>
          <p:cNvPicPr>
            <a:picLocks noChangeAspect="1"/>
          </p:cNvPicPr>
          <p:nvPr/>
        </p:nvPicPr>
        <p:blipFill>
          <a:blip r:embed="rId3"/>
          <a:stretch>
            <a:fillRect/>
          </a:stretch>
        </p:blipFill>
        <p:spPr>
          <a:xfrm>
            <a:off x="867583" y="3528487"/>
            <a:ext cx="294803" cy="294803"/>
          </a:xfrm>
          <a:prstGeom prst="rect">
            <a:avLst/>
          </a:prstGeom>
        </p:spPr>
      </p:pic>
      <p:sp>
        <p:nvSpPr>
          <p:cNvPr id="16" name="Text 11"/>
          <p:cNvSpPr/>
          <p:nvPr/>
        </p:nvSpPr>
        <p:spPr>
          <a:xfrm>
            <a:off x="1508760" y="3392424"/>
            <a:ext cx="3931920" cy="566928"/>
          </a:xfrm>
          <a:prstGeom prst="rect">
            <a:avLst/>
          </a:prstGeom>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Virtual hotspot sensor</a:t>
            </a:r>
            <a:endParaRPr lang="en-US" sz="1700" dirty="0"/>
          </a:p>
        </p:txBody>
      </p:sp>
      <p:sp>
        <p:nvSpPr>
          <p:cNvPr id="17" name="Text 12"/>
          <p:cNvSpPr/>
          <p:nvPr/>
        </p:nvSpPr>
        <p:spPr>
          <a:xfrm>
            <a:off x="5577840" y="3337560"/>
            <a:ext cx="5897880" cy="676656"/>
          </a:xfrm>
          <a:prstGeom prst="rect">
            <a:avLst/>
          </a:prstGeom>
          <a:noFill/>
          <a:ln/>
        </p:spPr>
        <p:txBody>
          <a:bodyPr wrap="square" lIns="0" tIns="0" rIns="0" bIns="0" rtlCol="0" anchor="ctr"/>
          <a:lstStyle/>
          <a:p>
            <a:pPr indent="0" marL="0">
              <a:buNone/>
            </a:pPr>
            <a:r>
              <a:rPr lang="en-US" sz="1400" dirty="0">
                <a:solidFill>
                  <a:srgbClr val="46525E"/>
                </a:solidFill>
                <a:latin typeface="Calibri" pitchFamily="34" charset="0"/>
                <a:ea typeface="Calibri" pitchFamily="34" charset="-122"/>
                <a:cs typeface="Calibri" pitchFamily="34" charset="-120"/>
              </a:rPr>
              <a:t>A thermal observer in the BMS: a ₹0 retrofit, checked at ±30 % cooling-model error.</a:t>
            </a:r>
            <a:endParaRPr lang="en-US" sz="1400" dirty="0"/>
          </a:p>
        </p:txBody>
      </p:sp>
      <p:sp>
        <p:nvSpPr>
          <p:cNvPr id="18" name="Shape 13"/>
          <p:cNvSpPr/>
          <p:nvPr/>
        </p:nvSpPr>
        <p:spPr>
          <a:xfrm>
            <a:off x="731520" y="4288536"/>
            <a:ext cx="566928" cy="566928"/>
          </a:xfrm>
          <a:prstGeom prst="ellipse">
            <a:avLst/>
          </a:prstGeom>
          <a:solidFill>
            <a:srgbClr val="D9480F"/>
          </a:solidFill>
          <a:ln w="12700">
            <a:solidFill>
              <a:srgbClr val="D9480F"/>
            </a:solidFill>
            <a:prstDash val="solid"/>
          </a:ln>
        </p:spPr>
      </p:sp>
      <p:pic>
        <p:nvPicPr>
          <p:cNvPr id="19" name="Image 3" descr="preencoded.png">    </p:cNvPr>
          <p:cNvPicPr>
            <a:picLocks noChangeAspect="1"/>
          </p:cNvPicPr>
          <p:nvPr/>
        </p:nvPicPr>
        <p:blipFill>
          <a:blip r:embed="rId4"/>
          <a:stretch>
            <a:fillRect/>
          </a:stretch>
        </p:blipFill>
        <p:spPr>
          <a:xfrm>
            <a:off x="867583" y="4424599"/>
            <a:ext cx="294803" cy="294803"/>
          </a:xfrm>
          <a:prstGeom prst="rect">
            <a:avLst/>
          </a:prstGeom>
        </p:spPr>
      </p:pic>
      <p:sp>
        <p:nvSpPr>
          <p:cNvPr id="20" name="Text 14"/>
          <p:cNvSpPr/>
          <p:nvPr/>
        </p:nvSpPr>
        <p:spPr>
          <a:xfrm>
            <a:off x="1508760" y="4288536"/>
            <a:ext cx="3931920" cy="566928"/>
          </a:xfrm>
          <a:prstGeom prst="rect">
            <a:avLst/>
          </a:prstGeom>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Variation Monte Carlo</a:t>
            </a:r>
            <a:endParaRPr lang="en-US" sz="1700" dirty="0"/>
          </a:p>
        </p:txBody>
      </p:sp>
      <p:sp>
        <p:nvSpPr>
          <p:cNvPr id="21" name="Text 15"/>
          <p:cNvSpPr/>
          <p:nvPr/>
        </p:nvSpPr>
        <p:spPr>
          <a:xfrm>
            <a:off x="5577840" y="4233672"/>
            <a:ext cx="5897880" cy="676656"/>
          </a:xfrm>
          <a:prstGeom prst="rect">
            <a:avLst/>
          </a:prstGeom>
          <a:noFill/>
          <a:ln/>
        </p:spPr>
        <p:txBody>
          <a:bodyPr wrap="square" lIns="0" tIns="0" rIns="0" bIns="0" rtlCol="0" anchor="ctr"/>
          <a:lstStyle/>
          <a:p>
            <a:pPr indent="0" marL="0">
              <a:buNone/>
            </a:pPr>
            <a:r>
              <a:rPr lang="en-US" sz="1400" dirty="0">
                <a:solidFill>
                  <a:srgbClr val="46525E"/>
                </a:solidFill>
                <a:latin typeface="Calibri" pitchFamily="34" charset="0"/>
                <a:ea typeface="Calibri" pitchFamily="34" charset="-122"/>
                <a:cs typeface="Calibri" pitchFamily="34" charset="-120"/>
              </a:rPr>
              <a:t>Cell-to-cell capacity and resistance spread; every sampled pack simulated in one batch.</a:t>
            </a:r>
            <a:endParaRPr lang="en-US" sz="1400" dirty="0"/>
          </a:p>
        </p:txBody>
      </p:sp>
      <p:sp>
        <p:nvSpPr>
          <p:cNvPr id="22" name="Shape 16"/>
          <p:cNvSpPr/>
          <p:nvPr/>
        </p:nvSpPr>
        <p:spPr>
          <a:xfrm>
            <a:off x="548640" y="5074920"/>
            <a:ext cx="11094415" cy="822960"/>
          </a:xfrm>
          <a:prstGeom prst="roundRect">
            <a:avLst>
              <a:gd name="adj" fmla="val 8889"/>
            </a:avLst>
          </a:prstGeom>
          <a:solidFill>
            <a:srgbClr val="F2F4F7"/>
          </a:solidFill>
          <a:ln w="12700">
            <a:solidFill>
              <a:srgbClr val="F2F4F7"/>
            </a:solidFill>
            <a:prstDash val="solid"/>
          </a:ln>
        </p:spPr>
      </p:sp>
      <p:sp>
        <p:nvSpPr>
          <p:cNvPr id="23" name="Shape 17"/>
          <p:cNvSpPr/>
          <p:nvPr/>
        </p:nvSpPr>
        <p:spPr>
          <a:xfrm>
            <a:off x="731520" y="5184648"/>
            <a:ext cx="566928" cy="566928"/>
          </a:xfrm>
          <a:prstGeom prst="ellipse">
            <a:avLst/>
          </a:prstGeom>
          <a:solidFill>
            <a:srgbClr val="D9480F"/>
          </a:solidFill>
          <a:ln w="12700">
            <a:solidFill>
              <a:srgbClr val="D9480F"/>
            </a:solidFill>
            <a:prstDash val="solid"/>
          </a:ln>
        </p:spPr>
      </p:sp>
      <p:pic>
        <p:nvPicPr>
          <p:cNvPr id="24" name="Image 4" descr="preencoded.png">    </p:cNvPr>
          <p:cNvPicPr>
            <a:picLocks noChangeAspect="1"/>
          </p:cNvPicPr>
          <p:nvPr/>
        </p:nvPicPr>
        <p:blipFill>
          <a:blip r:embed="rId5"/>
          <a:stretch>
            <a:fillRect/>
          </a:stretch>
        </p:blipFill>
        <p:spPr>
          <a:xfrm>
            <a:off x="867583" y="5320711"/>
            <a:ext cx="294803" cy="294803"/>
          </a:xfrm>
          <a:prstGeom prst="rect">
            <a:avLst/>
          </a:prstGeom>
        </p:spPr>
      </p:pic>
      <p:sp>
        <p:nvSpPr>
          <p:cNvPr id="25" name="Text 18"/>
          <p:cNvSpPr/>
          <p:nvPr/>
        </p:nvSpPr>
        <p:spPr>
          <a:xfrm>
            <a:off x="1508760" y="5184648"/>
            <a:ext cx="3931920" cy="566928"/>
          </a:xfrm>
          <a:prstGeom prst="rect">
            <a:avLst/>
          </a:prstGeom>
          <a:noFill/>
          <a:ln/>
        </p:spPr>
        <p:txBody>
          <a:bodyPr wrap="square" lIns="0" tIns="0" rIns="0" bIns="0" rtlCol="0" anchor="ctr"/>
          <a:lstStyle/>
          <a:p>
            <a:pPr indent="0" marL="0">
              <a:buNone/>
            </a:pPr>
            <a:r>
              <a:rPr lang="en-US" sz="1700" b="1" dirty="0">
                <a:solidFill>
                  <a:srgbClr val="14202B"/>
                </a:solidFill>
                <a:latin typeface="Calibri" pitchFamily="34" charset="0"/>
                <a:ea typeface="Calibri" pitchFamily="34" charset="-122"/>
                <a:cs typeface="Calibri" pitchFamily="34" charset="-120"/>
              </a:rPr>
              <a:t>Evidence-ladder traceability</a:t>
            </a:r>
            <a:endParaRPr lang="en-US" sz="1700" dirty="0"/>
          </a:p>
        </p:txBody>
      </p:sp>
      <p:sp>
        <p:nvSpPr>
          <p:cNvPr id="26" name="Text 19"/>
          <p:cNvSpPr/>
          <p:nvPr/>
        </p:nvSpPr>
        <p:spPr>
          <a:xfrm>
            <a:off x="5577840" y="5129784"/>
            <a:ext cx="5897880" cy="676656"/>
          </a:xfrm>
          <a:prstGeom prst="rect">
            <a:avLst/>
          </a:prstGeom>
          <a:noFill/>
          <a:ln/>
        </p:spPr>
        <p:txBody>
          <a:bodyPr wrap="square" lIns="0" tIns="0" rIns="0" bIns="0" rtlCol="0" anchor="ctr"/>
          <a:lstStyle/>
          <a:p>
            <a:pPr indent="0" marL="0">
              <a:buNone/>
            </a:pPr>
            <a:r>
              <a:rPr lang="en-US" sz="1400" dirty="0">
                <a:solidFill>
                  <a:srgbClr val="46525E"/>
                </a:solidFill>
                <a:latin typeface="Calibri" pitchFamily="34" charset="0"/>
                <a:ea typeface="Calibri" pitchFamily="34" charset="-122"/>
                <a:cs typeface="Calibri" pitchFamily="34" charset="-120"/>
              </a:rPr>
              <a:t>Requirement → metric → assumption, every number tagged from datasheet up to measured.</a:t>
            </a:r>
            <a:endParaRPr lang="en-US" sz="1400" dirty="0"/>
          </a:p>
        </p:txBody>
      </p:sp>
      <p:sp>
        <p:nvSpPr>
          <p:cNvPr id="27" name="Text 20"/>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PackForge · checks.py · sim.py (observer) · engine.py (Monte Carlo, traceability)</a:t>
            </a:r>
            <a:endParaRPr lang="en-US" sz="1000" dirty="0"/>
          </a:p>
        </p:txBody>
      </p:sp>
      <p:sp>
        <p:nvSpPr>
          <p:cNvPr id="28" name="Text 21"/>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BUSINESS VIABILITY</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Cheaper packs, fewer prototypes</a:t>
            </a:r>
            <a:endParaRPr lang="en-US" sz="3400" dirty="0"/>
          </a:p>
        </p:txBody>
      </p:sp>
      <p:graphicFrame>
        <p:nvGraphicFramePr>
          <p:cNvPr id="4" name="Chart 0" descr=""/>
          <p:cNvGraphicFramePr/>
          <p:nvPr/>
        </p:nvGraphicFramePr>
        <p:xfrm>
          <a:off x="548640" y="1508760"/>
          <a:ext cx="5852160" cy="21031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48640" y="3749040"/>
          <a:ext cx="5852160" cy="210312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6720840" y="1554480"/>
            <a:ext cx="4919472" cy="1280160"/>
          </a:xfrm>
          <a:prstGeom prst="roundRect">
            <a:avLst>
              <a:gd name="adj" fmla="val 5714"/>
            </a:avLst>
          </a:prstGeom>
          <a:solidFill>
            <a:srgbClr val="F2F4F7"/>
          </a:solidFill>
          <a:ln w="12700">
            <a:solidFill>
              <a:srgbClr val="F2F4F7"/>
            </a:solidFill>
            <a:prstDash val="solid"/>
          </a:ln>
        </p:spPr>
      </p:sp>
      <p:sp>
        <p:nvSpPr>
          <p:cNvPr id="7" name="Shape 3"/>
          <p:cNvSpPr/>
          <p:nvPr/>
        </p:nvSpPr>
        <p:spPr>
          <a:xfrm>
            <a:off x="6995160" y="1901952"/>
            <a:ext cx="566928" cy="566928"/>
          </a:xfrm>
          <a:prstGeom prst="ellipse">
            <a:avLst/>
          </a:prstGeom>
          <a:solidFill>
            <a:srgbClr val="D9480F"/>
          </a:solidFill>
          <a:ln w="12700">
            <a:solidFill>
              <a:srgbClr val="D9480F"/>
            </a:solidFill>
            <a:prstDash val="solid"/>
          </a:ln>
        </p:spPr>
      </p:sp>
      <p:pic>
        <p:nvPicPr>
          <p:cNvPr id="8" name="Image 0" descr="preencoded.png">    </p:cNvPr>
          <p:cNvPicPr>
            <a:picLocks noChangeAspect="1"/>
          </p:cNvPicPr>
          <p:nvPr/>
        </p:nvPicPr>
        <p:blipFill>
          <a:blip r:embed="rId3"/>
          <a:stretch>
            <a:fillRect/>
          </a:stretch>
        </p:blipFill>
        <p:spPr>
          <a:xfrm>
            <a:off x="7131223" y="2038015"/>
            <a:ext cx="294803" cy="294803"/>
          </a:xfrm>
          <a:prstGeom prst="rect">
            <a:avLst/>
          </a:prstGeom>
        </p:spPr>
      </p:pic>
      <p:sp>
        <p:nvSpPr>
          <p:cNvPr id="9" name="Text 4"/>
          <p:cNvSpPr/>
          <p:nvPr/>
        </p:nvSpPr>
        <p:spPr>
          <a:xfrm>
            <a:off x="7772400" y="1664208"/>
            <a:ext cx="3657600" cy="1060704"/>
          </a:xfrm>
          <a:prstGeom prst="rect">
            <a:avLst/>
          </a:prstGeom>
          <a:noFill/>
          <a:ln/>
        </p:spPr>
        <p:txBody>
          <a:bodyPr wrap="square" lIns="0" tIns="0" rIns="0" bIns="0" rtlCol="0" anchor="ctr"/>
          <a:lstStyle/>
          <a:p>
            <a:pPr indent="0" marL="0">
              <a:spcAft>
                <a:spcPts val="300"/>
              </a:spcAft>
              <a:buNone/>
            </a:pPr>
            <a:r>
              <a:rPr lang="en-US" sz="1600" b="1" dirty="0">
                <a:solidFill>
                  <a:srgbClr val="14202B"/>
                </a:solidFill>
                <a:latin typeface="Calibri" pitchFamily="34" charset="0"/>
                <a:ea typeface="Calibri" pitchFamily="34" charset="-122"/>
                <a:cs typeface="Calibri" pitchFamily="34" charset="-120"/>
              </a:rPr>
              <a:t>₹0 retrofit</a:t>
            </a:r>
            <a:endParaRPr lang="en-US" sz="1600" dirty="0"/>
          </a:p>
          <a:p>
            <a:pPr indent="0" marL="0">
              <a:spcAft>
                <a:spcPts val="300"/>
              </a:spcAft>
              <a:buNone/>
            </a:pPr>
            <a:r>
              <a:rPr lang="en-US" sz="1300" dirty="0">
                <a:solidFill>
                  <a:srgbClr val="46525E"/>
                </a:solidFill>
                <a:latin typeface="Calibri" pitchFamily="34" charset="0"/>
                <a:ea typeface="Calibri" pitchFamily="34" charset="-122"/>
                <a:cs typeface="Calibri" pitchFamily="34" charset="-120"/>
              </a:rPr>
              <a:t>Option C stops hot charging on packs already built — BMS settings only.</a:t>
            </a:r>
            <a:endParaRPr lang="en-US" sz="1600" dirty="0"/>
          </a:p>
        </p:txBody>
      </p:sp>
      <p:sp>
        <p:nvSpPr>
          <p:cNvPr id="10" name="Shape 5"/>
          <p:cNvSpPr/>
          <p:nvPr/>
        </p:nvSpPr>
        <p:spPr>
          <a:xfrm>
            <a:off x="6720840" y="3017520"/>
            <a:ext cx="4919472" cy="1280160"/>
          </a:xfrm>
          <a:prstGeom prst="roundRect">
            <a:avLst>
              <a:gd name="adj" fmla="val 5714"/>
            </a:avLst>
          </a:prstGeom>
          <a:solidFill>
            <a:srgbClr val="F2F4F7"/>
          </a:solidFill>
          <a:ln w="12700">
            <a:solidFill>
              <a:srgbClr val="F2F4F7"/>
            </a:solidFill>
            <a:prstDash val="solid"/>
          </a:ln>
        </p:spPr>
      </p:sp>
      <p:sp>
        <p:nvSpPr>
          <p:cNvPr id="11" name="Shape 6"/>
          <p:cNvSpPr/>
          <p:nvPr/>
        </p:nvSpPr>
        <p:spPr>
          <a:xfrm>
            <a:off x="6995160" y="3364992"/>
            <a:ext cx="566928" cy="566928"/>
          </a:xfrm>
          <a:prstGeom prst="ellipse">
            <a:avLst/>
          </a:prstGeom>
          <a:solidFill>
            <a:srgbClr val="D9480F"/>
          </a:solidFill>
          <a:ln w="12700">
            <a:solidFill>
              <a:srgbClr val="D9480F"/>
            </a:solidFill>
            <a:prstDash val="solid"/>
          </a:ln>
        </p:spPr>
      </p:sp>
      <p:pic>
        <p:nvPicPr>
          <p:cNvPr id="12" name="Image 1" descr="preencoded.png">    </p:cNvPr>
          <p:cNvPicPr>
            <a:picLocks noChangeAspect="1"/>
          </p:cNvPicPr>
          <p:nvPr/>
        </p:nvPicPr>
        <p:blipFill>
          <a:blip r:embed="rId4"/>
          <a:stretch>
            <a:fillRect/>
          </a:stretch>
        </p:blipFill>
        <p:spPr>
          <a:xfrm>
            <a:off x="7131223" y="3501055"/>
            <a:ext cx="294803" cy="294803"/>
          </a:xfrm>
          <a:prstGeom prst="rect">
            <a:avLst/>
          </a:prstGeom>
        </p:spPr>
      </p:pic>
      <p:sp>
        <p:nvSpPr>
          <p:cNvPr id="13" name="Text 7"/>
          <p:cNvSpPr/>
          <p:nvPr/>
        </p:nvSpPr>
        <p:spPr>
          <a:xfrm>
            <a:off x="7772400" y="3127248"/>
            <a:ext cx="3657600" cy="1060704"/>
          </a:xfrm>
          <a:prstGeom prst="rect">
            <a:avLst/>
          </a:prstGeom>
          <a:noFill/>
          <a:ln/>
        </p:spPr>
        <p:txBody>
          <a:bodyPr wrap="square" lIns="0" tIns="0" rIns="0" bIns="0" rtlCol="0" anchor="ctr"/>
          <a:lstStyle/>
          <a:p>
            <a:pPr indent="0" marL="0">
              <a:spcAft>
                <a:spcPts val="300"/>
              </a:spcAft>
              <a:buNone/>
            </a:pPr>
            <a:r>
              <a:rPr lang="en-US" sz="1600" b="1" dirty="0">
                <a:solidFill>
                  <a:srgbClr val="14202B"/>
                </a:solidFill>
                <a:latin typeface="Calibri" pitchFamily="34" charset="0"/>
                <a:ea typeface="Calibri" pitchFamily="34" charset="-122"/>
                <a:cs typeface="Calibri" pitchFamily="34" charset="-120"/>
              </a:rPr>
              <a:t>Fewer prototypes</a:t>
            </a:r>
            <a:endParaRPr lang="en-US" sz="1600" dirty="0"/>
          </a:p>
          <a:p>
            <a:pPr indent="0" marL="0">
              <a:spcAft>
                <a:spcPts val="300"/>
              </a:spcAft>
              <a:buNone/>
            </a:pPr>
            <a:r>
              <a:rPr lang="en-US" sz="1300" dirty="0">
                <a:solidFill>
                  <a:srgbClr val="46525E"/>
                </a:solidFill>
                <a:latin typeface="Calibri" pitchFamily="34" charset="0"/>
                <a:ea typeface="Calibri" pitchFamily="34" charset="-122"/>
                <a:cs typeface="Calibri" pitchFamily="34" charset="-120"/>
              </a:rPr>
              <a:t>Conflicts surface before hardware; the rig confirms instead of explores.</a:t>
            </a:r>
            <a:endParaRPr lang="en-US" sz="1600" dirty="0"/>
          </a:p>
        </p:txBody>
      </p:sp>
      <p:sp>
        <p:nvSpPr>
          <p:cNvPr id="14" name="Shape 8"/>
          <p:cNvSpPr/>
          <p:nvPr/>
        </p:nvSpPr>
        <p:spPr>
          <a:xfrm>
            <a:off x="6720840" y="4480560"/>
            <a:ext cx="4919472" cy="1280160"/>
          </a:xfrm>
          <a:prstGeom prst="roundRect">
            <a:avLst>
              <a:gd name="adj" fmla="val 5714"/>
            </a:avLst>
          </a:prstGeom>
          <a:solidFill>
            <a:srgbClr val="F2F4F7"/>
          </a:solidFill>
          <a:ln w="12700">
            <a:solidFill>
              <a:srgbClr val="F2F4F7"/>
            </a:solidFill>
            <a:prstDash val="solid"/>
          </a:ln>
        </p:spPr>
      </p:sp>
      <p:sp>
        <p:nvSpPr>
          <p:cNvPr id="15" name="Shape 9"/>
          <p:cNvSpPr/>
          <p:nvPr/>
        </p:nvSpPr>
        <p:spPr>
          <a:xfrm>
            <a:off x="6995160" y="4828032"/>
            <a:ext cx="566928" cy="566928"/>
          </a:xfrm>
          <a:prstGeom prst="ellipse">
            <a:avLst/>
          </a:prstGeom>
          <a:solidFill>
            <a:srgbClr val="D9480F"/>
          </a:solidFill>
          <a:ln w="12700">
            <a:solidFill>
              <a:srgbClr val="D9480F"/>
            </a:solidFill>
            <a:prstDash val="solid"/>
          </a:ln>
        </p:spPr>
      </p:sp>
      <p:pic>
        <p:nvPicPr>
          <p:cNvPr id="16" name="Image 2" descr="preencoded.png">    </p:cNvPr>
          <p:cNvPicPr>
            <a:picLocks noChangeAspect="1"/>
          </p:cNvPicPr>
          <p:nvPr/>
        </p:nvPicPr>
        <p:blipFill>
          <a:blip r:embed="rId5"/>
          <a:stretch>
            <a:fillRect/>
          </a:stretch>
        </p:blipFill>
        <p:spPr>
          <a:xfrm>
            <a:off x="7131223" y="4964095"/>
            <a:ext cx="294803" cy="294803"/>
          </a:xfrm>
          <a:prstGeom prst="rect">
            <a:avLst/>
          </a:prstGeom>
        </p:spPr>
      </p:pic>
      <p:sp>
        <p:nvSpPr>
          <p:cNvPr id="17" name="Text 10"/>
          <p:cNvSpPr/>
          <p:nvPr/>
        </p:nvSpPr>
        <p:spPr>
          <a:xfrm>
            <a:off x="7772400" y="4590288"/>
            <a:ext cx="3657600" cy="1060704"/>
          </a:xfrm>
          <a:prstGeom prst="rect">
            <a:avLst/>
          </a:prstGeom>
          <a:noFill/>
          <a:ln/>
        </p:spPr>
        <p:txBody>
          <a:bodyPr wrap="square" lIns="0" tIns="0" rIns="0" bIns="0" rtlCol="0" anchor="ctr"/>
          <a:lstStyle/>
          <a:p>
            <a:pPr indent="0" marL="0">
              <a:spcAft>
                <a:spcPts val="300"/>
              </a:spcAft>
              <a:buNone/>
            </a:pPr>
            <a:r>
              <a:rPr lang="en-US" sz="1600" b="1" dirty="0">
                <a:solidFill>
                  <a:srgbClr val="14202B"/>
                </a:solidFill>
                <a:latin typeface="Calibri" pitchFamily="34" charset="0"/>
                <a:ea typeface="Calibri" pitchFamily="34" charset="-122"/>
                <a:cs typeface="Calibri" pitchFamily="34" charset="-120"/>
              </a:rPr>
              <a:t>Reusable</a:t>
            </a:r>
            <a:endParaRPr lang="en-US" sz="1600" dirty="0"/>
          </a:p>
          <a:p>
            <a:pPr indent="0" marL="0">
              <a:spcAft>
                <a:spcPts val="300"/>
              </a:spcAft>
              <a:buNone/>
            </a:pPr>
            <a:r>
              <a:rPr lang="en-US" sz="1300" dirty="0">
                <a:solidFill>
                  <a:srgbClr val="46525E"/>
                </a:solidFill>
                <a:latin typeface="Calibri" pitchFamily="34" charset="0"/>
                <a:ea typeface="Calibri" pitchFamily="34" charset="-122"/>
                <a:cs typeface="Calibri" pitchFamily="34" charset="-120"/>
              </a:rPr>
              <a:t>A new cell, option or study is a JSON file, not new code.</a:t>
            </a:r>
            <a:endParaRPr lang="en-US" sz="1600" dirty="0"/>
          </a:p>
        </p:txBody>
      </p:sp>
      <p:sp>
        <p:nvSpPr>
          <p:cNvPr id="18" name="Text 11"/>
          <p:cNvSpPr/>
          <p:nvPr/>
        </p:nvSpPr>
        <p:spPr>
          <a:xfrm>
            <a:off x="548640" y="5989320"/>
            <a:ext cx="11094415" cy="274320"/>
          </a:xfrm>
          <a:prstGeom prst="rect">
            <a:avLst/>
          </a:prstGeom>
          <a:noFill/>
          <a:ln/>
        </p:spPr>
        <p:txBody>
          <a:bodyPr wrap="square" lIns="0" tIns="0" rIns="0" bIns="0" rtlCol="0" anchor="ctr"/>
          <a:lstStyle/>
          <a:p>
            <a:pPr indent="0" marL="0">
              <a:buNone/>
            </a:pPr>
            <a:r>
              <a:rPr lang="en-US" sz="1100" i="1" dirty="0">
                <a:solidFill>
                  <a:srgbClr val="66717C"/>
                </a:solidFill>
                <a:latin typeface="Calibri" pitchFamily="34" charset="0"/>
                <a:ea typeface="Calibri" pitchFamily="34" charset="-122"/>
                <a:cs typeface="Calibri" pitchFamily="34" charset="-120"/>
              </a:rPr>
              <a:t>Costs and masses are generic class values; cycle life is a rule of thumb — assumptions, not quotes.</a:t>
            </a:r>
            <a:endParaRPr lang="en-US" sz="1100" dirty="0"/>
          </a:p>
        </p:txBody>
      </p:sp>
      <p:sp>
        <p:nvSpPr>
          <p:cNvPr id="19" name="Text 12"/>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Source: PackForge CLI — cost per usable kWh and estimated cycle life to 80 %</a:t>
            </a:r>
            <a:endParaRPr lang="en-US" sz="1000" dirty="0"/>
          </a:p>
        </p:txBody>
      </p:sp>
      <p:sp>
        <p:nvSpPr>
          <p:cNvPr id="20" name="Text 13"/>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TECHNICAL FEASIBILITY</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Runs on a laptop today</a:t>
            </a:r>
            <a:endParaRPr lang="en-US" sz="3400" dirty="0"/>
          </a:p>
        </p:txBody>
      </p:sp>
      <p:sp>
        <p:nvSpPr>
          <p:cNvPr id="4" name="Shape 2"/>
          <p:cNvSpPr/>
          <p:nvPr/>
        </p:nvSpPr>
        <p:spPr>
          <a:xfrm>
            <a:off x="548640" y="1600200"/>
            <a:ext cx="5394960" cy="1783080"/>
          </a:xfrm>
          <a:prstGeom prst="roundRect">
            <a:avLst>
              <a:gd name="adj" fmla="val 4103"/>
            </a:avLst>
          </a:prstGeom>
          <a:solidFill>
            <a:srgbClr val="F2F4F7"/>
          </a:solidFill>
          <a:ln w="12700">
            <a:solidFill>
              <a:srgbClr val="F2F4F7"/>
            </a:solidFill>
            <a:prstDash val="solid"/>
          </a:ln>
        </p:spPr>
      </p:sp>
      <p:sp>
        <p:nvSpPr>
          <p:cNvPr id="5" name="Shape 3"/>
          <p:cNvSpPr/>
          <p:nvPr/>
        </p:nvSpPr>
        <p:spPr>
          <a:xfrm>
            <a:off x="868680" y="1965960"/>
            <a:ext cx="685800" cy="685800"/>
          </a:xfrm>
          <a:prstGeom prst="ellipse">
            <a:avLst/>
          </a:prstGeom>
          <a:solidFill>
            <a:srgbClr val="2B6CB0"/>
          </a:solidFill>
          <a:ln w="12700">
            <a:solidFill>
              <a:srgbClr val="2B6CB0"/>
            </a:solidFill>
            <a:prstDash val="solid"/>
          </a:ln>
        </p:spPr>
      </p:sp>
      <p:pic>
        <p:nvPicPr>
          <p:cNvPr id="6" name="Image 0" descr="preencoded.png">    </p:cNvPr>
          <p:cNvPicPr>
            <a:picLocks noChangeAspect="1"/>
          </p:cNvPicPr>
          <p:nvPr/>
        </p:nvPicPr>
        <p:blipFill>
          <a:blip r:embed="rId1"/>
          <a:stretch>
            <a:fillRect/>
          </a:stretch>
        </p:blipFill>
        <p:spPr>
          <a:xfrm>
            <a:off x="1033272" y="2130552"/>
            <a:ext cx="356616" cy="356616"/>
          </a:xfrm>
          <a:prstGeom prst="rect">
            <a:avLst/>
          </a:prstGeom>
        </p:spPr>
      </p:pic>
      <p:sp>
        <p:nvSpPr>
          <p:cNvPr id="7" name="Text 4"/>
          <p:cNvSpPr/>
          <p:nvPr/>
        </p:nvSpPr>
        <p:spPr>
          <a:xfrm>
            <a:off x="1783080" y="1737360"/>
            <a:ext cx="3931920" cy="1508760"/>
          </a:xfrm>
          <a:prstGeom prst="rect">
            <a:avLst/>
          </a:prstGeom>
          <a:noFill/>
          <a:ln/>
        </p:spPr>
        <p:txBody>
          <a:bodyPr wrap="square" lIns="0" tIns="0" rIns="0" bIns="0" rtlCol="0" anchor="ctr"/>
          <a:lstStyle/>
          <a:p>
            <a:pPr indent="0" marL="0">
              <a:spcAft>
                <a:spcPts val="400"/>
              </a:spcAft>
              <a:buNone/>
            </a:pPr>
            <a:r>
              <a:rPr lang="en-US" sz="2400" b="1" dirty="0">
                <a:solidFill>
                  <a:srgbClr val="2B6CB0"/>
                </a:solidFill>
                <a:latin typeface="Cambria" pitchFamily="34" charset="0"/>
                <a:ea typeface="Cambria" pitchFamily="34" charset="-122"/>
                <a:cs typeface="Cambria" pitchFamily="34" charset="-120"/>
              </a:rPr>
              <a:t>~30 s</a:t>
            </a:r>
            <a:endParaRPr lang="en-US" sz="2400" dirty="0"/>
          </a:p>
          <a:p>
            <a:pPr indent="0" marL="0">
              <a:spcAft>
                <a:spcPts val="400"/>
              </a:spcAft>
              <a:buNone/>
            </a:pPr>
            <a:r>
              <a:rPr lang="en-US" sz="1400" dirty="0">
                <a:solidFill>
                  <a:srgbClr val="46525E"/>
                </a:solidFill>
                <a:latin typeface="Calibri" pitchFamily="34" charset="0"/>
                <a:ea typeface="Calibri" pitchFamily="34" charset="-122"/>
                <a:cs typeface="Calibri" pitchFamily="34" charset="-120"/>
              </a:rPr>
              <a:t>The whole study on a laptop: 4 designs, ride then charge, plus the 2× heat re-run.</a:t>
            </a:r>
            <a:endParaRPr lang="en-US" sz="2400" dirty="0"/>
          </a:p>
        </p:txBody>
      </p:sp>
      <p:sp>
        <p:nvSpPr>
          <p:cNvPr id="8" name="Shape 5"/>
          <p:cNvSpPr/>
          <p:nvPr/>
        </p:nvSpPr>
        <p:spPr>
          <a:xfrm>
            <a:off x="6245352" y="1600200"/>
            <a:ext cx="5394960" cy="1783080"/>
          </a:xfrm>
          <a:prstGeom prst="roundRect">
            <a:avLst>
              <a:gd name="adj" fmla="val 4103"/>
            </a:avLst>
          </a:prstGeom>
          <a:solidFill>
            <a:srgbClr val="F2F4F7"/>
          </a:solidFill>
          <a:ln w="12700">
            <a:solidFill>
              <a:srgbClr val="F2F4F7"/>
            </a:solidFill>
            <a:prstDash val="solid"/>
          </a:ln>
        </p:spPr>
      </p:sp>
      <p:sp>
        <p:nvSpPr>
          <p:cNvPr id="9" name="Shape 6"/>
          <p:cNvSpPr/>
          <p:nvPr/>
        </p:nvSpPr>
        <p:spPr>
          <a:xfrm>
            <a:off x="6565392" y="1965960"/>
            <a:ext cx="685800" cy="685800"/>
          </a:xfrm>
          <a:prstGeom prst="ellipse">
            <a:avLst/>
          </a:prstGeom>
          <a:solidFill>
            <a:srgbClr val="2B6CB0"/>
          </a:solidFill>
          <a:ln w="12700">
            <a:solidFill>
              <a:srgbClr val="2B6CB0"/>
            </a:solidFill>
            <a:prstDash val="solid"/>
          </a:ln>
        </p:spPr>
      </p:sp>
      <p:pic>
        <p:nvPicPr>
          <p:cNvPr id="10" name="Image 1" descr="preencoded.png">    </p:cNvPr>
          <p:cNvPicPr>
            <a:picLocks noChangeAspect="1"/>
          </p:cNvPicPr>
          <p:nvPr/>
        </p:nvPicPr>
        <p:blipFill>
          <a:blip r:embed="rId2"/>
          <a:stretch>
            <a:fillRect/>
          </a:stretch>
        </p:blipFill>
        <p:spPr>
          <a:xfrm>
            <a:off x="6729984" y="2130552"/>
            <a:ext cx="356616" cy="356616"/>
          </a:xfrm>
          <a:prstGeom prst="rect">
            <a:avLst/>
          </a:prstGeom>
        </p:spPr>
      </p:pic>
      <p:sp>
        <p:nvSpPr>
          <p:cNvPr id="11" name="Text 7"/>
          <p:cNvSpPr/>
          <p:nvPr/>
        </p:nvSpPr>
        <p:spPr>
          <a:xfrm>
            <a:off x="7479792" y="1737360"/>
            <a:ext cx="3931920" cy="1508760"/>
          </a:xfrm>
          <a:prstGeom prst="rect">
            <a:avLst/>
          </a:prstGeom>
          <a:noFill/>
          <a:ln/>
        </p:spPr>
        <p:txBody>
          <a:bodyPr wrap="square" lIns="0" tIns="0" rIns="0" bIns="0" rtlCol="0" anchor="ctr"/>
          <a:lstStyle/>
          <a:p>
            <a:pPr indent="0" marL="0">
              <a:spcAft>
                <a:spcPts val="400"/>
              </a:spcAft>
              <a:buNone/>
            </a:pPr>
            <a:r>
              <a:rPr lang="en-US" sz="2400" b="1" dirty="0">
                <a:solidFill>
                  <a:srgbClr val="2B6CB0"/>
                </a:solidFill>
                <a:latin typeface="Cambria" pitchFamily="34" charset="0"/>
                <a:ea typeface="Cambria" pitchFamily="34" charset="-122"/>
                <a:cs typeface="Cambria" pitchFamily="34" charset="-120"/>
              </a:rPr>
              <a:t>Open data</a:t>
            </a:r>
            <a:endParaRPr lang="en-US" sz="2400" dirty="0"/>
          </a:p>
          <a:p>
            <a:pPr indent="0" marL="0">
              <a:spcAft>
                <a:spcPts val="400"/>
              </a:spcAft>
              <a:buNone/>
            </a:pPr>
            <a:r>
              <a:rPr lang="en-US" sz="1400" dirty="0">
                <a:solidFill>
                  <a:srgbClr val="46525E"/>
                </a:solidFill>
                <a:latin typeface="Calibri" pitchFamily="34" charset="0"/>
                <a:ea typeface="Calibri" pitchFamily="34" charset="-122"/>
                <a:cs typeface="Calibri" pitchFamily="34" charset="-120"/>
              </a:rPr>
              <a:t>Calibrated on a public CC BY 4.0 dataset; anyone can re-run the fit and the hold-out check.</a:t>
            </a:r>
            <a:endParaRPr lang="en-US" sz="2400" dirty="0"/>
          </a:p>
        </p:txBody>
      </p:sp>
      <p:sp>
        <p:nvSpPr>
          <p:cNvPr id="12" name="Shape 8"/>
          <p:cNvSpPr/>
          <p:nvPr/>
        </p:nvSpPr>
        <p:spPr>
          <a:xfrm>
            <a:off x="548640" y="3611880"/>
            <a:ext cx="5394960" cy="1783080"/>
          </a:xfrm>
          <a:prstGeom prst="roundRect">
            <a:avLst>
              <a:gd name="adj" fmla="val 4103"/>
            </a:avLst>
          </a:prstGeom>
          <a:solidFill>
            <a:srgbClr val="F2F4F7"/>
          </a:solidFill>
          <a:ln w="12700">
            <a:solidFill>
              <a:srgbClr val="F2F4F7"/>
            </a:solidFill>
            <a:prstDash val="solid"/>
          </a:ln>
        </p:spPr>
      </p:sp>
      <p:sp>
        <p:nvSpPr>
          <p:cNvPr id="13" name="Shape 9"/>
          <p:cNvSpPr/>
          <p:nvPr/>
        </p:nvSpPr>
        <p:spPr>
          <a:xfrm>
            <a:off x="868680" y="3977640"/>
            <a:ext cx="685800" cy="685800"/>
          </a:xfrm>
          <a:prstGeom prst="ellipse">
            <a:avLst/>
          </a:prstGeom>
          <a:solidFill>
            <a:srgbClr val="2B6CB0"/>
          </a:solidFill>
          <a:ln w="12700">
            <a:solidFill>
              <a:srgbClr val="2B6CB0"/>
            </a:solidFill>
            <a:prstDash val="solid"/>
          </a:ln>
        </p:spPr>
      </p:sp>
      <p:pic>
        <p:nvPicPr>
          <p:cNvPr id="14" name="Image 2" descr="preencoded.png">    </p:cNvPr>
          <p:cNvPicPr>
            <a:picLocks noChangeAspect="1"/>
          </p:cNvPicPr>
          <p:nvPr/>
        </p:nvPicPr>
        <p:blipFill>
          <a:blip r:embed="rId3"/>
          <a:stretch>
            <a:fillRect/>
          </a:stretch>
        </p:blipFill>
        <p:spPr>
          <a:xfrm>
            <a:off x="1033272" y="4142232"/>
            <a:ext cx="356616" cy="356616"/>
          </a:xfrm>
          <a:prstGeom prst="rect">
            <a:avLst/>
          </a:prstGeom>
        </p:spPr>
      </p:pic>
      <p:sp>
        <p:nvSpPr>
          <p:cNvPr id="15" name="Text 10"/>
          <p:cNvSpPr/>
          <p:nvPr/>
        </p:nvSpPr>
        <p:spPr>
          <a:xfrm>
            <a:off x="1783080" y="3749040"/>
            <a:ext cx="3931920" cy="1508760"/>
          </a:xfrm>
          <a:prstGeom prst="rect">
            <a:avLst/>
          </a:prstGeom>
          <a:noFill/>
          <a:ln/>
        </p:spPr>
        <p:txBody>
          <a:bodyPr wrap="square" lIns="0" tIns="0" rIns="0" bIns="0" rtlCol="0" anchor="ctr"/>
          <a:lstStyle/>
          <a:p>
            <a:pPr indent="0" marL="0">
              <a:spcAft>
                <a:spcPts val="400"/>
              </a:spcAft>
              <a:buNone/>
            </a:pPr>
            <a:r>
              <a:rPr lang="en-US" sz="2400" b="1" dirty="0">
                <a:solidFill>
                  <a:srgbClr val="2B6CB0"/>
                </a:solidFill>
                <a:latin typeface="Cambria" pitchFamily="34" charset="0"/>
                <a:ea typeface="Cambria" pitchFamily="34" charset="-122"/>
                <a:cs typeface="Cambria" pitchFamily="34" charset="-120"/>
              </a:rPr>
              <a:t>Open stack</a:t>
            </a:r>
            <a:endParaRPr lang="en-US" sz="2400" dirty="0"/>
          </a:p>
          <a:p>
            <a:pPr indent="0" marL="0">
              <a:spcAft>
                <a:spcPts val="400"/>
              </a:spcAft>
              <a:buNone/>
            </a:pPr>
            <a:r>
              <a:rPr lang="en-US" sz="1400" dirty="0">
                <a:solidFill>
                  <a:srgbClr val="46525E"/>
                </a:solidFill>
                <a:latin typeface="Calibri" pitchFamily="34" charset="0"/>
                <a:ea typeface="Calibri" pitchFamily="34" charset="-122"/>
                <a:cs typeface="Calibri" pitchFamily="34" charset="-120"/>
              </a:rPr>
              <a:t>Python with numpy, scipy, pydantic, pandas, plotly and Streamlit. CLI, UI and report share one core.</a:t>
            </a:r>
            <a:endParaRPr lang="en-US" sz="2400" dirty="0"/>
          </a:p>
        </p:txBody>
      </p:sp>
      <p:sp>
        <p:nvSpPr>
          <p:cNvPr id="16" name="Shape 11"/>
          <p:cNvSpPr/>
          <p:nvPr/>
        </p:nvSpPr>
        <p:spPr>
          <a:xfrm>
            <a:off x="6245352" y="3611880"/>
            <a:ext cx="5394960" cy="1783080"/>
          </a:xfrm>
          <a:prstGeom prst="roundRect">
            <a:avLst>
              <a:gd name="adj" fmla="val 4103"/>
            </a:avLst>
          </a:prstGeom>
          <a:solidFill>
            <a:srgbClr val="F2F4F7"/>
          </a:solidFill>
          <a:ln w="12700">
            <a:solidFill>
              <a:srgbClr val="F2F4F7"/>
            </a:solidFill>
            <a:prstDash val="solid"/>
          </a:ln>
        </p:spPr>
      </p:sp>
      <p:sp>
        <p:nvSpPr>
          <p:cNvPr id="17" name="Shape 12"/>
          <p:cNvSpPr/>
          <p:nvPr/>
        </p:nvSpPr>
        <p:spPr>
          <a:xfrm>
            <a:off x="6565392" y="3977640"/>
            <a:ext cx="685800" cy="685800"/>
          </a:xfrm>
          <a:prstGeom prst="ellipse">
            <a:avLst/>
          </a:prstGeom>
          <a:solidFill>
            <a:srgbClr val="2B6CB0"/>
          </a:solidFill>
          <a:ln w="12700">
            <a:solidFill>
              <a:srgbClr val="2B6CB0"/>
            </a:solidFill>
            <a:prstDash val="solid"/>
          </a:ln>
        </p:spPr>
      </p:sp>
      <p:pic>
        <p:nvPicPr>
          <p:cNvPr id="18" name="Image 3" descr="preencoded.png">    </p:cNvPr>
          <p:cNvPicPr>
            <a:picLocks noChangeAspect="1"/>
          </p:cNvPicPr>
          <p:nvPr/>
        </p:nvPicPr>
        <p:blipFill>
          <a:blip r:embed="rId4"/>
          <a:stretch>
            <a:fillRect/>
          </a:stretch>
        </p:blipFill>
        <p:spPr>
          <a:xfrm>
            <a:off x="6729984" y="4142232"/>
            <a:ext cx="356616" cy="356616"/>
          </a:xfrm>
          <a:prstGeom prst="rect">
            <a:avLst/>
          </a:prstGeom>
        </p:spPr>
      </p:pic>
      <p:sp>
        <p:nvSpPr>
          <p:cNvPr id="19" name="Text 13"/>
          <p:cNvSpPr/>
          <p:nvPr/>
        </p:nvSpPr>
        <p:spPr>
          <a:xfrm>
            <a:off x="7479792" y="3749040"/>
            <a:ext cx="3931920" cy="1508760"/>
          </a:xfrm>
          <a:prstGeom prst="rect">
            <a:avLst/>
          </a:prstGeom>
          <a:noFill/>
          <a:ln/>
        </p:spPr>
        <p:txBody>
          <a:bodyPr wrap="square" lIns="0" tIns="0" rIns="0" bIns="0" rtlCol="0" anchor="ctr"/>
          <a:lstStyle/>
          <a:p>
            <a:pPr indent="0" marL="0">
              <a:spcAft>
                <a:spcPts val="400"/>
              </a:spcAft>
              <a:buNone/>
            </a:pPr>
            <a:r>
              <a:rPr lang="en-US" sz="2400" b="1" dirty="0">
                <a:solidFill>
                  <a:srgbClr val="2B6CB0"/>
                </a:solidFill>
                <a:latin typeface="Cambria" pitchFamily="34" charset="0"/>
                <a:ea typeface="Cambria" pitchFamily="34" charset="-122"/>
                <a:cs typeface="Cambria" pitchFamily="34" charset="-120"/>
              </a:rPr>
              <a:t>Safe rig</a:t>
            </a:r>
            <a:endParaRPr lang="en-US" sz="2400" dirty="0"/>
          </a:p>
          <a:p>
            <a:pPr indent="0" marL="0">
              <a:spcAft>
                <a:spcPts val="400"/>
              </a:spcAft>
              <a:buNone/>
            </a:pPr>
            <a:r>
              <a:rPr lang="en-US" sz="1400" dirty="0">
                <a:solidFill>
                  <a:srgbClr val="46525E"/>
                </a:solidFill>
                <a:latin typeface="Calibri" pitchFamily="34" charset="0"/>
                <a:ea typeface="Calibri" pitchFamily="34" charset="-122"/>
                <a:cs typeface="Calibri" pitchFamily="34" charset="-120"/>
              </a:rPr>
              <a:t>Any bench test stays low-voltage: ≤ 2S protected cells, inline fuse, fireproof bag, never unattended, hard cut‑offs in firmware.</a:t>
            </a:r>
            <a:endParaRPr lang="en-US" sz="2400" dirty="0"/>
          </a:p>
        </p:txBody>
      </p:sp>
      <p:sp>
        <p:nvSpPr>
          <p:cNvPr id="20" name="Text 14"/>
          <p:cNvSpPr/>
          <p:nvPr/>
        </p:nvSpPr>
        <p:spPr>
          <a:xfrm>
            <a:off x="548640" y="5669280"/>
            <a:ext cx="11094415" cy="365760"/>
          </a:xfrm>
          <a:prstGeom prst="rect">
            <a:avLst/>
          </a:prstGeom>
          <a:noFill/>
          <a:ln/>
        </p:spPr>
        <p:txBody>
          <a:bodyPr wrap="square" lIns="0" tIns="0" rIns="0" bIns="0" rtlCol="0" anchor="ctr"/>
          <a:lstStyle/>
          <a:p>
            <a:pPr indent="0" marL="0">
              <a:buNone/>
            </a:pPr>
            <a:r>
              <a:rPr lang="en-US" sz="1300" i="1" dirty="0">
                <a:solidFill>
                  <a:srgbClr val="46525E"/>
                </a:solidFill>
                <a:latin typeface="Calibri" pitchFamily="34" charset="0"/>
                <a:ea typeface="Calibri" pitchFamily="34" charset="-122"/>
                <a:cs typeface="Calibri" pitchFamily="34" charset="-120"/>
              </a:rPr>
              <a:t>No dataset? The tool still works: every value falls back to a stated assumption with its evidence level.</a:t>
            </a:r>
            <a:endParaRPr lang="en-US" sz="1300" dirty="0"/>
          </a:p>
        </p:txBody>
      </p:sp>
      <p:sp>
        <p:nvSpPr>
          <p:cNvPr id="21" name="Text 15"/>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Timing: one CLI run of studies/escooter_48v on the team laptop (31 s)</a:t>
            </a:r>
            <a:endParaRPr lang="en-US" sz="1000" dirty="0"/>
          </a:p>
        </p:txBody>
      </p:sp>
      <p:sp>
        <p:nvSpPr>
          <p:cNvPr id="22" name="Text 16"/>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LIMITATIONS, STATED OPENLY</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What we don’t claim</a:t>
            </a:r>
            <a:endParaRPr lang="en-US" sz="3400" dirty="0"/>
          </a:p>
        </p:txBody>
      </p:sp>
      <p:sp>
        <p:nvSpPr>
          <p:cNvPr id="4" name="Shape 2"/>
          <p:cNvSpPr/>
          <p:nvPr/>
        </p:nvSpPr>
        <p:spPr>
          <a:xfrm>
            <a:off x="548640" y="1554480"/>
            <a:ext cx="5394960" cy="4023360"/>
          </a:xfrm>
          <a:prstGeom prst="roundRect">
            <a:avLst>
              <a:gd name="adj" fmla="val 1818"/>
            </a:avLst>
          </a:prstGeom>
          <a:solidFill>
            <a:srgbClr val="F2F4F7"/>
          </a:solidFill>
          <a:ln w="12700">
            <a:solidFill>
              <a:srgbClr val="F2F4F7"/>
            </a:solidFill>
            <a:prstDash val="solid"/>
          </a:ln>
        </p:spPr>
      </p:sp>
      <p:sp>
        <p:nvSpPr>
          <p:cNvPr id="5" name="Shape 3"/>
          <p:cNvSpPr/>
          <p:nvPr/>
        </p:nvSpPr>
        <p:spPr>
          <a:xfrm>
            <a:off x="822960" y="1783080"/>
            <a:ext cx="502920" cy="502920"/>
          </a:xfrm>
          <a:prstGeom prst="ellipse">
            <a:avLst/>
          </a:prstGeom>
          <a:solidFill>
            <a:srgbClr val="14202B"/>
          </a:solidFill>
          <a:ln w="12700">
            <a:solidFill>
              <a:srgbClr val="14202B"/>
            </a:solidFill>
            <a:prstDash val="solid"/>
          </a:ln>
        </p:spPr>
      </p:sp>
      <p:pic>
        <p:nvPicPr>
          <p:cNvPr id="6" name="Image 0" descr="preencoded.png">    </p:cNvPr>
          <p:cNvPicPr>
            <a:picLocks noChangeAspect="1"/>
          </p:cNvPicPr>
          <p:nvPr/>
        </p:nvPicPr>
        <p:blipFill>
          <a:blip r:embed="rId1"/>
          <a:stretch>
            <a:fillRect/>
          </a:stretch>
        </p:blipFill>
        <p:spPr>
          <a:xfrm>
            <a:off x="943661" y="1903781"/>
            <a:ext cx="261518" cy="261518"/>
          </a:xfrm>
          <a:prstGeom prst="rect">
            <a:avLst/>
          </a:prstGeom>
        </p:spPr>
      </p:pic>
      <p:sp>
        <p:nvSpPr>
          <p:cNvPr id="7" name="Text 4"/>
          <p:cNvSpPr/>
          <p:nvPr/>
        </p:nvSpPr>
        <p:spPr>
          <a:xfrm>
            <a:off x="1463040" y="1783080"/>
            <a:ext cx="4206240" cy="502920"/>
          </a:xfrm>
          <a:prstGeom prst="rect">
            <a:avLst/>
          </a:prstGeom>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Data and validation</a:t>
            </a:r>
            <a:endParaRPr lang="en-US" sz="1800" dirty="0"/>
          </a:p>
        </p:txBody>
      </p:sp>
      <p:sp>
        <p:nvSpPr>
          <p:cNvPr id="8" name="Text 5"/>
          <p:cNvSpPr/>
          <p:nvPr/>
        </p:nvSpPr>
        <p:spPr>
          <a:xfrm>
            <a:off x="822960" y="2514600"/>
            <a:ext cx="4846320" cy="33832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46525E"/>
                </a:solidFill>
                <a:latin typeface="Calibri" pitchFamily="34" charset="0"/>
                <a:ea typeface="Calibri" pitchFamily="34" charset="-122"/>
                <a:cs typeface="Calibri" pitchFamily="34" charset="-120"/>
              </a:rPr>
              <a:t>NMC calibrated on a proxy cell in a chamber: single cells, not the cell we would buy, not a pack.</a:t>
            </a:r>
            <a:endParaRPr lang="en-US" sz="1400" dirty="0"/>
          </a:p>
          <a:p>
            <a:pPr marL="342900" indent="-342900">
              <a:spcAft>
                <a:spcPts val="900"/>
              </a:spcAft>
              <a:buSzPct val="100000"/>
              <a:buChar char="•"/>
            </a:pPr>
            <a:r>
              <a:rPr lang="en-US" sz="1400" dirty="0">
                <a:solidFill>
                  <a:srgbClr val="46525E"/>
                </a:solidFill>
                <a:latin typeface="Calibri" pitchFamily="34" charset="0"/>
                <a:ea typeface="Calibri" pitchFamily="34" charset="-122"/>
                <a:cs typeface="Calibri" pitchFamily="34" charset="-120"/>
              </a:rPr>
              <a:t>Temperature rise under-predicted ~2×: covered by the 2× re‑run, not fixed.</a:t>
            </a:r>
            <a:endParaRPr lang="en-US" sz="1400" dirty="0"/>
          </a:p>
          <a:p>
            <a:pPr marL="342900" indent="-342900">
              <a:spcAft>
                <a:spcPts val="900"/>
              </a:spcAft>
              <a:buSzPct val="100000"/>
              <a:buChar char="•"/>
            </a:pPr>
            <a:r>
              <a:rPr lang="en-US" sz="1400" dirty="0">
                <a:solidFill>
                  <a:srgbClr val="46525E"/>
                </a:solidFill>
                <a:latin typeface="Calibri" pitchFamily="34" charset="0"/>
                <a:ea typeface="Calibri" pitchFamily="34" charset="-122"/>
                <a:cs typeface="Calibri" pitchFamily="34" charset="-120"/>
              </a:rPr>
              <a:t>LFP cell, costs and masses are generic class values. LFP is not validated.</a:t>
            </a:r>
            <a:endParaRPr lang="en-US" sz="1400" dirty="0"/>
          </a:p>
          <a:p>
            <a:pPr marL="342900" indent="-342900">
              <a:spcAft>
                <a:spcPts val="900"/>
              </a:spcAft>
              <a:buSzPct val="100000"/>
              <a:buChar char="•"/>
            </a:pPr>
            <a:r>
              <a:rPr lang="en-US" sz="1400" dirty="0">
                <a:solidFill>
                  <a:srgbClr val="46525E"/>
                </a:solidFill>
                <a:latin typeface="Calibri" pitchFamily="34" charset="0"/>
                <a:ea typeface="Calibri" pitchFamily="34" charset="-122"/>
                <a:cs typeface="Calibri" pitchFamily="34" charset="-120"/>
              </a:rPr>
              <a:t>Ageing is a rule of thumb, not validated.</a:t>
            </a:r>
            <a:endParaRPr lang="en-US" sz="1400" dirty="0"/>
          </a:p>
          <a:p>
            <a:pPr marL="342900" indent="-342900">
              <a:spcAft>
                <a:spcPts val="900"/>
              </a:spcAft>
              <a:buSzPct val="100000"/>
              <a:buChar char="•"/>
            </a:pPr>
            <a:r>
              <a:rPr lang="en-US" sz="1400" dirty="0">
                <a:solidFill>
                  <a:srgbClr val="46525E"/>
                </a:solidFill>
                <a:latin typeface="Calibri" pitchFamily="34" charset="0"/>
                <a:ea typeface="Calibri" pitchFamily="34" charset="-122"/>
                <a:cs typeface="Calibri" pitchFamily="34" charset="-120"/>
              </a:rPr>
              <a:t>Below 10 % SOC the voltage error grows to ~0.1–0.9 V near cut-off.</a:t>
            </a:r>
            <a:endParaRPr lang="en-US" sz="1400" dirty="0"/>
          </a:p>
        </p:txBody>
      </p:sp>
      <p:sp>
        <p:nvSpPr>
          <p:cNvPr id="9" name="Shape 6"/>
          <p:cNvSpPr/>
          <p:nvPr/>
        </p:nvSpPr>
        <p:spPr>
          <a:xfrm>
            <a:off x="6245352" y="1554480"/>
            <a:ext cx="5394960" cy="4023360"/>
          </a:xfrm>
          <a:prstGeom prst="roundRect">
            <a:avLst>
              <a:gd name="adj" fmla="val 1818"/>
            </a:avLst>
          </a:prstGeom>
          <a:solidFill>
            <a:srgbClr val="F2F4F7"/>
          </a:solidFill>
          <a:ln w="12700">
            <a:solidFill>
              <a:srgbClr val="F2F4F7"/>
            </a:solidFill>
            <a:prstDash val="solid"/>
          </a:ln>
        </p:spPr>
      </p:sp>
      <p:sp>
        <p:nvSpPr>
          <p:cNvPr id="10" name="Shape 7"/>
          <p:cNvSpPr/>
          <p:nvPr/>
        </p:nvSpPr>
        <p:spPr>
          <a:xfrm>
            <a:off x="6519672" y="1783080"/>
            <a:ext cx="502920" cy="502920"/>
          </a:xfrm>
          <a:prstGeom prst="ellipse">
            <a:avLst/>
          </a:prstGeom>
          <a:solidFill>
            <a:srgbClr val="14202B"/>
          </a:solidFill>
          <a:ln w="12700">
            <a:solidFill>
              <a:srgbClr val="14202B"/>
            </a:solidFill>
            <a:prstDash val="solid"/>
          </a:ln>
        </p:spPr>
      </p:sp>
      <p:pic>
        <p:nvPicPr>
          <p:cNvPr id="11" name="Image 1" descr="preencoded.png">    </p:cNvPr>
          <p:cNvPicPr>
            <a:picLocks noChangeAspect="1"/>
          </p:cNvPicPr>
          <p:nvPr/>
        </p:nvPicPr>
        <p:blipFill>
          <a:blip r:embed="rId2"/>
          <a:stretch>
            <a:fillRect/>
          </a:stretch>
        </p:blipFill>
        <p:spPr>
          <a:xfrm>
            <a:off x="6640373" y="1903781"/>
            <a:ext cx="261518" cy="261518"/>
          </a:xfrm>
          <a:prstGeom prst="rect">
            <a:avLst/>
          </a:prstGeom>
        </p:spPr>
      </p:pic>
      <p:sp>
        <p:nvSpPr>
          <p:cNvPr id="12" name="Text 8"/>
          <p:cNvSpPr/>
          <p:nvPr/>
        </p:nvSpPr>
        <p:spPr>
          <a:xfrm>
            <a:off x="7159752" y="1783080"/>
            <a:ext cx="4206240" cy="502920"/>
          </a:xfrm>
          <a:prstGeom prst="rect">
            <a:avLst/>
          </a:prstGeom>
          <a:noFill/>
          <a:ln/>
        </p:spPr>
        <p:txBody>
          <a:bodyPr wrap="square" lIns="0" tIns="0" rIns="0" bIns="0" rtlCol="0" anchor="ctr"/>
          <a:lstStyle/>
          <a:p>
            <a:pPr indent="0" marL="0">
              <a:buNone/>
            </a:pPr>
            <a:r>
              <a:rPr lang="en-US" sz="1800" b="1" dirty="0">
                <a:solidFill>
                  <a:srgbClr val="14202B"/>
                </a:solidFill>
                <a:latin typeface="Calibri" pitchFamily="34" charset="0"/>
                <a:ea typeface="Calibri" pitchFamily="34" charset="-122"/>
                <a:cs typeface="Calibri" pitchFamily="34" charset="-120"/>
              </a:rPr>
              <a:t>Model and scope</a:t>
            </a:r>
            <a:endParaRPr lang="en-US" sz="1800" dirty="0"/>
          </a:p>
        </p:txBody>
      </p:sp>
      <p:sp>
        <p:nvSpPr>
          <p:cNvPr id="13" name="Text 9"/>
          <p:cNvSpPr/>
          <p:nvPr/>
        </p:nvSpPr>
        <p:spPr>
          <a:xfrm>
            <a:off x="6519672" y="2514600"/>
            <a:ext cx="4846320" cy="33832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46525E"/>
                </a:solidFill>
                <a:latin typeface="Calibri" pitchFamily="34" charset="0"/>
                <a:ea typeface="Calibri" pitchFamily="34" charset="-122"/>
                <a:cs typeface="Calibri" pitchFamily="34" charset="-120"/>
              </a:rPr>
              <a:t>Lumped thermal model with an effective h; no CFD, no enclosure air node.</a:t>
            </a:r>
            <a:endParaRPr lang="en-US" sz="1400" dirty="0"/>
          </a:p>
          <a:p>
            <a:pPr marL="342900" indent="-342900">
              <a:spcAft>
                <a:spcPts val="900"/>
              </a:spcAft>
              <a:buSzPct val="100000"/>
              <a:buChar char="•"/>
            </a:pPr>
            <a:r>
              <a:rPr lang="en-US" sz="1400" dirty="0">
                <a:solidFill>
                  <a:srgbClr val="46525E"/>
                </a:solidFill>
                <a:latin typeface="Calibri" pitchFamily="34" charset="0"/>
                <a:ea typeface="Calibri" pitchFamily="34" charset="-122"/>
                <a:cs typeface="Calibri" pitchFamily="34" charset="-120"/>
              </a:rPr>
              <a:t>One node per cell: on the proxy cell the core runs up to 4.6 K above the surface.</a:t>
            </a:r>
            <a:endParaRPr lang="en-US" sz="1400" dirty="0"/>
          </a:p>
          <a:p>
            <a:pPr marL="342900" indent="-342900">
              <a:spcAft>
                <a:spcPts val="900"/>
              </a:spcAft>
              <a:buSzPct val="100000"/>
              <a:buChar char="•"/>
            </a:pPr>
            <a:r>
              <a:rPr lang="en-US" sz="1400" dirty="0">
                <a:solidFill>
                  <a:srgbClr val="46525E"/>
                </a:solidFill>
                <a:latin typeface="Calibri" pitchFamily="34" charset="0"/>
                <a:ea typeface="Calibri" pitchFamily="34" charset="-122"/>
                <a:cs typeface="Calibri" pitchFamily="34" charset="-120"/>
              </a:rPr>
              <a:t>The observer shares the plant’s model structure; real error will exceed the ±30 % we test.</a:t>
            </a:r>
            <a:endParaRPr lang="en-US" sz="1400" dirty="0"/>
          </a:p>
          <a:p>
            <a:pPr marL="342900" indent="-342900">
              <a:spcAft>
                <a:spcPts val="900"/>
              </a:spcAft>
              <a:buSzPct val="100000"/>
              <a:buChar char="•"/>
            </a:pPr>
            <a:r>
              <a:rPr lang="en-US" sz="1400" dirty="0">
                <a:solidFill>
                  <a:srgbClr val="46525E"/>
                </a:solidFill>
                <a:latin typeface="Calibri" pitchFamily="34" charset="0"/>
                <a:ea typeface="Calibri" pitchFamily="34" charset="-122"/>
                <a:cs typeface="Calibri" pitchFamily="34" charset="-120"/>
              </a:rPr>
              <a:t>Synthetic drive profile, not a homologation cycle. One 48 V pack only.</a:t>
            </a:r>
            <a:endParaRPr lang="en-US" sz="1400" dirty="0"/>
          </a:p>
          <a:p>
            <a:pPr marL="342900" indent="-342900">
              <a:spcAft>
                <a:spcPts val="900"/>
              </a:spcAft>
              <a:buSzPct val="100000"/>
              <a:buChar char="•"/>
            </a:pPr>
            <a:r>
              <a:rPr lang="en-US" sz="1400" dirty="0">
                <a:solidFill>
                  <a:srgbClr val="46525E"/>
                </a:solidFill>
                <a:latin typeface="Calibri" pitchFamily="34" charset="0"/>
                <a:ea typeface="Calibri" pitchFamily="34" charset="-122"/>
                <a:cs typeface="Calibri" pitchFamily="34" charset="-120"/>
              </a:rPr>
              <a:t>No design is claimed AIS-156 compliant (Amd. 3, Annex 8K asks for ≥ 4 sensors).</a:t>
            </a:r>
            <a:endParaRPr lang="en-US" sz="1400" dirty="0"/>
          </a:p>
        </p:txBody>
      </p:sp>
      <p:sp>
        <p:nvSpPr>
          <p:cNvPr id="14" name="Text 10"/>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Source: ROADMAP.md — known limitations</a:t>
            </a:r>
            <a:endParaRPr lang="en-US" sz="1000" dirty="0"/>
          </a:p>
        </p:txBody>
      </p:sp>
      <p:sp>
        <p:nvSpPr>
          <p:cNvPr id="15" name="Text 11"/>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F2874A"/>
                </a:solidFill>
                <a:latin typeface="Calibri" pitchFamily="34" charset="0"/>
                <a:ea typeface="Calibri" pitchFamily="34" charset="-122"/>
                <a:cs typeface="Calibri" pitchFamily="34" charset="-120"/>
              </a:rPr>
              <a:t>CLOSE</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Build B, keep A ready, ship C today</a:t>
            </a:r>
            <a:endParaRPr lang="en-US" sz="3400" dirty="0"/>
          </a:p>
        </p:txBody>
      </p:sp>
      <p:sp>
        <p:nvSpPr>
          <p:cNvPr id="4" name="Text 2"/>
          <p:cNvSpPr/>
          <p:nvPr/>
        </p:nvSpPr>
        <p:spPr>
          <a:xfrm>
            <a:off x="548640" y="1508760"/>
            <a:ext cx="53949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Recommendation</a:t>
            </a:r>
            <a:endParaRPr lang="en-US" sz="1800" dirty="0"/>
          </a:p>
        </p:txBody>
      </p:sp>
      <p:sp>
        <p:nvSpPr>
          <p:cNvPr id="5" name="Shape 3"/>
          <p:cNvSpPr/>
          <p:nvPr/>
        </p:nvSpPr>
        <p:spPr>
          <a:xfrm>
            <a:off x="548640" y="2103120"/>
            <a:ext cx="548640" cy="548640"/>
          </a:xfrm>
          <a:prstGeom prst="ellipse">
            <a:avLst/>
          </a:prstGeom>
          <a:solidFill>
            <a:srgbClr val="D9480F"/>
          </a:solidFill>
          <a:ln w="12700">
            <a:solidFill>
              <a:srgbClr val="D9480F"/>
            </a:solidFill>
            <a:prstDash val="solid"/>
          </a:ln>
        </p:spPr>
      </p:sp>
      <p:sp>
        <p:nvSpPr>
          <p:cNvPr id="6" name="Text 4"/>
          <p:cNvSpPr/>
          <p:nvPr/>
        </p:nvSpPr>
        <p:spPr>
          <a:xfrm>
            <a:off x="54864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7" name="Text 5"/>
          <p:cNvSpPr/>
          <p:nvPr/>
        </p:nvSpPr>
        <p:spPr>
          <a:xfrm>
            <a:off x="1280160" y="1993392"/>
            <a:ext cx="457200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 (LFP) for new packs:</a:t>
            </a:r>
            <a:pPr indent="0" marL="0">
              <a:buNone/>
            </a:pPr>
            <a:r>
              <a:rPr lang="en-US" sz="1400" dirty="0">
                <a:solidFill>
                  <a:srgbClr val="B9C4CC"/>
                </a:solidFill>
                <a:latin typeface="Calibri" pitchFamily="34" charset="0"/>
                <a:ea typeface="Calibri" pitchFamily="34" charset="-122"/>
                <a:cs typeface="Calibri" pitchFamily="34" charset="-120"/>
              </a:rPr>
              <a:t> 97 min, cheapest per kWh, ~3× the life — if 22.7 kg is acceptable.</a:t>
            </a:r>
            <a:endParaRPr lang="en-US" sz="1400" dirty="0"/>
          </a:p>
        </p:txBody>
      </p:sp>
      <p:sp>
        <p:nvSpPr>
          <p:cNvPr id="8" name="Shape 6"/>
          <p:cNvSpPr/>
          <p:nvPr/>
        </p:nvSpPr>
        <p:spPr>
          <a:xfrm>
            <a:off x="548640" y="3154680"/>
            <a:ext cx="548640" cy="548640"/>
          </a:xfrm>
          <a:prstGeom prst="ellipse">
            <a:avLst/>
          </a:prstGeom>
          <a:solidFill>
            <a:srgbClr val="2B6CB0"/>
          </a:solidFill>
          <a:ln w="12700">
            <a:solidFill>
              <a:srgbClr val="2B6CB0"/>
            </a:solidFill>
            <a:prstDash val="solid"/>
          </a:ln>
        </p:spPr>
      </p:sp>
      <p:sp>
        <p:nvSpPr>
          <p:cNvPr id="9" name="Text 7"/>
          <p:cNvSpPr/>
          <p:nvPr/>
        </p:nvSpPr>
        <p:spPr>
          <a:xfrm>
            <a:off x="548640" y="3154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10" name="Text 8"/>
          <p:cNvSpPr/>
          <p:nvPr/>
        </p:nvSpPr>
        <p:spPr>
          <a:xfrm>
            <a:off x="1280160" y="3044952"/>
            <a:ext cx="457200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(NMC + Al plate)</a:t>
            </a:r>
            <a:pPr indent="0" marL="0">
              <a:buNone/>
            </a:pPr>
            <a:r>
              <a:rPr lang="en-US" sz="1400" dirty="0">
                <a:solidFill>
                  <a:srgbClr val="B9C4CC"/>
                </a:solidFill>
                <a:latin typeface="Calibri" pitchFamily="34" charset="0"/>
                <a:ea typeface="Calibri" pitchFamily="34" charset="-122"/>
                <a:cs typeface="Calibri" pitchFamily="34" charset="-120"/>
              </a:rPr>
              <a:t> if mass and volume are hard limits, or if the LFP test shows more heat.</a:t>
            </a:r>
            <a:endParaRPr lang="en-US" sz="1400" dirty="0"/>
          </a:p>
        </p:txBody>
      </p:sp>
      <p:sp>
        <p:nvSpPr>
          <p:cNvPr id="11" name="Shape 9"/>
          <p:cNvSpPr/>
          <p:nvPr/>
        </p:nvSpPr>
        <p:spPr>
          <a:xfrm>
            <a:off x="548640" y="4206240"/>
            <a:ext cx="548640" cy="548640"/>
          </a:xfrm>
          <a:prstGeom prst="ellipse">
            <a:avLst/>
          </a:prstGeom>
          <a:solidFill>
            <a:srgbClr val="2B6CB0"/>
          </a:solidFill>
          <a:ln w="12700">
            <a:solidFill>
              <a:srgbClr val="2B6CB0"/>
            </a:solidFill>
            <a:prstDash val="solid"/>
          </a:ln>
        </p:spPr>
      </p:sp>
      <p:sp>
        <p:nvSpPr>
          <p:cNvPr id="12" name="Text 10"/>
          <p:cNvSpPr/>
          <p:nvPr/>
        </p:nvSpPr>
        <p:spPr>
          <a:xfrm>
            <a:off x="548640" y="42062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3" name="Text 11"/>
          <p:cNvSpPr/>
          <p:nvPr/>
        </p:nvSpPr>
        <p:spPr>
          <a:xfrm>
            <a:off x="1280160" y="4096512"/>
            <a:ext cx="457200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 (firmware, ₹0)</a:t>
            </a:r>
            <a:pPr indent="0" marL="0">
              <a:buNone/>
            </a:pPr>
            <a:r>
              <a:rPr lang="en-US" sz="1400" dirty="0">
                <a:solidFill>
                  <a:srgbClr val="B9C4CC"/>
                </a:solidFill>
                <a:latin typeface="Calibri" pitchFamily="34" charset="0"/>
                <a:ea typeface="Calibri" pitchFamily="34" charset="-122"/>
                <a:cs typeface="Calibri" pitchFamily="34" charset="-120"/>
              </a:rPr>
              <a:t> for 2-NTC packs already built: safe, slower after a hot ride.</a:t>
            </a:r>
            <a:endParaRPr lang="en-US" sz="1400" dirty="0"/>
          </a:p>
        </p:txBody>
      </p:sp>
      <p:sp>
        <p:nvSpPr>
          <p:cNvPr id="14" name="Text 12"/>
          <p:cNvSpPr/>
          <p:nvPr/>
        </p:nvSpPr>
        <p:spPr>
          <a:xfrm>
            <a:off x="6245352" y="1508760"/>
            <a:ext cx="53949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Next steps</a:t>
            </a:r>
            <a:endParaRPr lang="en-US" sz="1800" dirty="0"/>
          </a:p>
        </p:txBody>
      </p:sp>
      <p:sp>
        <p:nvSpPr>
          <p:cNvPr id="15" name="Shape 13"/>
          <p:cNvSpPr/>
          <p:nvPr/>
        </p:nvSpPr>
        <p:spPr>
          <a:xfrm>
            <a:off x="6245352" y="2103120"/>
            <a:ext cx="548640" cy="548640"/>
          </a:xfrm>
          <a:prstGeom prst="ellipse">
            <a:avLst/>
          </a:prstGeom>
          <a:solidFill>
            <a:srgbClr val="D9480F"/>
          </a:solidFill>
          <a:ln w="12700">
            <a:solidFill>
              <a:srgbClr val="D9480F"/>
            </a:solidFill>
            <a:prstDash val="solid"/>
          </a:ln>
        </p:spPr>
      </p:sp>
      <p:sp>
        <p:nvSpPr>
          <p:cNvPr id="16" name="Text 14"/>
          <p:cNvSpPr/>
          <p:nvPr/>
        </p:nvSpPr>
        <p:spPr>
          <a:xfrm>
            <a:off x="6245352"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7" name="Text 15"/>
          <p:cNvSpPr/>
          <p:nvPr/>
        </p:nvSpPr>
        <p:spPr>
          <a:xfrm>
            <a:off x="6976872" y="1993392"/>
            <a:ext cx="4663440" cy="777240"/>
          </a:xfrm>
          <a:prstGeom prst="rect">
            <a:avLst/>
          </a:prstGeom>
          <a:noFill/>
          <a:ln/>
        </p:spPr>
        <p:txBody>
          <a:bodyPr wrap="square" lIns="0" tIns="0" rIns="0" bIns="0" rtlCol="0" anchor="ctr"/>
          <a:lstStyle/>
          <a:p>
            <a:pPr indent="0" marL="0">
              <a:buNone/>
            </a:pPr>
            <a:r>
              <a:rPr lang="en-US" sz="1400" dirty="0">
                <a:solidFill>
                  <a:srgbClr val="B9C4CC"/>
                </a:solidFill>
                <a:latin typeface="Calibri" pitchFamily="34" charset="0"/>
                <a:ea typeface="Calibri" pitchFamily="34" charset="-122"/>
                <a:cs typeface="Calibri" pitchFamily="34" charset="-120"/>
              </a:rPr>
              <a:t>One LFP charge test through the same fit pipeline — one CSV decides B or A.</a:t>
            </a:r>
            <a:endParaRPr lang="en-US" sz="1400" dirty="0"/>
          </a:p>
        </p:txBody>
      </p:sp>
      <p:sp>
        <p:nvSpPr>
          <p:cNvPr id="18" name="Shape 16"/>
          <p:cNvSpPr/>
          <p:nvPr/>
        </p:nvSpPr>
        <p:spPr>
          <a:xfrm>
            <a:off x="6245352" y="3154680"/>
            <a:ext cx="548640" cy="548640"/>
          </a:xfrm>
          <a:prstGeom prst="ellipse">
            <a:avLst/>
          </a:prstGeom>
          <a:solidFill>
            <a:srgbClr val="D9480F"/>
          </a:solidFill>
          <a:ln w="12700">
            <a:solidFill>
              <a:srgbClr val="D9480F"/>
            </a:solidFill>
            <a:prstDash val="solid"/>
          </a:ln>
        </p:spPr>
      </p:sp>
      <p:sp>
        <p:nvSpPr>
          <p:cNvPr id="19" name="Text 17"/>
          <p:cNvSpPr/>
          <p:nvPr/>
        </p:nvSpPr>
        <p:spPr>
          <a:xfrm>
            <a:off x="6245352" y="31546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0" name="Text 18"/>
          <p:cNvSpPr/>
          <p:nvPr/>
        </p:nvSpPr>
        <p:spPr>
          <a:xfrm>
            <a:off x="6976872" y="3044952"/>
            <a:ext cx="4663440" cy="777240"/>
          </a:xfrm>
          <a:prstGeom prst="rect">
            <a:avLst/>
          </a:prstGeom>
          <a:noFill/>
          <a:ln/>
        </p:spPr>
        <p:txBody>
          <a:bodyPr wrap="square" lIns="0" tIns="0" rIns="0" bIns="0" rtlCol="0" anchor="ctr"/>
          <a:lstStyle/>
          <a:p>
            <a:pPr indent="0" marL="0">
              <a:buNone/>
            </a:pPr>
            <a:r>
              <a:rPr lang="en-US" sz="1400" dirty="0">
                <a:solidFill>
                  <a:srgbClr val="B9C4CC"/>
                </a:solidFill>
                <a:latin typeface="Calibri" pitchFamily="34" charset="0"/>
                <a:ea typeface="Calibri" pitchFamily="34" charset="-122"/>
                <a:cs typeface="Calibri" pitchFamily="34" charset="-120"/>
              </a:rPr>
              <a:t>A pack-level log to check the blind spot and the core-to-surface gap on real hardware.</a:t>
            </a:r>
            <a:endParaRPr lang="en-US" sz="1400" dirty="0"/>
          </a:p>
        </p:txBody>
      </p:sp>
      <p:sp>
        <p:nvSpPr>
          <p:cNvPr id="21" name="Shape 19"/>
          <p:cNvSpPr/>
          <p:nvPr/>
        </p:nvSpPr>
        <p:spPr>
          <a:xfrm>
            <a:off x="6245352" y="4206240"/>
            <a:ext cx="548640" cy="548640"/>
          </a:xfrm>
          <a:prstGeom prst="ellipse">
            <a:avLst/>
          </a:prstGeom>
          <a:solidFill>
            <a:srgbClr val="D9480F"/>
          </a:solidFill>
          <a:ln w="12700">
            <a:solidFill>
              <a:srgbClr val="D9480F"/>
            </a:solidFill>
            <a:prstDash val="solid"/>
          </a:ln>
        </p:spPr>
      </p:sp>
      <p:sp>
        <p:nvSpPr>
          <p:cNvPr id="22" name="Text 20"/>
          <p:cNvSpPr/>
          <p:nvPr/>
        </p:nvSpPr>
        <p:spPr>
          <a:xfrm>
            <a:off x="6245352" y="42062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3" name="Text 21"/>
          <p:cNvSpPr/>
          <p:nvPr/>
        </p:nvSpPr>
        <p:spPr>
          <a:xfrm>
            <a:off x="6976872" y="4096512"/>
            <a:ext cx="466344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Our ask: LFP cells and supervised rig time to run step 1 safely (≤ 2S, fused, never unattended).</a:t>
            </a:r>
            <a:endParaRPr lang="en-US" sz="1400" dirty="0"/>
          </a:p>
        </p:txBody>
      </p:sp>
      <p:sp>
        <p:nvSpPr>
          <p:cNvPr id="24" name="Text 22"/>
          <p:cNvSpPr/>
          <p:nvPr/>
        </p:nvSpPr>
        <p:spPr>
          <a:xfrm>
            <a:off x="548640" y="5349240"/>
            <a:ext cx="11094415" cy="548640"/>
          </a:xfrm>
          <a:prstGeom prst="rect">
            <a:avLst/>
          </a:prstGeom>
          <a:noFill/>
          <a:ln/>
        </p:spPr>
        <p:txBody>
          <a:bodyPr wrap="square" lIns="0" tIns="0" rIns="0" bIns="0"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PackForge: a small, working, validated workbench — with its risks stated.</a:t>
            </a:r>
            <a:endParaRPr lang="en-US" sz="2200" dirty="0"/>
          </a:p>
        </p:txBody>
      </p:sp>
      <p:sp>
        <p:nvSpPr>
          <p:cNvPr id="25" name="Text 23"/>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8E9AA4"/>
                </a:solidFill>
                <a:latin typeface="Calibri" pitchFamily="34" charset="0"/>
                <a:ea typeface="Calibri" pitchFamily="34" charset="-122"/>
                <a:cs typeface="Calibri" pitchFamily="34" charset="-120"/>
              </a:rPr>
              <a:t>Falak Anwar · office.falakanwar@gmail.com · Zaid Alam · zaidlc319@gmail.com</a:t>
            </a:r>
            <a:endParaRPr lang="en-US" sz="1000" dirty="0"/>
          </a:p>
        </p:txBody>
      </p:sp>
      <p:sp>
        <p:nvSpPr>
          <p:cNvPr id="26" name="Text 24"/>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8E9AA4"/>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94415" cy="292608"/>
          </a:xfrm>
          <a:prstGeom prst="rect">
            <a:avLst/>
          </a:prstGeom>
          <a:noFill/>
          <a:ln/>
        </p:spPr>
        <p:txBody>
          <a:bodyPr wrap="square" lIns="0" tIns="0" rIns="0" bIns="0" rtlCol="0" anchor="ctr"/>
          <a:lstStyle/>
          <a:p>
            <a:pPr indent="0" marL="0">
              <a:buNone/>
            </a:pPr>
            <a:r>
              <a:rPr lang="en-US" sz="1200" b="1" spc="200" kern="0" dirty="0">
                <a:solidFill>
                  <a:srgbClr val="B5400F"/>
                </a:solidFill>
                <a:latin typeface="Calibri" pitchFamily="34" charset="0"/>
                <a:ea typeface="Calibri" pitchFamily="34" charset="-122"/>
                <a:cs typeface="Calibri" pitchFamily="34" charset="-120"/>
              </a:rPr>
              <a:t>SOURCES AND ATTRIBUTION</a:t>
            </a:r>
            <a:endParaRPr lang="en-US" sz="1200" dirty="0"/>
          </a:p>
        </p:txBody>
      </p:sp>
      <p:sp>
        <p:nvSpPr>
          <p:cNvPr id="3" name="Text 1"/>
          <p:cNvSpPr/>
          <p:nvPr/>
        </p:nvSpPr>
        <p:spPr>
          <a:xfrm>
            <a:off x="548640" y="640080"/>
            <a:ext cx="11094415" cy="685800"/>
          </a:xfrm>
          <a:prstGeom prst="rect">
            <a:avLst/>
          </a:prstGeom>
          <a:noFill/>
          <a:ln/>
        </p:spPr>
        <p:txBody>
          <a:bodyPr wrap="square" lIns="0" tIns="0" rIns="0" bIns="0" rtlCol="0" anchor="ctr"/>
          <a:lstStyle/>
          <a:p>
            <a:pPr indent="0" marL="0">
              <a:buNone/>
            </a:pPr>
            <a:r>
              <a:rPr lang="en-US" sz="3400" b="1" dirty="0">
                <a:solidFill>
                  <a:srgbClr val="14202B"/>
                </a:solidFill>
                <a:latin typeface="Cambria" pitchFamily="34" charset="0"/>
                <a:ea typeface="Cambria" pitchFamily="34" charset="-122"/>
                <a:cs typeface="Cambria" pitchFamily="34" charset="-120"/>
              </a:rPr>
              <a:t>Where every number comes from</a:t>
            </a:r>
            <a:endParaRPr lang="en-US" sz="3400" dirty="0"/>
          </a:p>
        </p:txBody>
      </p:sp>
      <p:sp>
        <p:nvSpPr>
          <p:cNvPr id="4" name="Shape 2"/>
          <p:cNvSpPr/>
          <p:nvPr/>
        </p:nvSpPr>
        <p:spPr>
          <a:xfrm>
            <a:off x="548640" y="1554480"/>
            <a:ext cx="502920" cy="502920"/>
          </a:xfrm>
          <a:prstGeom prst="ellipse">
            <a:avLst/>
          </a:prstGeom>
          <a:solidFill>
            <a:srgbClr val="14202B"/>
          </a:solidFill>
          <a:ln w="12700">
            <a:solidFill>
              <a:srgbClr val="14202B"/>
            </a:solidFill>
            <a:prstDash val="solid"/>
          </a:ln>
        </p:spPr>
      </p:sp>
      <p:pic>
        <p:nvPicPr>
          <p:cNvPr id="5" name="Image 0" descr="preencoded.png">    </p:cNvPr>
          <p:cNvPicPr>
            <a:picLocks noChangeAspect="1"/>
          </p:cNvPicPr>
          <p:nvPr/>
        </p:nvPicPr>
        <p:blipFill>
          <a:blip r:embed="rId1"/>
          <a:stretch>
            <a:fillRect/>
          </a:stretch>
        </p:blipFill>
        <p:spPr>
          <a:xfrm>
            <a:off x="669341" y="1675181"/>
            <a:ext cx="261518" cy="261518"/>
          </a:xfrm>
          <a:prstGeom prst="rect">
            <a:avLst/>
          </a:prstGeom>
        </p:spPr>
      </p:pic>
      <p:sp>
        <p:nvSpPr>
          <p:cNvPr id="6" name="Text 3"/>
          <p:cNvSpPr/>
          <p:nvPr/>
        </p:nvSpPr>
        <p:spPr>
          <a:xfrm>
            <a:off x="1280160" y="1536192"/>
            <a:ext cx="10332720" cy="365760"/>
          </a:xfrm>
          <a:prstGeom prst="rect">
            <a:avLst/>
          </a:prstGeom>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Measured data (proxy cell)</a:t>
            </a:r>
            <a:endParaRPr lang="en-US" sz="1600" dirty="0"/>
          </a:p>
        </p:txBody>
      </p:sp>
      <p:sp>
        <p:nvSpPr>
          <p:cNvPr id="7" name="Text 4"/>
          <p:cNvSpPr/>
          <p:nvPr/>
        </p:nvSpPr>
        <p:spPr>
          <a:xfrm>
            <a:off x="1280160" y="1901952"/>
            <a:ext cx="10332720" cy="868680"/>
          </a:xfrm>
          <a:prstGeom prst="rect">
            <a:avLst/>
          </a:prstGeom>
          <a:noFill/>
          <a:ln/>
        </p:spPr>
        <p:txBody>
          <a:bodyPr wrap="square" lIns="0" tIns="0" rIns="0" bIns="0" rtlCol="0" anchor="t"/>
          <a:lstStyle/>
          <a:p>
            <a:pPr indent="0" marL="0">
              <a:buNone/>
            </a:pPr>
            <a:r>
              <a:rPr lang="en-US" sz="1300" dirty="0">
                <a:solidFill>
                  <a:srgbClr val="46525E"/>
                </a:solidFill>
                <a:latin typeface="Calibri" pitchFamily="34" charset="0"/>
                <a:ea typeface="Calibri" pitchFamily="34" charset="-122"/>
                <a:cs typeface="Calibri" pitchFamily="34" charset="-120"/>
              </a:rPr>
              <a:t>Jiaqi Yao, Droese, Kowal, “Lithium-Ion Battery Internal Temperature Dataset”, Technische Universität Berlin, EET, 2026. DOI </a:t>
            </a:r>
            <a:pPr indent="0" marL="0">
              <a:buNone/>
            </a:pPr>
            <a:r>
              <a:rPr lang="en-US" sz="1300" u="sng" dirty="0">
                <a:solidFill>
                  <a:srgbClr val="2B6CB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10.14279/depositonce-25110</a:t>
            </a:r>
            <a:pPr indent="0" marL="0">
              <a:buNone/>
            </a:pPr>
            <a:r>
              <a:rPr lang="en-US" sz="1300" dirty="0">
                <a:solidFill>
                  <a:srgbClr val="46525E"/>
                </a:solidFill>
                <a:latin typeface="Calibri" pitchFamily="34" charset="0"/>
                <a:ea typeface="Calibri" pitchFamily="34" charset="-122"/>
                <a:cs typeface="Calibri" pitchFamily="34" charset="-120"/>
              </a:rPr>
              <a:t>, licensed </a:t>
            </a:r>
            <a:pPr indent="0" marL="0">
              <a:buNone/>
            </a:pPr>
            <a:r>
              <a:rPr lang="en-US" sz="1300" u="sng" dirty="0">
                <a:solidFill>
                  <a:srgbClr val="2B6CB0"/>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CC BY 4.0</a:t>
            </a:r>
            <a:pPr indent="0" marL="0">
              <a:buNone/>
            </a:pPr>
            <a:r>
              <a:rPr lang="en-US" sz="1300" dirty="0">
                <a:solidFill>
                  <a:srgbClr val="46525E"/>
                </a:solidFill>
                <a:latin typeface="Calibri" pitchFamily="34" charset="0"/>
                <a:ea typeface="Calibri" pitchFamily="34" charset="-122"/>
                <a:cs typeface="Calibri" pitchFamily="34" charset="-120"/>
              </a:rPr>
              <a:t>. LG INR21700 M50LT cells. Our changes: current sign flipped, columns renamed, values rounded, charges cut and resampled to 1 s.</a:t>
            </a:r>
            <a:endParaRPr lang="en-US" sz="1300" dirty="0"/>
          </a:p>
        </p:txBody>
      </p:sp>
      <p:sp>
        <p:nvSpPr>
          <p:cNvPr id="8" name="Shape 5"/>
          <p:cNvSpPr/>
          <p:nvPr/>
        </p:nvSpPr>
        <p:spPr>
          <a:xfrm>
            <a:off x="548640" y="2697480"/>
            <a:ext cx="502920" cy="502920"/>
          </a:xfrm>
          <a:prstGeom prst="ellipse">
            <a:avLst/>
          </a:prstGeom>
          <a:solidFill>
            <a:srgbClr val="14202B"/>
          </a:solidFill>
          <a:ln w="12700">
            <a:solidFill>
              <a:srgbClr val="14202B"/>
            </a:solidFill>
            <a:prstDash val="solid"/>
          </a:ln>
        </p:spPr>
      </p:sp>
      <p:pic>
        <p:nvPicPr>
          <p:cNvPr id="9" name="Image 1" descr="preencoded.png">    </p:cNvPr>
          <p:cNvPicPr>
            <a:picLocks noChangeAspect="1"/>
          </p:cNvPicPr>
          <p:nvPr/>
        </p:nvPicPr>
        <p:blipFill>
          <a:blip r:embed="rId4"/>
          <a:stretch>
            <a:fillRect/>
          </a:stretch>
        </p:blipFill>
        <p:spPr>
          <a:xfrm>
            <a:off x="669341" y="2818181"/>
            <a:ext cx="261518" cy="261518"/>
          </a:xfrm>
          <a:prstGeom prst="rect">
            <a:avLst/>
          </a:prstGeom>
        </p:spPr>
      </p:pic>
      <p:sp>
        <p:nvSpPr>
          <p:cNvPr id="10" name="Text 6"/>
          <p:cNvSpPr/>
          <p:nvPr/>
        </p:nvSpPr>
        <p:spPr>
          <a:xfrm>
            <a:off x="1280160" y="2679192"/>
            <a:ext cx="10332720" cy="365760"/>
          </a:xfrm>
          <a:prstGeom prst="rect">
            <a:avLst/>
          </a:prstGeom>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Generic cell values</a:t>
            </a:r>
            <a:endParaRPr lang="en-US" sz="1600" dirty="0"/>
          </a:p>
        </p:txBody>
      </p:sp>
      <p:sp>
        <p:nvSpPr>
          <p:cNvPr id="11" name="Text 7"/>
          <p:cNvSpPr/>
          <p:nvPr/>
        </p:nvSpPr>
        <p:spPr>
          <a:xfrm>
            <a:off x="1280160" y="3044952"/>
            <a:ext cx="10332720" cy="548640"/>
          </a:xfrm>
          <a:prstGeom prst="rect">
            <a:avLst/>
          </a:prstGeom>
          <a:noFill/>
          <a:ln/>
        </p:spPr>
        <p:txBody>
          <a:bodyPr wrap="square" lIns="0" tIns="0" rIns="0" bIns="0" rtlCol="0" anchor="t"/>
          <a:lstStyle/>
          <a:p>
            <a:pPr indent="0" marL="0">
              <a:buNone/>
            </a:pPr>
            <a:r>
              <a:rPr lang="en-US" sz="1300" dirty="0">
                <a:solidFill>
                  <a:srgbClr val="46525E"/>
                </a:solidFill>
                <a:latin typeface="Calibri" pitchFamily="34" charset="0"/>
                <a:ea typeface="Calibri" pitchFamily="34" charset="-122"/>
                <a:cs typeface="Calibri" pitchFamily="34" charset="-120"/>
              </a:rPr>
              <a:t>NMC 21700 5 Ah and LFP cells are “class” values, not a named datasheet. Costs and masses are assumptions, each with an ID in the design files.</a:t>
            </a:r>
            <a:endParaRPr lang="en-US" sz="1300" dirty="0"/>
          </a:p>
        </p:txBody>
      </p:sp>
      <p:sp>
        <p:nvSpPr>
          <p:cNvPr id="12" name="Shape 8"/>
          <p:cNvSpPr/>
          <p:nvPr/>
        </p:nvSpPr>
        <p:spPr>
          <a:xfrm>
            <a:off x="548640" y="3657600"/>
            <a:ext cx="502920" cy="502920"/>
          </a:xfrm>
          <a:prstGeom prst="ellipse">
            <a:avLst/>
          </a:prstGeom>
          <a:solidFill>
            <a:srgbClr val="14202B"/>
          </a:solidFill>
          <a:ln w="12700">
            <a:solidFill>
              <a:srgbClr val="14202B"/>
            </a:solidFill>
            <a:prstDash val="solid"/>
          </a:ln>
        </p:spPr>
      </p:sp>
      <p:pic>
        <p:nvPicPr>
          <p:cNvPr id="13" name="Image 2" descr="preencoded.png">    </p:cNvPr>
          <p:cNvPicPr>
            <a:picLocks noChangeAspect="1"/>
          </p:cNvPicPr>
          <p:nvPr/>
        </p:nvPicPr>
        <p:blipFill>
          <a:blip r:embed="rId5"/>
          <a:stretch>
            <a:fillRect/>
          </a:stretch>
        </p:blipFill>
        <p:spPr>
          <a:xfrm>
            <a:off x="669341" y="3778301"/>
            <a:ext cx="261518" cy="261518"/>
          </a:xfrm>
          <a:prstGeom prst="rect">
            <a:avLst/>
          </a:prstGeom>
        </p:spPr>
      </p:pic>
      <p:sp>
        <p:nvSpPr>
          <p:cNvPr id="14" name="Text 9"/>
          <p:cNvSpPr/>
          <p:nvPr/>
        </p:nvSpPr>
        <p:spPr>
          <a:xfrm>
            <a:off x="1280160" y="3639312"/>
            <a:ext cx="10332720" cy="365760"/>
          </a:xfrm>
          <a:prstGeom prst="rect">
            <a:avLst/>
          </a:prstGeom>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Not evidence</a:t>
            </a:r>
            <a:endParaRPr lang="en-US" sz="1600" dirty="0"/>
          </a:p>
        </p:txBody>
      </p:sp>
      <p:sp>
        <p:nvSpPr>
          <p:cNvPr id="15" name="Text 10"/>
          <p:cNvSpPr/>
          <p:nvPr/>
        </p:nvSpPr>
        <p:spPr>
          <a:xfrm>
            <a:off x="1280160" y="4005072"/>
            <a:ext cx="10332720" cy="548640"/>
          </a:xfrm>
          <a:prstGeom prst="rect">
            <a:avLst/>
          </a:prstGeom>
          <a:noFill/>
          <a:ln/>
        </p:spPr>
        <p:txBody>
          <a:bodyPr wrap="square" lIns="0" tIns="0" rIns="0" bIns="0" rtlCol="0" anchor="t"/>
          <a:lstStyle/>
          <a:p>
            <a:pPr indent="0" marL="0">
              <a:buNone/>
            </a:pPr>
            <a:r>
              <a:rPr lang="en-US" sz="1300" dirty="0">
                <a:solidFill>
                  <a:srgbClr val="46525E"/>
                </a:solidFill>
                <a:latin typeface="Calibri" pitchFamily="34" charset="0"/>
                <a:ea typeface="Calibri" pitchFamily="34" charset="-122"/>
                <a:cs typeface="Calibri" pitchFamily="34" charset="-120"/>
              </a:rPr>
              <a:t>SYNTHETIC_* logs are generated by our own model — a method check for the fitter, never validation.</a:t>
            </a:r>
            <a:endParaRPr lang="en-US" sz="1300" dirty="0"/>
          </a:p>
        </p:txBody>
      </p:sp>
      <p:sp>
        <p:nvSpPr>
          <p:cNvPr id="16" name="Shape 11"/>
          <p:cNvSpPr/>
          <p:nvPr/>
        </p:nvSpPr>
        <p:spPr>
          <a:xfrm>
            <a:off x="548640" y="4617720"/>
            <a:ext cx="502920" cy="502920"/>
          </a:xfrm>
          <a:prstGeom prst="ellipse">
            <a:avLst/>
          </a:prstGeom>
          <a:solidFill>
            <a:srgbClr val="14202B"/>
          </a:solidFill>
          <a:ln w="12700">
            <a:solidFill>
              <a:srgbClr val="14202B"/>
            </a:solidFill>
            <a:prstDash val="solid"/>
          </a:ln>
        </p:spPr>
      </p:sp>
      <p:pic>
        <p:nvPicPr>
          <p:cNvPr id="17" name="Image 3" descr="preencoded.png">    </p:cNvPr>
          <p:cNvPicPr>
            <a:picLocks noChangeAspect="1"/>
          </p:cNvPicPr>
          <p:nvPr/>
        </p:nvPicPr>
        <p:blipFill>
          <a:blip r:embed="rId6"/>
          <a:stretch>
            <a:fillRect/>
          </a:stretch>
        </p:blipFill>
        <p:spPr>
          <a:xfrm>
            <a:off x="669341" y="4738421"/>
            <a:ext cx="261518" cy="261518"/>
          </a:xfrm>
          <a:prstGeom prst="rect">
            <a:avLst/>
          </a:prstGeom>
        </p:spPr>
      </p:pic>
      <p:sp>
        <p:nvSpPr>
          <p:cNvPr id="18" name="Text 12"/>
          <p:cNvSpPr/>
          <p:nvPr/>
        </p:nvSpPr>
        <p:spPr>
          <a:xfrm>
            <a:off x="1280160" y="4599432"/>
            <a:ext cx="10332720" cy="365760"/>
          </a:xfrm>
          <a:prstGeom prst="rect">
            <a:avLst/>
          </a:prstGeom>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Brief and regulation</a:t>
            </a:r>
            <a:endParaRPr lang="en-US" sz="1600" dirty="0"/>
          </a:p>
        </p:txBody>
      </p:sp>
      <p:sp>
        <p:nvSpPr>
          <p:cNvPr id="19" name="Text 13"/>
          <p:cNvSpPr/>
          <p:nvPr/>
        </p:nvSpPr>
        <p:spPr>
          <a:xfrm>
            <a:off x="1280160" y="4965192"/>
            <a:ext cx="10332720" cy="548640"/>
          </a:xfrm>
          <a:prstGeom prst="rect">
            <a:avLst/>
          </a:prstGeom>
          <a:noFill/>
          <a:ln/>
        </p:spPr>
        <p:txBody>
          <a:bodyPr wrap="square" lIns="0" tIns="0" rIns="0" bIns="0" rtlCol="0" anchor="t"/>
          <a:lstStyle/>
          <a:p>
            <a:pPr indent="0" marL="0">
              <a:buNone/>
            </a:pPr>
            <a:r>
              <a:rPr lang="en-US" sz="1300" dirty="0">
                <a:solidFill>
                  <a:srgbClr val="46525E"/>
                </a:solidFill>
                <a:latin typeface="Calibri" pitchFamily="34" charset="0"/>
                <a:ea typeface="Calibri" pitchFamily="34" charset="-122"/>
                <a:cs typeface="Calibri" pitchFamily="34" charset="-120"/>
              </a:rPr>
              <a:t>TELIPORT Season 4 (Tata Elxsi), Case Study 2: Reusable Digital Platform for Designing Battery Energy System. AIS-156 Amd. 3, Annex 8K (cited, no compliance claimed).</a:t>
            </a:r>
            <a:endParaRPr lang="en-US" sz="1300" dirty="0"/>
          </a:p>
        </p:txBody>
      </p:sp>
      <p:sp>
        <p:nvSpPr>
          <p:cNvPr id="20" name="Text 14"/>
          <p:cNvSpPr/>
          <p:nvPr/>
        </p:nvSpPr>
        <p:spPr>
          <a:xfrm>
            <a:off x="548640" y="6400800"/>
            <a:ext cx="9601200" cy="274320"/>
          </a:xfrm>
          <a:prstGeom prst="rect">
            <a:avLst/>
          </a:prstGeom>
          <a:noFill/>
          <a:ln/>
        </p:spPr>
        <p:txBody>
          <a:bodyPr wrap="square" lIns="0" tIns="0" rIns="0" bIns="0" rtlCol="0" anchor="ctr"/>
          <a:lstStyle/>
          <a:p>
            <a:pPr indent="0" marL="0">
              <a:buNone/>
            </a:pPr>
            <a:r>
              <a:rPr lang="en-US" sz="1000" dirty="0">
                <a:solidFill>
                  <a:srgbClr val="66717C"/>
                </a:solidFill>
                <a:latin typeface="Calibri" pitchFamily="34" charset="0"/>
                <a:ea typeface="Calibri" pitchFamily="34" charset="-122"/>
                <a:cs typeface="Calibri" pitchFamily="34" charset="-120"/>
              </a:rPr>
              <a:t>data/validation/SOURCES.md · data/validation/calibration_nmc21700_5ah.json</a:t>
            </a:r>
            <a:endParaRPr lang="en-US" sz="1000" dirty="0"/>
          </a:p>
        </p:txBody>
      </p:sp>
      <p:sp>
        <p:nvSpPr>
          <p:cNvPr id="21" name="Text 15"/>
          <p:cNvSpPr/>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6717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PackForge — pitch</dc:title>
  <dc:subject>PptxGenJS Presentation</dc:subject>
  <dc:creator>Falak Anwar, Zaid Alam</dc:creator>
  <cp:lastModifiedBy>Falak Anwar, Zaid Alam</cp:lastModifiedBy>
  <cp:revision>1</cp:revision>
  <dcterms:created xsi:type="dcterms:W3CDTF">2026-10-31T10:31:07Z</dcterms:created>
  <dcterms:modified xsi:type="dcterms:W3CDTF">2026-10-31T10:31:07Z</dcterms:modified>
</cp:coreProperties>
</file>